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hero figure with the best single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6309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Flat-Plate Boundary Layer CFD with Surface Radiation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Flat-Plate Boundary Layer CFD with Surface Radiation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BOUNDARY LAYER CFD  |  OPENFOAM 13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Radiation Cuts Flat-Plate Wall Temperature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2976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Coupled convection-radiation CFD, validated against Blasius similarity</a:t>
            </a:r>
            <a:endParaRPr lang="en-US" sz="2000" dirty="0"/>
          </a:p>
        </p:txBody>
      </p:sp>
      <p:sp>
        <p:nvSpPr>
          <p:cNvPr id="5" name="Presenter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[Presenter name]  |  [Affiliation]  |  [Event / date]</a:t>
            </a:r>
            <a:endParaRPr lang="en-US" sz="1400" dirty="0"/>
          </a:p>
        </p:txBody>
      </p:sp>
      <p:pic>
        <p:nvPicPr>
          <p:cNvPr id="6" name="Hero figure" descr="/tmp/claude-0/-home-claude/03fff7d9-7cd1-5805-b4ee-b1559ba8e1ea/scratchpad/figs/four_case_temperature_z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09728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headline, four numbers</a:t>
            </a:r>
            <a:endParaRPr lang="en-US" sz="3400" dirty="0"/>
          </a:p>
        </p:txBody>
      </p:sp>
      <p:sp>
        <p:nvSpPr>
          <p:cNvPr id="3" name="KPI card 1"/>
          <p:cNvSpPr/>
          <p:nvPr/>
        </p:nvSpPr>
        <p:spPr>
          <a:xfrm>
            <a:off x="548640" y="173736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sp>
        <p:nvSpPr>
          <p:cNvPr id="4" name="KPI value"/>
          <p:cNvSpPr txBox="1"/>
          <p:nvPr/>
        </p:nvSpPr>
        <p:spPr>
          <a:xfrm>
            <a:off x="77724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Re_L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1.26e5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Laminar, zero pressure gradient</a:t>
            </a:r>
            <a:endParaRPr lang="en-US" sz="1400" dirty="0"/>
          </a:p>
        </p:txBody>
      </p:sp>
      <p:sp>
        <p:nvSpPr>
          <p:cNvPr id="7" name="KPI card 2"/>
          <p:cNvSpPr/>
          <p:nvPr/>
        </p:nvSpPr>
        <p:spPr>
          <a:xfrm>
            <a:off x="3383280" y="173736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sp>
        <p:nvSpPr>
          <p:cNvPr id="8" name="KPI value"/>
          <p:cNvSpPr txBox="1"/>
          <p:nvPr/>
        </p:nvSpPr>
        <p:spPr>
          <a:xfrm>
            <a:off x="361188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64,000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hex cells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Fine grid, 80:1 wall grading</a:t>
            </a:r>
            <a:endParaRPr lang="en-US" sz="1400" dirty="0"/>
          </a:p>
        </p:txBody>
      </p:sp>
      <p:sp>
        <p:nvSpPr>
          <p:cNvPr id="11" name="KPI card 3"/>
          <p:cNvSpPr/>
          <p:nvPr/>
        </p:nvSpPr>
        <p:spPr>
          <a:xfrm>
            <a:off x="6217920" y="173736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sp>
        <p:nvSpPr>
          <p:cNvPr id="12" name="KPI value"/>
          <p:cNvSpPr txBox="1"/>
          <p:nvPr/>
        </p:nvSpPr>
        <p:spPr>
          <a:xfrm>
            <a:off x="644652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= 0.8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grey diffuse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Plate radiates to 300 K enclosure</a:t>
            </a:r>
            <a:endParaRPr lang="en-US" sz="1400" dirty="0"/>
          </a:p>
        </p:txBody>
      </p:sp>
      <p:sp>
        <p:nvSpPr>
          <p:cNvPr id="15" name="KPI card 4"/>
          <p:cNvSpPr/>
          <p:nvPr/>
        </p:nvSpPr>
        <p:spPr>
          <a:xfrm>
            <a:off x="9052560" y="173736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sp>
        <p:nvSpPr>
          <p:cNvPr id="16" name="KPI value"/>
          <p:cNvSpPr txBox="1"/>
          <p:nvPr/>
        </p:nvSpPr>
        <p:spPr>
          <a:xfrm>
            <a:off x="928116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[value]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[unit]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[caption: finalise after grid study]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Takeaway sentence goes here: one claim, one number, one reason to care.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left, claim right</a:t>
            </a:r>
            <a:endParaRPr lang="en-US" sz="3400" dirty="0"/>
          </a:p>
        </p:txBody>
      </p:sp>
      <p:sp>
        <p:nvSpPr>
          <p:cNvPr id="3" name="Figure card"/>
          <p:cNvSpPr/>
          <p:nvPr/>
        </p:nvSpPr>
        <p:spPr>
          <a:xfrm>
            <a:off x="548640" y="1554480"/>
            <a:ext cx="694944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pic>
        <p:nvPicPr>
          <p:cNvPr id="4" name="Figure" descr="/tmp/claude-0/-home-claude/03fff7d9-7cd1-5805-b4ee-b1559ba8e1ea/scratchpad/figs/wall_heat_balance_and_nusse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737360"/>
            <a:ext cx="6583680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577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Fig. 1  Caption: what to look at, in one line.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5544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Radiation sheds heat where convection weakens</a:t>
            </a:r>
            <a:endParaRPr lang="en-US" sz="2400" dirty="0"/>
          </a:p>
        </p:txBody>
      </p:sp>
      <p:sp>
        <p:nvSpPr>
          <p:cNvPr id="7" name="Bullets"/>
          <p:cNvSpPr/>
          <p:nvPr/>
        </p:nvSpPr>
        <p:spPr>
          <a:xfrm>
            <a:off x="7863840" y="30175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Claim one, max 12 words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Claim two, max 12 words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Claim three, max 12 words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table with mesh figure</a:t>
            </a:r>
            <a:endParaRPr lang="en-US" sz="3400" dirty="0"/>
          </a:p>
        </p:txBody>
      </p:sp>
      <p:graphicFrame>
        <p:nvGraphicFramePr>
          <p:cNvPr id="5" name="Parame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Plate length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 m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Free stream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m/s, 300 K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Heater flux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1000 W/m²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Emissivity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/ 0.8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Grids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200×80, 400×160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Figure card"/>
          <p:cNvSpPr/>
          <p:nvPr/>
        </p:nvSpPr>
        <p:spPr>
          <a:xfrm>
            <a:off x="5943600" y="1554480"/>
            <a:ext cx="566928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pic>
        <p:nvPicPr>
          <p:cNvPr id="5" name="Mesh figure" descr="/tmp/claude-0/-home-claude/03fff7d9-7cd1-5805-b4ee-b1559ba8e1ea/scratchpad/figs/mesh_inflation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737360"/>
            <a:ext cx="530352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slide on dark background</a:t>
            </a:r>
            <a:endParaRPr lang="en-US" sz="3400" dirty="0"/>
          </a:p>
        </p:txBody>
      </p:sp>
      <p:pic>
        <p:nvPicPr>
          <p:cNvPr id="3" name="Validation figure" descr="/tmp/claude-0/-home-claude/03fff7d9-7cd1-5805-b4ee-b1559ba8e1ea/scratchpad/figs/blasius_velocity_valid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6766560" cy="4480560"/>
          </a:xfrm>
          <a:prstGeom prst="rect">
            <a:avLst/>
          </a:prstGeom>
        </p:spPr>
      </p:pic>
      <p:sp>
        <p:nvSpPr>
          <p:cNvPr id="4" name="Stat chip 1"/>
          <p:cNvSpPr/>
          <p:nvPr/>
        </p:nvSpPr>
        <p:spPr>
          <a:xfrm>
            <a:off x="7772400" y="155448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691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331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skin-friction error vs Blasius</a:t>
            </a:r>
            <a:endParaRPr lang="en-US" sz="1400" dirty="0"/>
          </a:p>
        </p:txBody>
      </p:sp>
      <p:sp>
        <p:nvSpPr>
          <p:cNvPr id="7" name="Stat chip 2"/>
          <p:cNvSpPr/>
          <p:nvPr/>
        </p:nvSpPr>
        <p:spPr>
          <a:xfrm>
            <a:off x="7772400" y="306324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thermal profile error (report it)</a:t>
            </a:r>
            <a:endParaRPr lang="en-US" sz="1400" dirty="0"/>
          </a:p>
        </p:txBody>
      </p:sp>
      <p:sp>
        <p:nvSpPr>
          <p:cNvPr id="10" name="Stat chip 3"/>
          <p:cNvSpPr/>
          <p:nvPr/>
        </p:nvSpPr>
        <p:spPr>
          <a:xfrm>
            <a:off x="7772400" y="457200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4709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[x]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5349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grids used (3 needed for GCI)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 comparison</a:t>
            </a:r>
            <a:endParaRPr lang="en-US" sz="34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554480"/>
            <a:ext cx="539496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sp>
        <p:nvSpPr>
          <p:cNvPr id="4" name="Marker 1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radiation (ε = 0)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All 1000 W/m² leaves by convection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[metric]</a:t>
            </a:r>
            <a:endParaRPr lang="en-US" sz="4800" dirty="0"/>
          </a:p>
        </p:txBody>
      </p:sp>
      <p:sp>
        <p:nvSpPr>
          <p:cNvPr id="9" name="Compare card 2"/>
          <p:cNvSpPr/>
          <p:nvPr/>
        </p:nvSpPr>
        <p:spPr>
          <a:xfrm>
            <a:off x="6217920" y="1554480"/>
            <a:ext cx="539496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sp>
        <p:nvSpPr>
          <p:cNvPr id="10" name="Marker 2"/>
          <p:cNvSpPr/>
          <p:nvPr/>
        </p:nvSpPr>
        <p:spPr>
          <a:xfrm>
            <a:off x="6537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radiation (ε = 0.8)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34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Convection plus radiation share the load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840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[metric]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next steps, stated up front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Two-grid study only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Constant properties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Air treated as transparent</a:t>
            </a:r>
            <a:endParaRPr lang="en-US" sz="1800" dirty="0"/>
          </a:p>
        </p:txBody>
      </p:sp>
      <p:sp>
        <p:nvSpPr>
          <p:cNvPr id="6" name="Card 2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426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0" y="265176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Third mesh, GCI error bars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Global energy balance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Variable-property run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[One-sentence conclusion and the ask]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[What you want from the audience: funding, review, collaboration]</a:t>
            </a:r>
            <a:endParaRPr lang="en-US" sz="2000" dirty="0"/>
          </a:p>
        </p:txBody>
      </p:sp>
      <p:sp>
        <p:nvSpPr>
          <p:cNvPr id="4" name="Contact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github.com/Jersam-l/flat-plate-with-radiation-cfd  |  [email]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rmal Navy">
  <a:themeElements>
    <a:clrScheme name="Thermal Navy">
      <a:dk1>
        <a:srgbClr val="0B1426"/>
      </a:dk1>
      <a:lt1>
        <a:srgbClr val="FFFFFF"/>
      </a:lt1>
      <a:dk2>
        <a:srgbClr val="16264A"/>
      </a:dk2>
      <a:lt2>
        <a:srgbClr val="EEF2F7"/>
      </a:lt2>
      <a:accent1>
        <a:srgbClr val="FF7A1A"/>
      </a:accent1>
      <a:accent2>
        <a:srgbClr val="23B5D3"/>
      </a:accent2>
      <a:accent3>
        <a:srgbClr val="FFC24B"/>
      </a:accent3>
      <a:accent4>
        <a:srgbClr val="7C8DB5"/>
      </a:accent4>
      <a:accent5>
        <a:srgbClr val="E5484D"/>
      </a:accent5>
      <a:accent6>
        <a:srgbClr val="3DD598"/>
      </a:accent6>
      <a:hlink>
        <a:srgbClr val="23B5D3"/>
      </a:hlink>
      <a:folHlink>
        <a:srgbClr val="7C8DB5"/>
      </a:folHlink>
    </a:clrScheme>
    <a:fontScheme name="Thermal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Flat-Plate CFD with Surface Radiation - Pitch Template</dc:title>
  <dc:subject>PptxGenJS Presentation</dc:subject>
  <dc:creator>[Presenter name]</dc:creator>
  <cp:lastModifiedBy>[Presenter name]</cp:lastModifiedBy>
  <cp:revision>1</cp:revision>
  <dcterms:created xsi:type="dcterms:W3CDTF">2026-10-24T04:42:54Z</dcterms:created>
  <dcterms:modified xsi:type="dcterms:W3CDTF">2026-10-24T04:42:54Z</dcterms:modified>
</cp:coreProperties>
</file>