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6"/>
    <p:sldId id="260" r:id="rId5"/>
    <p:sldId id="261" r:id="rId4"/>
    <p:sldId id="262" r:id="rId3"/>
    <p:sldId id="263" r:id="rId2"/>
  </p:sldIdLst>
  <p:notesMasterIdLst>
    <p:notesMasterId r:id="rId10"/>
  </p:notesMasterIdLst>
  <p:sldSz cx="12191999"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8.xml"/><Relationship Id="rId3" Type="http://schemas.openxmlformats.org/officeDocument/2006/relationships/slide" Target="slides/slide7.xml"/><Relationship Id="rId4" Type="http://schemas.openxmlformats.org/officeDocument/2006/relationships/slide" Target="slides/slide6.xml"/><Relationship Id="rId5" Type="http://schemas.openxmlformats.org/officeDocument/2006/relationships/slide" Target="slides/slide5.xml"/><Relationship Id="rId6" Type="http://schemas.openxmlformats.org/officeDocument/2006/relationships/slide" Target="slides/slide4.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project investigates the coupled effects of surface thermal radiation on a laminar flat-plate boundary layer in OpenFOAM 13. My objective is to study how radiation alters the near-wall thermal boundary layer profile and surface temperature distribution. The hydrodynamic solver validates against the exact Blasius similarity solution within 0.11%. Source: results/figures/four_case_temperature_zoom.png.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standard boundary layer heat transfer analyses, radiation is often neglected at moderate temperature rises under the assumption that convection dominates. However, because local convective heat transfer coefficients decrease downstream proportional to x^(-0.5), convective resistance climbs toward the trailing edge. Radiation provides a crucial alternative heat path that limits peak wall temperatures. Source: results/figures/wall_temperature_all_cases.png.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wall energy boundary condition balances the 1000 W/m² electric heater flux against fluid conduction and net Stefan-Boltzmann radiation to the 300 K enclosure. Because radiation is quartic in Tw, an in-situ Newton-Raphson scheme solves for the surface temperature at each face within each PIMPLE iteration. Conservation is enforced by construction. Source: cases/surfaceRadiation_fine/0/T.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domain spans 2.0 m in length (a 1.0 m unheated development plate plus a 1.0 m heated plate) and 0.2 m in height. An 80:1 geometric expansion ratio yields a first cell height of 70.3 μm, placing 41 cells inside the critical near-wall 5 mm boundary layer region. This captures steep wall temperature gradients with zero non-orthogonality. Source: cases/surfaceRadiation_fine/system/blockMeshDict.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Hydrodynamic solver accuracy is rigorously validated against the classical Blasius similarity solution. Trailing-edge skin friction matches analytical prediction with 0.11% relative error. Furthermore, because fluid transport properties are constant and buoyancy is absent, velocity profiles are strictly invariant between radiating and pure-convection cases, confirming hydrodynamic decoupling. Source: results/figures/blasius_velocity_validation.png.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Surface radiation lowers the local wall temperature across the entire 1.0 m plate, with the maximum temperature depression reaching 6.98 K at the trailing edge (dropping from 343.68 K to 336.70 K on the fine mesh). Note that thermal boundary layer thickness does not thin under radiation; delta_T,99 expands slightly from 5.072 mm to 5.175 mm due to altered near-wall temperature curvature. Source: results/figures/temperature_difference_zoom.png.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fine 64,000-cell mesh, surface radiation dissipates an integrated plate-averaged flux of 213.2 W/m² (21.32% of total heat), rising to 21.56% (215.59 W/m²) at the trailing edge. Open issue: For uniform heat flux, laminar correlation Nu_x = 0.453 Re_x^0.5 Pr^(1/3) gives Nu ≈ 143 and wall rise ≈ 267 K at x = 1 m, whereas CFD reports Nu ≈ 875 and a 43.7 K rise. Consequently, these 21.3% and 6.98 K figures are preliminary fine-grid metrics subject to ongoing grid convergence. Source: results/figures/wall_heat_balance_and_nusselt.png.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surface radiation dissipates over 21% of the input thermal load and cools the peak plate temperature by 6.98 K under laminar boundary layer flow. As an aerospace engineering student at Karunya Institute of Technology and Sciences presenting for Boundary Layer Theory, I welcome academic discussion on multi-grid GCI uncertainty quantification and physical experimental validation. Full simulation cases and scripts are available on GitHub. Source: github.com/Jersam-l/flat-plate-with-radiation-cfd.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6309360" cy="201168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4297680"/>
            <a:ext cx="6309360" cy="914400"/>
          </a:xfrm>
          <a:prstGeom prst="rect">
            <a:avLst/>
          </a:prstGeom>
          <a:noFill/>
          <a:ln/>
        </p:spPr>
        <p:txBody>
          <a:bodyPr wrap="square" rtlCol="0"/>
          <a:lstStyle>
            <a:lvl1pPr algn="l" indent="0" marL="0">
              <a:buNone/>
              <a:defRPr lang="en-US" sz="2000" dirty="0">
                <a:solidFill>
                  <a:schemeClr val="accent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_CONTEN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lstStyle>
            <a:lvl1pPr algn="l" indent="0" marL="0">
              <a:buNone/>
              <a:defRPr lang="en-US" sz="3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a:defRPr sz="1000">
                <a:solidFill>
                  <a:srgbClr val="7C8DB5"/>
                </a:solidFill>
                <a:latin typeface="Calibri"/>
              </a:defRPr>
            </a:pPr>
            <a:r>
              <a:t>Boundary Layer on a Flat Plate with Radiation  •  Jersam Lithin L (URK24AE1026)  •  Karunya</a:t>
            </a:r>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CONTENT">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lstStyle>
            <a:lvl1pPr algn="l" indent="0" marL="0">
              <a:buNone/>
              <a:defRPr lang="en-US" sz="3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a:defRPr sz="1000">
                <a:solidFill>
                  <a:srgbClr val="7C8DB5"/>
                </a:solidFill>
                <a:latin typeface="Calibri"/>
              </a:defRPr>
            </a:pPr>
            <a:r>
              <a:t>Boundary Layer on a Flat Plate with Radiation  •  Jersam Lithin L (URK24AE1026)  •  Karunya</a:t>
            </a:r>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 Placeholder 2"/>
          <p:cNvSpPr>
            <a:spLocks noGrp="1"/>
          </p:cNvSpPr>
          <p:nvPr>
            <p:ph type="body" idx="101"/>
          </p:nvPr>
        </p:nvSpPr>
        <p:spPr/>
        <p:txBody>
          <a:bodyPr/>
          <a:lstStyle/>
          <a:p/>
        </p:txBody>
      </p:sp>
      <p:sp>
        <p:nvSpPr>
          <p:cNvPr id="4" name="TextBox 3"/>
          <p:cNvSpPr txBox="1"/>
          <p:nvPr/>
        </p:nvSpPr>
        <p:spPr>
          <a:xfrm>
            <a:off x="731520" y="731520"/>
            <a:ext cx="6217920" cy="365760"/>
          </a:xfrm>
          <a:prstGeom prst="rect">
            <a:avLst/>
          </a:prstGeom>
          <a:noFill/>
        </p:spPr>
        <p:txBody>
          <a:bodyPr wrap="none" lIns="0" tIns="0">
            <a:spAutoFit/>
          </a:bodyPr>
          <a:lstStyle/>
          <a:p>
            <a:pPr>
              <a:defRPr sz="1200" b="1">
                <a:solidFill>
                  <a:srgbClr val="23B5D3"/>
                </a:solidFill>
                <a:latin typeface="Calibri"/>
              </a:defRPr>
            </a:pPr>
            <a:r>
              <a:t>KARUNYA INSTITUTE OF TECHNOLOGY AND SCIENCES  •  AEROSPACE</a:t>
            </a:r>
          </a:p>
        </p:txBody>
      </p:sp>
      <p:sp>
        <p:nvSpPr>
          <p:cNvPr id="5" name="TextBox 4"/>
          <p:cNvSpPr txBox="1"/>
          <p:nvPr/>
        </p:nvSpPr>
        <p:spPr>
          <a:xfrm>
            <a:off x="731520" y="1234440"/>
            <a:ext cx="6217920" cy="2103120"/>
          </a:xfrm>
          <a:prstGeom prst="rect">
            <a:avLst/>
          </a:prstGeom>
          <a:noFill/>
        </p:spPr>
        <p:txBody>
          <a:bodyPr wrap="square" lIns="0" tIns="0">
            <a:spAutoFit/>
          </a:bodyPr>
          <a:lstStyle/>
          <a:p>
            <a:pPr>
              <a:defRPr sz="3600" b="1">
                <a:solidFill>
                  <a:srgbClr val="FFFFFF"/>
                </a:solidFill>
                <a:latin typeface="Cambria"/>
              </a:defRPr>
            </a:pPr>
            <a:r>
              <a:t>Boundary Layer on a Flat Plate with Radiation</a:t>
            </a:r>
          </a:p>
        </p:txBody>
      </p:sp>
      <p:sp>
        <p:nvSpPr>
          <p:cNvPr id="6" name="TextBox 5"/>
          <p:cNvSpPr txBox="1"/>
          <p:nvPr/>
        </p:nvSpPr>
        <p:spPr>
          <a:xfrm>
            <a:off x="731520" y="3520440"/>
            <a:ext cx="6217920" cy="822960"/>
          </a:xfrm>
          <a:prstGeom prst="rect">
            <a:avLst/>
          </a:prstGeom>
          <a:noFill/>
        </p:spPr>
        <p:txBody>
          <a:bodyPr wrap="square" lIns="0" tIns="0">
            <a:spAutoFit/>
          </a:bodyPr>
          <a:lstStyle/>
          <a:p>
            <a:pPr>
              <a:defRPr sz="1600">
                <a:solidFill>
                  <a:srgbClr val="EEF2F7"/>
                </a:solidFill>
                <a:latin typeface="Calibri"/>
              </a:defRPr>
            </a:pPr>
            <a:r>
              <a:t>CFD Investigation of Coupled Surface Radiation on Thermal Boundary Layer Development</a:t>
            </a:r>
          </a:p>
        </p:txBody>
      </p:sp>
      <p:sp>
        <p:nvSpPr>
          <p:cNvPr id="7" name="TextBox 6"/>
          <p:cNvSpPr txBox="1"/>
          <p:nvPr/>
        </p:nvSpPr>
        <p:spPr>
          <a:xfrm>
            <a:off x="731520" y="4526280"/>
            <a:ext cx="6217920" cy="1828800"/>
          </a:xfrm>
          <a:prstGeom prst="rect">
            <a:avLst/>
          </a:prstGeom>
          <a:noFill/>
        </p:spPr>
        <p:txBody>
          <a:bodyPr wrap="square" lIns="0" tIns="0">
            <a:spAutoFit/>
          </a:bodyPr>
          <a:lstStyle/>
          <a:p>
            <a:pPr>
              <a:spcAft>
                <a:spcPts val="200"/>
              </a:spcAft>
              <a:defRPr sz="2200" b="1">
                <a:solidFill>
                  <a:srgbClr val="FF7A1A"/>
                </a:solidFill>
                <a:latin typeface="Cambria"/>
              </a:defRPr>
            </a:pPr>
            <a:r>
              <a:t>JERSAM LITHIN L</a:t>
            </a:r>
          </a:p>
          <a:p>
            <a:pPr>
              <a:spcAft>
                <a:spcPts val="200"/>
              </a:spcAft>
              <a:defRPr sz="1400" b="1">
                <a:solidFill>
                  <a:srgbClr val="FFFFFF"/>
                </a:solidFill>
                <a:latin typeface="Calibri"/>
              </a:defRPr>
            </a:pPr>
            <a:r>
              <a:t>Register No: URK24AE1026</a:t>
            </a:r>
          </a:p>
          <a:p>
            <a:pPr>
              <a:spcAft>
                <a:spcPts val="200"/>
              </a:spcAft>
              <a:defRPr sz="1200">
                <a:solidFill>
                  <a:srgbClr val="EEF2F7"/>
                </a:solidFill>
                <a:latin typeface="Calibri"/>
              </a:defRPr>
            </a:pPr>
            <a:r>
              <a:t>3rd Year B.Tech, Aerospace Engineering  •  Department of Aerospace</a:t>
            </a:r>
          </a:p>
          <a:p>
            <a:pPr>
              <a:defRPr sz="1200">
                <a:solidFill>
                  <a:srgbClr val="FFC24B"/>
                </a:solidFill>
                <a:latin typeface="Calibri"/>
              </a:defRPr>
            </a:pPr>
            <a:r>
              <a:t>Subject: Boundary Layer Theory  |  Academic Project Presentation</a:t>
            </a:r>
          </a:p>
        </p:txBody>
      </p:sp>
      <p:pic>
        <p:nvPicPr>
          <p:cNvPr id="8" name="Picture 7" descr="four_case_temperature_zoom.png"/>
          <p:cNvPicPr>
            <a:picLocks noChangeAspect="1"/>
          </p:cNvPicPr>
          <p:nvPr/>
        </p:nvPicPr>
        <p:blipFill>
          <a:blip r:embed="rId2"/>
          <a:stretch>
            <a:fillRect/>
          </a:stretch>
        </p:blipFill>
        <p:spPr>
          <a:xfrm>
            <a:off x="7132320" y="1904640"/>
            <a:ext cx="4480560" cy="2591518"/>
          </a:xfrm>
          <a:prstGeom prst="rect">
            <a:avLst/>
          </a:prstGeom>
        </p:spPr>
      </p:pic>
      <p:sp>
        <p:nvSpPr>
          <p:cNvPr id="9" name="TextBox 8"/>
          <p:cNvSpPr txBox="1"/>
          <p:nvPr/>
        </p:nvSpPr>
        <p:spPr>
          <a:xfrm>
            <a:off x="7132320" y="4587599"/>
            <a:ext cx="4480560" cy="365760"/>
          </a:xfrm>
          <a:prstGeom prst="rect">
            <a:avLst/>
          </a:prstGeom>
          <a:noFill/>
        </p:spPr>
        <p:txBody>
          <a:bodyPr wrap="square" lIns="0" tIns="0">
            <a:spAutoFit/>
          </a:bodyPr>
          <a:lstStyle/>
          <a:p>
            <a:pPr>
              <a:defRPr sz="1100">
                <a:solidFill>
                  <a:srgbClr val="7C8DB5"/>
                </a:solidFill>
                <a:latin typeface="Calibri"/>
              </a:defRPr>
            </a:pPr>
            <a:r>
              <a:t>Fig. 1: Near-wall thermal boundary layer temperature fields across the 2 × 2 matrix.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EF2F7"/>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Box 2"/>
          <p:cNvSpPr txBox="1"/>
          <p:nvPr/>
        </p:nvSpPr>
        <p:spPr>
          <a:xfrm>
            <a:off x="548640" y="365760"/>
            <a:ext cx="11094415" cy="868680"/>
          </a:xfrm>
          <a:prstGeom prst="rect">
            <a:avLst/>
          </a:prstGeom>
          <a:noFill/>
        </p:spPr>
        <p:txBody>
          <a:bodyPr wrap="square" lIns="0" tIns="0" rIns="0" bIns="0">
            <a:spAutoFit/>
          </a:bodyPr>
          <a:lstStyle/>
          <a:p>
            <a:pPr>
              <a:defRPr sz="3200" b="1">
                <a:solidFill>
                  <a:srgbClr val="0B1426"/>
                </a:solidFill>
                <a:latin typeface="Cambria"/>
              </a:defRPr>
            </a:pPr>
            <a:r>
              <a:t>Neglecting Surface Radiation Overpredicts Wall Temperatures</a:t>
            </a:r>
          </a:p>
        </p:txBody>
      </p:sp>
      <p:sp>
        <p:nvSpPr>
          <p:cNvPr id="4" name="TextBox 3"/>
          <p:cNvSpPr txBox="1"/>
          <p:nvPr/>
        </p:nvSpPr>
        <p:spPr>
          <a:xfrm>
            <a:off x="11064240" y="6400800"/>
            <a:ext cx="548640" cy="274320"/>
          </a:xfrm>
          <a:prstGeom prst="rect">
            <a:avLst/>
          </a:prstGeom>
          <a:noFill/>
        </p:spPr>
        <p:txBody>
          <a:bodyPr wrap="none" lIns="0" tIns="0" rIns="0" bIns="0">
            <a:spAutoFit/>
          </a:bodyPr>
          <a:lstStyle/>
          <a:p>
            <a:pPr algn="r">
              <a:defRPr sz="1100">
                <a:solidFill>
                  <a:srgbClr val="7C8DB5"/>
                </a:solidFill>
                <a:latin typeface="Calibri"/>
              </a:defRPr>
            </a:pPr>
            <a:r>
              <a:t>2</a:t>
            </a:r>
          </a:p>
        </p:txBody>
      </p:sp>
      <p:sp>
        <p:nvSpPr>
          <p:cNvPr id="5" name="Rounded Rectangle 4"/>
          <p:cNvSpPr/>
          <p:nvPr/>
        </p:nvSpPr>
        <p:spPr>
          <a:xfrm>
            <a:off x="548640" y="1371600"/>
            <a:ext cx="6583680" cy="475488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ll_temperature_all_cases.png"/>
          <p:cNvPicPr>
            <a:picLocks noChangeAspect="1"/>
          </p:cNvPicPr>
          <p:nvPr/>
        </p:nvPicPr>
        <p:blipFill>
          <a:blip r:embed="rId2"/>
          <a:stretch>
            <a:fillRect/>
          </a:stretch>
        </p:blipFill>
        <p:spPr>
          <a:xfrm>
            <a:off x="731520" y="1888964"/>
            <a:ext cx="6217920" cy="3400111"/>
          </a:xfrm>
          <a:prstGeom prst="rect">
            <a:avLst/>
          </a:prstGeom>
        </p:spPr>
      </p:pic>
      <p:sp>
        <p:nvSpPr>
          <p:cNvPr id="7" name="TextBox 6"/>
          <p:cNvSpPr txBox="1"/>
          <p:nvPr/>
        </p:nvSpPr>
        <p:spPr>
          <a:xfrm>
            <a:off x="731520" y="5696712"/>
            <a:ext cx="6217920" cy="320040"/>
          </a:xfrm>
          <a:prstGeom prst="rect">
            <a:avLst/>
          </a:prstGeom>
          <a:noFill/>
        </p:spPr>
        <p:txBody>
          <a:bodyPr wrap="square" lIns="0" tIns="0" rIns="0" bIns="0">
            <a:spAutoFit/>
          </a:bodyPr>
          <a:lstStyle/>
          <a:p>
            <a:pPr>
              <a:defRPr sz="1100">
                <a:solidFill>
                  <a:srgbClr val="7C8DB5"/>
                </a:solidFill>
                <a:latin typeface="Calibri"/>
              </a:defRPr>
            </a:pPr>
            <a:r>
              <a:t>Fig. 2: Streamwise wall temperature distribution along heated flat plate.</a:t>
            </a:r>
          </a:p>
        </p:txBody>
      </p:sp>
      <p:sp>
        <p:nvSpPr>
          <p:cNvPr id="8" name="TextBox 7"/>
          <p:cNvSpPr txBox="1"/>
          <p:nvPr/>
        </p:nvSpPr>
        <p:spPr>
          <a:xfrm>
            <a:off x="7498079" y="1463040"/>
            <a:ext cx="4114800" cy="3108960"/>
          </a:xfrm>
          <a:prstGeom prst="rect">
            <a:avLst/>
          </a:prstGeom>
          <a:noFill/>
        </p:spPr>
        <p:txBody>
          <a:bodyPr wrap="square" lIns="0" tIns="0">
            <a:spAutoFit/>
          </a:bodyPr>
          <a:lstStyle/>
          <a:p>
            <a:pPr>
              <a:spcAft>
                <a:spcPts val="1600"/>
              </a:spcAft>
              <a:defRPr sz="2400" b="1">
                <a:solidFill>
                  <a:srgbClr val="0B1426"/>
                </a:solidFill>
                <a:latin typeface="Cambria"/>
              </a:defRPr>
            </a:pPr>
            <a:r>
              <a:t>Convective Cooling Decays Downstream</a:t>
            </a:r>
          </a:p>
          <a:p>
            <a:pPr>
              <a:spcAft>
                <a:spcPts val="1200"/>
              </a:spcAft>
              <a:defRPr sz="1500">
                <a:solidFill>
                  <a:srgbClr val="0B1426"/>
                </a:solidFill>
                <a:latin typeface="Calibri"/>
              </a:defRPr>
            </a:pPr>
            <a:r>
              <a:t>•  Plate wall temperature depends strictly on competing heat rejection pathways.</a:t>
            </a:r>
          </a:p>
          <a:p>
            <a:pPr>
              <a:spcAft>
                <a:spcPts val="1200"/>
              </a:spcAft>
              <a:defRPr sz="1500">
                <a:solidFill>
                  <a:srgbClr val="0B1426"/>
                </a:solidFill>
                <a:latin typeface="Calibri"/>
              </a:defRPr>
            </a:pPr>
            <a:r>
              <a:t>•  Convective cooling drops downstream as hydrodynamic boundary layers thicken.</a:t>
            </a:r>
          </a:p>
          <a:p>
            <a:pPr>
              <a:spcAft>
                <a:spcPts val="1200"/>
              </a:spcAft>
              <a:defRPr sz="1500">
                <a:solidFill>
                  <a:srgbClr val="0B1426"/>
                </a:solidFill>
                <a:latin typeface="Calibri"/>
              </a:defRPr>
            </a:pPr>
            <a:r>
              <a:t>•  Standard CFD workflows frequently omit radiation, overpredicting component peak temperatures.</a:t>
            </a:r>
          </a:p>
        </p:txBody>
      </p:sp>
      <p:sp>
        <p:nvSpPr>
          <p:cNvPr id="9" name="Rounded Rectangle 8"/>
          <p:cNvSpPr/>
          <p:nvPr/>
        </p:nvSpPr>
        <p:spPr>
          <a:xfrm>
            <a:off x="7498079" y="4754880"/>
            <a:ext cx="4114800" cy="109728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4846320"/>
            <a:ext cx="3749039" cy="914400"/>
          </a:xfrm>
          <a:prstGeom prst="rect">
            <a:avLst/>
          </a:prstGeom>
          <a:noFill/>
        </p:spPr>
        <p:txBody>
          <a:bodyPr wrap="square" lIns="0" tIns="0">
            <a:spAutoFit/>
          </a:bodyPr>
          <a:lstStyle/>
          <a:p>
            <a:pPr>
              <a:defRPr sz="1600" b="1">
                <a:solidFill>
                  <a:srgbClr val="FF7A1A"/>
                </a:solidFill>
                <a:latin typeface="Cambria"/>
              </a:defRPr>
            </a:pPr>
            <a:r>
              <a:t>Heater Heat Flux: q″ = 1000 W/m²</a:t>
            </a:r>
          </a:p>
          <a:p>
            <a:pPr>
              <a:defRPr sz="1100">
                <a:solidFill>
                  <a:srgbClr val="0B1426"/>
                </a:solidFill>
                <a:latin typeface="Calibri"/>
              </a:defRPr>
            </a:pPr>
            <a:r>
              <a:t>Uniform electric heating over 1.0 m plate with T_ambient = 300 K, U_inf = 2.0 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EF2F7"/>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Box 2"/>
          <p:cNvSpPr txBox="1"/>
          <p:nvPr/>
        </p:nvSpPr>
        <p:spPr>
          <a:xfrm>
            <a:off x="548640" y="365760"/>
            <a:ext cx="11094415" cy="868680"/>
          </a:xfrm>
          <a:prstGeom prst="rect">
            <a:avLst/>
          </a:prstGeom>
          <a:noFill/>
        </p:spPr>
        <p:txBody>
          <a:bodyPr wrap="square" lIns="0" tIns="0" rIns="0" bIns="0">
            <a:spAutoFit/>
          </a:bodyPr>
          <a:lstStyle/>
          <a:p>
            <a:pPr>
              <a:defRPr sz="3200" b="1">
                <a:solidFill>
                  <a:srgbClr val="0B1426"/>
                </a:solidFill>
                <a:latin typeface="Cambria"/>
              </a:defRPr>
            </a:pPr>
            <a:r>
              <a:t>Newton-Raphson Solver Enforces Non-Linear Surface Heat Balance</a:t>
            </a:r>
          </a:p>
        </p:txBody>
      </p:sp>
      <p:sp>
        <p:nvSpPr>
          <p:cNvPr id="4" name="TextBox 3"/>
          <p:cNvSpPr txBox="1"/>
          <p:nvPr/>
        </p:nvSpPr>
        <p:spPr>
          <a:xfrm>
            <a:off x="11064240" y="6400800"/>
            <a:ext cx="548640" cy="274320"/>
          </a:xfrm>
          <a:prstGeom prst="rect">
            <a:avLst/>
          </a:prstGeom>
          <a:noFill/>
        </p:spPr>
        <p:txBody>
          <a:bodyPr wrap="none" lIns="0" tIns="0" rIns="0" bIns="0">
            <a:spAutoFit/>
          </a:bodyPr>
          <a:lstStyle/>
          <a:p>
            <a:pPr algn="r">
              <a:defRPr sz="1100">
                <a:solidFill>
                  <a:srgbClr val="7C8DB5"/>
                </a:solidFill>
                <a:latin typeface="Calibri"/>
              </a:defRPr>
            </a:pPr>
            <a:r>
              <a:t>3</a:t>
            </a:r>
          </a:p>
        </p:txBody>
      </p:sp>
      <p:sp>
        <p:nvSpPr>
          <p:cNvPr id="5" name="Rounded Rectangle 4"/>
          <p:cNvSpPr/>
          <p:nvPr/>
        </p:nvSpPr>
        <p:spPr>
          <a:xfrm>
            <a:off x="548640" y="1371600"/>
            <a:ext cx="6217920" cy="475488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600200"/>
            <a:ext cx="5669280" cy="4297680"/>
          </a:xfrm>
          <a:prstGeom prst="rect">
            <a:avLst/>
          </a:prstGeom>
          <a:noFill/>
        </p:spPr>
        <p:txBody>
          <a:bodyPr wrap="square" lIns="0" tIns="0">
            <a:spAutoFit/>
          </a:bodyPr>
          <a:lstStyle/>
          <a:p>
            <a:pPr>
              <a:spcAft>
                <a:spcPts val="1200"/>
              </a:spcAft>
              <a:defRPr sz="2200" b="1">
                <a:solidFill>
                  <a:srgbClr val="0B1426"/>
                </a:solidFill>
                <a:latin typeface="Cambria"/>
              </a:defRPr>
            </a:pPr>
            <a:r>
              <a:t>Conjugate Energy Conservation at Wall Face</a:t>
            </a:r>
          </a:p>
          <a:p>
            <a:pPr>
              <a:defRPr sz="1300" b="1">
                <a:solidFill>
                  <a:srgbClr val="0B1426"/>
                </a:solidFill>
                <a:latin typeface="Calibri"/>
              </a:defRPr>
            </a:pPr>
            <a:r>
              <a:t>1. Surface Heat Balance (Enforced at Wall Face):</a:t>
            </a:r>
          </a:p>
          <a:p>
            <a:pPr>
              <a:spcAft>
                <a:spcPts val="1000"/>
              </a:spcAft>
              <a:defRPr sz="1700" b="1">
                <a:solidFill>
                  <a:srgbClr val="FF7A1A"/>
                </a:solidFill>
                <a:latin typeface="Cambria"/>
              </a:defRPr>
            </a:pPr>
            <a:r>
              <a:t>q″_heater = q″_conv + q″_rad = 1000 W/m²</a:t>
            </a:r>
          </a:p>
          <a:p>
            <a:pPr>
              <a:defRPr sz="1300" b="1">
                <a:solidFill>
                  <a:srgbClr val="0B1426"/>
                </a:solidFill>
                <a:latin typeface="Calibri"/>
              </a:defRPr>
            </a:pPr>
            <a:r>
              <a:t>2. Stefan-Boltzmann Quartic Radiation Emission:</a:t>
            </a:r>
          </a:p>
          <a:p>
            <a:pPr>
              <a:defRPr sz="1700" b="1">
                <a:solidFill>
                  <a:srgbClr val="23B5D3"/>
                </a:solidFill>
                <a:latin typeface="Cambria"/>
              </a:defRPr>
            </a:pPr>
            <a:r>
              <a:t>q″_rad = ε σ (T_w⁴ − T_sur⁴)</a:t>
            </a:r>
          </a:p>
          <a:p>
            <a:pPr>
              <a:spcAft>
                <a:spcPts val="1000"/>
              </a:spcAft>
              <a:defRPr sz="1100">
                <a:solidFill>
                  <a:srgbClr val="7C8DB5"/>
                </a:solidFill>
                <a:latin typeface="Calibri"/>
              </a:defRPr>
            </a:pPr>
            <a:r>
              <a:t>where ε = 0.80,  σ = 5.670 × 10⁻⁸ W/(m²·K⁴),  T_sur = 300 K</a:t>
            </a:r>
          </a:p>
          <a:p>
            <a:pPr>
              <a:defRPr sz="1300" b="1">
                <a:solidFill>
                  <a:srgbClr val="0B1426"/>
                </a:solidFill>
                <a:latin typeface="Calibri"/>
              </a:defRPr>
            </a:pPr>
            <a:r>
              <a:t>3. In-Situ Newton-Raphson Wall Root-Finding:</a:t>
            </a:r>
          </a:p>
          <a:p>
            <a:pPr>
              <a:defRPr sz="1600" b="1">
                <a:solidFill>
                  <a:srgbClr val="0B1426"/>
                </a:solidFill>
                <a:latin typeface="Cambria"/>
              </a:defRPr>
            </a:pPr>
            <a:r>
              <a:t>T_w,new = T_w,old − f(T_w) / f′(T_w)</a:t>
            </a:r>
          </a:p>
          <a:p>
            <a:pPr>
              <a:defRPr sz="1100">
                <a:solidFill>
                  <a:srgbClr val="7C8DB5"/>
                </a:solidFill>
                <a:latin typeface="Calibri"/>
              </a:defRPr>
            </a:pPr>
            <a:r>
              <a:t>f(T_w) = −k (∂T/∂y)_w + ε σ (T_w⁴ − T_sur⁴) − q″_heater = 0</a:t>
            </a:r>
          </a:p>
        </p:txBody>
      </p:sp>
      <p:sp>
        <p:nvSpPr>
          <p:cNvPr id="7" name="TextBox 6"/>
          <p:cNvSpPr txBox="1"/>
          <p:nvPr/>
        </p:nvSpPr>
        <p:spPr>
          <a:xfrm>
            <a:off x="7132320" y="1371600"/>
            <a:ext cx="4480560" cy="365760"/>
          </a:xfrm>
          <a:prstGeom prst="rect">
            <a:avLst/>
          </a:prstGeom>
          <a:noFill/>
        </p:spPr>
        <p:txBody>
          <a:bodyPr wrap="none" lIns="0" tIns="0">
            <a:spAutoFit/>
          </a:bodyPr>
          <a:lstStyle/>
          <a:p>
            <a:pPr>
              <a:defRPr sz="2200" b="1">
                <a:solidFill>
                  <a:srgbClr val="0B1426"/>
                </a:solidFill>
                <a:latin typeface="Cambria"/>
              </a:defRPr>
            </a:pPr>
            <a:r>
              <a:t>Boundary Condition Mechanics</a:t>
            </a:r>
          </a:p>
        </p:txBody>
      </p:sp>
      <p:sp>
        <p:nvSpPr>
          <p:cNvPr id="8" name="TextBox 7"/>
          <p:cNvSpPr txBox="1"/>
          <p:nvPr/>
        </p:nvSpPr>
        <p:spPr>
          <a:xfrm>
            <a:off x="7132320" y="1874519"/>
            <a:ext cx="4480560" cy="2011680"/>
          </a:xfrm>
          <a:prstGeom prst="rect">
            <a:avLst/>
          </a:prstGeom>
          <a:noFill/>
        </p:spPr>
        <p:txBody>
          <a:bodyPr wrap="square" lIns="0" tIns="0">
            <a:spAutoFit/>
          </a:bodyPr>
          <a:lstStyle/>
          <a:p>
            <a:pPr>
              <a:spcAft>
                <a:spcPts val="1200"/>
              </a:spcAft>
              <a:defRPr sz="1400">
                <a:solidFill>
                  <a:srgbClr val="0B1426"/>
                </a:solidFill>
                <a:latin typeface="Calibri"/>
              </a:defRPr>
            </a:pPr>
            <a:r>
              <a:t>•  Solves non-linear quartic radiative flux at every boundary face.</a:t>
            </a:r>
          </a:p>
          <a:p>
            <a:pPr>
              <a:spcAft>
                <a:spcPts val="1200"/>
              </a:spcAft>
              <a:defRPr sz="1400">
                <a:solidFill>
                  <a:srgbClr val="0B1426"/>
                </a:solidFill>
                <a:latin typeface="Calibri"/>
              </a:defRPr>
            </a:pPr>
            <a:r>
              <a:t>•  Enforces local face heat balance by construction during each PIMPLE step.</a:t>
            </a:r>
          </a:p>
          <a:p>
            <a:pPr>
              <a:spcAft>
                <a:spcPts val="1200"/>
              </a:spcAft>
              <a:defRPr sz="1400">
                <a:solidFill>
                  <a:srgbClr val="0B1426"/>
                </a:solidFill>
                <a:latin typeface="Calibri"/>
              </a:defRPr>
            </a:pPr>
            <a:r>
              <a:t>•  Newton-Raphson scheme converges to double precision within four iterations.</a:t>
            </a:r>
          </a:p>
        </p:txBody>
      </p:sp>
      <p:sp>
        <p:nvSpPr>
          <p:cNvPr id="9" name="Rounded Rectangle 8"/>
          <p:cNvSpPr/>
          <p:nvPr/>
        </p:nvSpPr>
        <p:spPr>
          <a:xfrm>
            <a:off x="7132320" y="4389120"/>
            <a:ext cx="2148840" cy="173736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69480" y="4526280"/>
            <a:ext cx="1874519" cy="1463040"/>
          </a:xfrm>
          <a:prstGeom prst="rect">
            <a:avLst/>
          </a:prstGeom>
          <a:noFill/>
        </p:spPr>
        <p:txBody>
          <a:bodyPr wrap="square" lIns="0" tIns="0">
            <a:spAutoFit/>
          </a:bodyPr>
          <a:lstStyle/>
          <a:p>
            <a:pPr>
              <a:defRPr sz="2800" b="1">
                <a:solidFill>
                  <a:srgbClr val="FF7A1A"/>
                </a:solidFill>
                <a:latin typeface="Cambria"/>
              </a:defRPr>
            </a:pPr>
            <a:r>
              <a:t>ε = 0.80</a:t>
            </a:r>
          </a:p>
          <a:p>
            <a:pPr>
              <a:defRPr sz="1100">
                <a:solidFill>
                  <a:srgbClr val="0B1426"/>
                </a:solidFill>
                <a:latin typeface="Calibri"/>
              </a:defRPr>
            </a:pPr>
            <a:r>
              <a:t>Grey-diffuse emissivity to 300 K external enclosure</a:t>
            </a:r>
          </a:p>
        </p:txBody>
      </p:sp>
      <p:sp>
        <p:nvSpPr>
          <p:cNvPr id="11" name="Rounded Rectangle 10"/>
          <p:cNvSpPr/>
          <p:nvPr/>
        </p:nvSpPr>
        <p:spPr>
          <a:xfrm>
            <a:off x="9464040" y="4389120"/>
            <a:ext cx="2148840" cy="173736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0" y="4526280"/>
            <a:ext cx="1874519" cy="1463040"/>
          </a:xfrm>
          <a:prstGeom prst="rect">
            <a:avLst/>
          </a:prstGeom>
          <a:noFill/>
        </p:spPr>
        <p:txBody>
          <a:bodyPr wrap="square" lIns="0" tIns="0">
            <a:spAutoFit/>
          </a:bodyPr>
          <a:lstStyle/>
          <a:p>
            <a:pPr>
              <a:defRPr sz="2800" b="1">
                <a:solidFill>
                  <a:srgbClr val="23B5D3"/>
                </a:solidFill>
                <a:latin typeface="Cambria"/>
              </a:defRPr>
            </a:pPr>
            <a:r>
              <a:t>&lt; 4 Iter</a:t>
            </a:r>
          </a:p>
          <a:p>
            <a:pPr>
              <a:defRPr sz="1100">
                <a:solidFill>
                  <a:srgbClr val="0B1426"/>
                </a:solidFill>
                <a:latin typeface="Calibri"/>
              </a:defRPr>
            </a:pPr>
            <a:r>
              <a:t>Fast quadratic convergence per boundary face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EF2F7"/>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Box 2"/>
          <p:cNvSpPr txBox="1"/>
          <p:nvPr/>
        </p:nvSpPr>
        <p:spPr>
          <a:xfrm>
            <a:off x="548640" y="365760"/>
            <a:ext cx="11094415" cy="868680"/>
          </a:xfrm>
          <a:prstGeom prst="rect">
            <a:avLst/>
          </a:prstGeom>
          <a:noFill/>
        </p:spPr>
        <p:txBody>
          <a:bodyPr wrap="square" lIns="0" tIns="0" rIns="0" bIns="0">
            <a:spAutoFit/>
          </a:bodyPr>
          <a:lstStyle/>
          <a:p>
            <a:pPr>
              <a:defRPr sz="3200" b="1">
                <a:solidFill>
                  <a:srgbClr val="0B1426"/>
                </a:solidFill>
                <a:latin typeface="Cambria"/>
              </a:defRPr>
            </a:pPr>
            <a:r>
              <a:t>Domain Mesh Resolution and 2 × 2 Simulation Matrix</a:t>
            </a:r>
          </a:p>
        </p:txBody>
      </p:sp>
      <p:sp>
        <p:nvSpPr>
          <p:cNvPr id="4" name="TextBox 3"/>
          <p:cNvSpPr txBox="1"/>
          <p:nvPr/>
        </p:nvSpPr>
        <p:spPr>
          <a:xfrm>
            <a:off x="11064240" y="6400800"/>
            <a:ext cx="548640" cy="274320"/>
          </a:xfrm>
          <a:prstGeom prst="rect">
            <a:avLst/>
          </a:prstGeom>
          <a:noFill/>
        </p:spPr>
        <p:txBody>
          <a:bodyPr wrap="none" lIns="0" tIns="0" rIns="0" bIns="0">
            <a:spAutoFit/>
          </a:bodyPr>
          <a:lstStyle/>
          <a:p>
            <a:pPr algn="r">
              <a:defRPr sz="1100">
                <a:solidFill>
                  <a:srgbClr val="7C8DB5"/>
                </a:solidFill>
                <a:latin typeface="Calibri"/>
              </a:defRPr>
            </a:pPr>
            <a:r>
              <a:t>4</a:t>
            </a:r>
          </a:p>
        </p:txBody>
      </p:sp>
      <p:sp>
        <p:nvSpPr>
          <p:cNvPr id="5" name="TextBox 4"/>
          <p:cNvSpPr txBox="1"/>
          <p:nvPr/>
        </p:nvSpPr>
        <p:spPr>
          <a:xfrm>
            <a:off x="548640" y="1371600"/>
            <a:ext cx="6217920" cy="365760"/>
          </a:xfrm>
          <a:prstGeom prst="rect">
            <a:avLst/>
          </a:prstGeom>
          <a:noFill/>
        </p:spPr>
        <p:txBody>
          <a:bodyPr wrap="none" lIns="0" tIns="0">
            <a:spAutoFit/>
          </a:bodyPr>
          <a:lstStyle/>
          <a:p>
            <a:pPr>
              <a:defRPr sz="2200" b="1">
                <a:solidFill>
                  <a:srgbClr val="0B1426"/>
                </a:solidFill>
                <a:latin typeface="Cambria"/>
              </a:defRPr>
            </a:pPr>
            <a:r>
              <a:t>2 × 2 Factorial Computational Matrix</a:t>
            </a:r>
          </a:p>
        </p:txBody>
      </p:sp>
      <p:graphicFrame>
        <p:nvGraphicFramePr>
          <p:cNvPr id="6" name="Table 5"/>
          <p:cNvGraphicFramePr>
            <a:graphicFrameLocks noGrp="1"/>
          </p:cNvGraphicFramePr>
          <p:nvPr/>
        </p:nvGraphicFramePr>
        <p:xfrm>
          <a:off x="548640" y="1874519"/>
          <a:ext cx="6217920" cy="2011680"/>
        </p:xfrm>
        <a:graphic>
          <a:graphicData uri="http://schemas.openxmlformats.org/drawingml/2006/table">
            <a:tbl>
              <a:tblPr firstRow="1" bandRow="1">
                <a:tableStyleId>{5C22544A-7EE6-4342-B048-85BDC9FD1C3A}</a:tableStyleId>
              </a:tblPr>
              <a:tblGrid>
                <a:gridCol w="2103120"/>
                <a:gridCol w="1005840"/>
                <a:gridCol w="914400"/>
                <a:gridCol w="1097280"/>
                <a:gridCol w="1097280"/>
              </a:tblGrid>
              <a:tr h="402336">
                <a:tc>
                  <a:txBody>
                    <a:bodyPr/>
                    <a:lstStyle/>
                    <a:p>
                      <a:pPr algn="ctr">
                        <a:defRPr sz="1100" b="1">
                          <a:solidFill>
                            <a:srgbClr val="FFFFFF"/>
                          </a:solidFill>
                          <a:latin typeface="Calibri"/>
                        </a:defRPr>
                      </a:pPr>
                      <a:r>
                        <a:t>Case Identifier</a:t>
                      </a:r>
                    </a:p>
                  </a:txBody>
                  <a:tcPr>
                    <a:solidFill>
                      <a:srgbClr val="0B1426"/>
                    </a:solidFill>
                  </a:tcPr>
                </a:tc>
                <a:tc>
                  <a:txBody>
                    <a:bodyPr/>
                    <a:lstStyle/>
                    <a:p>
                      <a:pPr algn="ctr">
                        <a:defRPr sz="1100" b="1">
                          <a:solidFill>
                            <a:srgbClr val="FFFFFF"/>
                          </a:solidFill>
                          <a:latin typeface="Calibri"/>
                        </a:defRPr>
                      </a:pPr>
                      <a:r>
                        <a:t>Grid (nx×ny)</a:t>
                      </a:r>
                    </a:p>
                  </a:txBody>
                  <a:tcPr>
                    <a:solidFill>
                      <a:srgbClr val="0B1426"/>
                    </a:solidFill>
                  </a:tcPr>
                </a:tc>
                <a:tc>
                  <a:txBody>
                    <a:bodyPr/>
                    <a:lstStyle/>
                    <a:p>
                      <a:pPr algn="ctr">
                        <a:defRPr sz="1100" b="1">
                          <a:solidFill>
                            <a:srgbClr val="FFFFFF"/>
                          </a:solidFill>
                          <a:latin typeface="Calibri"/>
                        </a:defRPr>
                      </a:pPr>
                      <a:r>
                        <a:t>Cells</a:t>
                      </a:r>
                    </a:p>
                  </a:txBody>
                  <a:tcPr>
                    <a:solidFill>
                      <a:srgbClr val="0B1426"/>
                    </a:solidFill>
                  </a:tcPr>
                </a:tc>
                <a:tc>
                  <a:txBody>
                    <a:bodyPr/>
                    <a:lstStyle/>
                    <a:p>
                      <a:pPr algn="ctr">
                        <a:defRPr sz="1100" b="1">
                          <a:solidFill>
                            <a:srgbClr val="FFFFFF"/>
                          </a:solidFill>
                          <a:latin typeface="Calibri"/>
                        </a:defRPr>
                      </a:pPr>
                      <a:r>
                        <a:t>Emissivity ε</a:t>
                      </a:r>
                    </a:p>
                  </a:txBody>
                  <a:tcPr>
                    <a:solidFill>
                      <a:srgbClr val="0B1426"/>
                    </a:solidFill>
                  </a:tcPr>
                </a:tc>
                <a:tc>
                  <a:txBody>
                    <a:bodyPr/>
                    <a:lstStyle/>
                    <a:p>
                      <a:pPr algn="ctr">
                        <a:defRPr sz="1100" b="1">
                          <a:solidFill>
                            <a:srgbClr val="FFFFFF"/>
                          </a:solidFill>
                          <a:latin typeface="Calibri"/>
                        </a:defRPr>
                      </a:pPr>
                      <a:r>
                        <a:t>Heater q″</a:t>
                      </a:r>
                    </a:p>
                  </a:txBody>
                  <a:tcPr>
                    <a:solidFill>
                      <a:srgbClr val="0B1426"/>
                    </a:solidFill>
                  </a:tcPr>
                </a:tc>
              </a:tr>
              <a:tr h="402336">
                <a:tc>
                  <a:txBody>
                    <a:bodyPr/>
                    <a:lstStyle/>
                    <a:p>
                      <a:pPr algn="l">
                        <a:defRPr sz="1100">
                          <a:solidFill>
                            <a:srgbClr val="0B1426"/>
                          </a:solidFill>
                          <a:latin typeface="Calibri"/>
                        </a:defRPr>
                      </a:pPr>
                      <a:r>
                        <a:t>noRadiation_coarse</a:t>
                      </a:r>
                    </a:p>
                  </a:txBody>
                  <a:tcPr>
                    <a:solidFill>
                      <a:srgbClr val="FFFFFF"/>
                    </a:solidFill>
                  </a:tcPr>
                </a:tc>
                <a:tc>
                  <a:txBody>
                    <a:bodyPr/>
                    <a:lstStyle/>
                    <a:p>
                      <a:pPr algn="ctr">
                        <a:defRPr sz="1100">
                          <a:solidFill>
                            <a:srgbClr val="0B1426"/>
                          </a:solidFill>
                          <a:latin typeface="Calibri"/>
                        </a:defRPr>
                      </a:pPr>
                      <a:r>
                        <a:t>200 × 80</a:t>
                      </a:r>
                    </a:p>
                  </a:txBody>
                  <a:tcPr>
                    <a:solidFill>
                      <a:srgbClr val="FFFFFF"/>
                    </a:solidFill>
                  </a:tcPr>
                </a:tc>
                <a:tc>
                  <a:txBody>
                    <a:bodyPr/>
                    <a:lstStyle/>
                    <a:p>
                      <a:pPr algn="ctr">
                        <a:defRPr sz="1100">
                          <a:solidFill>
                            <a:srgbClr val="0B1426"/>
                          </a:solidFill>
                          <a:latin typeface="Calibri"/>
                        </a:defRPr>
                      </a:pPr>
                      <a:r>
                        <a:t>16,000</a:t>
                      </a:r>
                    </a:p>
                  </a:txBody>
                  <a:tcPr>
                    <a:solidFill>
                      <a:srgbClr val="FFFFFF"/>
                    </a:solidFill>
                  </a:tcPr>
                </a:tc>
                <a:tc>
                  <a:txBody>
                    <a:bodyPr/>
                    <a:lstStyle/>
                    <a:p>
                      <a:pPr algn="ctr">
                        <a:defRPr sz="1100">
                          <a:solidFill>
                            <a:srgbClr val="0B1426"/>
                          </a:solidFill>
                          <a:latin typeface="Calibri"/>
                        </a:defRPr>
                      </a:pPr>
                      <a:r>
                        <a:t>0.0 (Pure)</a:t>
                      </a:r>
                    </a:p>
                  </a:txBody>
                  <a:tcPr>
                    <a:solidFill>
                      <a:srgbClr val="FFFFFF"/>
                    </a:solidFill>
                  </a:tcPr>
                </a:tc>
                <a:tc>
                  <a:txBody>
                    <a:bodyPr/>
                    <a:lstStyle/>
                    <a:p>
                      <a:pPr algn="ctr">
                        <a:defRPr sz="1100">
                          <a:solidFill>
                            <a:srgbClr val="0B1426"/>
                          </a:solidFill>
                          <a:latin typeface="Calibri"/>
                        </a:defRPr>
                      </a:pPr>
                      <a:r>
                        <a:t>1000 W/m²</a:t>
                      </a:r>
                    </a:p>
                  </a:txBody>
                  <a:tcPr>
                    <a:solidFill>
                      <a:srgbClr val="FFFFFF"/>
                    </a:solidFill>
                  </a:tcPr>
                </a:tc>
              </a:tr>
              <a:tr h="402336">
                <a:tc>
                  <a:txBody>
                    <a:bodyPr/>
                    <a:lstStyle/>
                    <a:p>
                      <a:pPr algn="l">
                        <a:defRPr sz="1100">
                          <a:solidFill>
                            <a:srgbClr val="0B1426"/>
                          </a:solidFill>
                          <a:latin typeface="Calibri"/>
                        </a:defRPr>
                      </a:pPr>
                      <a:r>
                        <a:t>noRadiation_fine</a:t>
                      </a:r>
                    </a:p>
                  </a:txBody>
                  <a:tcPr>
                    <a:solidFill>
                      <a:srgbClr val="DEE5F0"/>
                    </a:solidFill>
                  </a:tcPr>
                </a:tc>
                <a:tc>
                  <a:txBody>
                    <a:bodyPr/>
                    <a:lstStyle/>
                    <a:p>
                      <a:pPr algn="ctr">
                        <a:defRPr sz="1100">
                          <a:solidFill>
                            <a:srgbClr val="0B1426"/>
                          </a:solidFill>
                          <a:latin typeface="Calibri"/>
                        </a:defRPr>
                      </a:pPr>
                      <a:r>
                        <a:t>400 × 160</a:t>
                      </a:r>
                    </a:p>
                  </a:txBody>
                  <a:tcPr>
                    <a:solidFill>
                      <a:srgbClr val="DEE5F0"/>
                    </a:solidFill>
                  </a:tcPr>
                </a:tc>
                <a:tc>
                  <a:txBody>
                    <a:bodyPr/>
                    <a:lstStyle/>
                    <a:p>
                      <a:pPr algn="ctr">
                        <a:defRPr sz="1100">
                          <a:solidFill>
                            <a:srgbClr val="0B1426"/>
                          </a:solidFill>
                          <a:latin typeface="Calibri"/>
                        </a:defRPr>
                      </a:pPr>
                      <a:r>
                        <a:t>64,000</a:t>
                      </a:r>
                    </a:p>
                  </a:txBody>
                  <a:tcPr>
                    <a:solidFill>
                      <a:srgbClr val="DEE5F0"/>
                    </a:solidFill>
                  </a:tcPr>
                </a:tc>
                <a:tc>
                  <a:txBody>
                    <a:bodyPr/>
                    <a:lstStyle/>
                    <a:p>
                      <a:pPr algn="ctr">
                        <a:defRPr sz="1100">
                          <a:solidFill>
                            <a:srgbClr val="0B1426"/>
                          </a:solidFill>
                          <a:latin typeface="Calibri"/>
                        </a:defRPr>
                      </a:pPr>
                      <a:r>
                        <a:t>0.0 (Pure)</a:t>
                      </a:r>
                    </a:p>
                  </a:txBody>
                  <a:tcPr>
                    <a:solidFill>
                      <a:srgbClr val="DEE5F0"/>
                    </a:solidFill>
                  </a:tcPr>
                </a:tc>
                <a:tc>
                  <a:txBody>
                    <a:bodyPr/>
                    <a:lstStyle/>
                    <a:p>
                      <a:pPr algn="ctr">
                        <a:defRPr sz="1100">
                          <a:solidFill>
                            <a:srgbClr val="0B1426"/>
                          </a:solidFill>
                          <a:latin typeface="Calibri"/>
                        </a:defRPr>
                      </a:pPr>
                      <a:r>
                        <a:t>1000 W/m²</a:t>
                      </a:r>
                    </a:p>
                  </a:txBody>
                  <a:tcPr>
                    <a:solidFill>
                      <a:srgbClr val="DEE5F0"/>
                    </a:solidFill>
                  </a:tcPr>
                </a:tc>
              </a:tr>
              <a:tr h="402336">
                <a:tc>
                  <a:txBody>
                    <a:bodyPr/>
                    <a:lstStyle/>
                    <a:p>
                      <a:pPr algn="l">
                        <a:defRPr sz="1100">
                          <a:solidFill>
                            <a:srgbClr val="0B1426"/>
                          </a:solidFill>
                          <a:latin typeface="Calibri"/>
                        </a:defRPr>
                      </a:pPr>
                      <a:r>
                        <a:t>surfaceRadiation_coarse</a:t>
                      </a:r>
                    </a:p>
                  </a:txBody>
                  <a:tcPr>
                    <a:solidFill>
                      <a:srgbClr val="FFFFFF"/>
                    </a:solidFill>
                  </a:tcPr>
                </a:tc>
                <a:tc>
                  <a:txBody>
                    <a:bodyPr/>
                    <a:lstStyle/>
                    <a:p>
                      <a:pPr algn="ctr">
                        <a:defRPr sz="1100">
                          <a:solidFill>
                            <a:srgbClr val="0B1426"/>
                          </a:solidFill>
                          <a:latin typeface="Calibri"/>
                        </a:defRPr>
                      </a:pPr>
                      <a:r>
                        <a:t>200 × 80</a:t>
                      </a:r>
                    </a:p>
                  </a:txBody>
                  <a:tcPr>
                    <a:solidFill>
                      <a:srgbClr val="FFFFFF"/>
                    </a:solidFill>
                  </a:tcPr>
                </a:tc>
                <a:tc>
                  <a:txBody>
                    <a:bodyPr/>
                    <a:lstStyle/>
                    <a:p>
                      <a:pPr algn="ctr">
                        <a:defRPr sz="1100">
                          <a:solidFill>
                            <a:srgbClr val="0B1426"/>
                          </a:solidFill>
                          <a:latin typeface="Calibri"/>
                        </a:defRPr>
                      </a:pPr>
                      <a:r>
                        <a:t>16,000</a:t>
                      </a:r>
                    </a:p>
                  </a:txBody>
                  <a:tcPr>
                    <a:solidFill>
                      <a:srgbClr val="FFFFFF"/>
                    </a:solidFill>
                  </a:tcPr>
                </a:tc>
                <a:tc>
                  <a:txBody>
                    <a:bodyPr/>
                    <a:lstStyle/>
                    <a:p>
                      <a:pPr algn="ctr">
                        <a:defRPr sz="1100">
                          <a:solidFill>
                            <a:srgbClr val="0B1426"/>
                          </a:solidFill>
                          <a:latin typeface="Calibri"/>
                        </a:defRPr>
                      </a:pPr>
                      <a:r>
                        <a:t>0.8 (Coupled)</a:t>
                      </a:r>
                    </a:p>
                  </a:txBody>
                  <a:tcPr>
                    <a:solidFill>
                      <a:srgbClr val="FFFFFF"/>
                    </a:solidFill>
                  </a:tcPr>
                </a:tc>
                <a:tc>
                  <a:txBody>
                    <a:bodyPr/>
                    <a:lstStyle/>
                    <a:p>
                      <a:pPr algn="ctr">
                        <a:defRPr sz="1100">
                          <a:solidFill>
                            <a:srgbClr val="0B1426"/>
                          </a:solidFill>
                          <a:latin typeface="Calibri"/>
                        </a:defRPr>
                      </a:pPr>
                      <a:r>
                        <a:t>1000 W/m²</a:t>
                      </a:r>
                    </a:p>
                  </a:txBody>
                  <a:tcPr>
                    <a:solidFill>
                      <a:srgbClr val="FFFFFF"/>
                    </a:solidFill>
                  </a:tcPr>
                </a:tc>
              </a:tr>
              <a:tr h="402336">
                <a:tc>
                  <a:txBody>
                    <a:bodyPr/>
                    <a:lstStyle/>
                    <a:p>
                      <a:pPr algn="l">
                        <a:defRPr sz="1100">
                          <a:solidFill>
                            <a:srgbClr val="0B1426"/>
                          </a:solidFill>
                          <a:latin typeface="Calibri"/>
                        </a:defRPr>
                      </a:pPr>
                      <a:r>
                        <a:t>surfaceRadiation_fine</a:t>
                      </a:r>
                    </a:p>
                  </a:txBody>
                  <a:tcPr>
                    <a:solidFill>
                      <a:srgbClr val="DEE5F0"/>
                    </a:solidFill>
                  </a:tcPr>
                </a:tc>
                <a:tc>
                  <a:txBody>
                    <a:bodyPr/>
                    <a:lstStyle/>
                    <a:p>
                      <a:pPr algn="ctr">
                        <a:defRPr sz="1100">
                          <a:solidFill>
                            <a:srgbClr val="0B1426"/>
                          </a:solidFill>
                          <a:latin typeface="Calibri"/>
                        </a:defRPr>
                      </a:pPr>
                      <a:r>
                        <a:t>400 × 160</a:t>
                      </a:r>
                    </a:p>
                  </a:txBody>
                  <a:tcPr>
                    <a:solidFill>
                      <a:srgbClr val="DEE5F0"/>
                    </a:solidFill>
                  </a:tcPr>
                </a:tc>
                <a:tc>
                  <a:txBody>
                    <a:bodyPr/>
                    <a:lstStyle/>
                    <a:p>
                      <a:pPr algn="ctr">
                        <a:defRPr sz="1100">
                          <a:solidFill>
                            <a:srgbClr val="0B1426"/>
                          </a:solidFill>
                          <a:latin typeface="Calibri"/>
                        </a:defRPr>
                      </a:pPr>
                      <a:r>
                        <a:t>64,000</a:t>
                      </a:r>
                    </a:p>
                  </a:txBody>
                  <a:tcPr>
                    <a:solidFill>
                      <a:srgbClr val="DEE5F0"/>
                    </a:solidFill>
                  </a:tcPr>
                </a:tc>
                <a:tc>
                  <a:txBody>
                    <a:bodyPr/>
                    <a:lstStyle/>
                    <a:p>
                      <a:pPr algn="ctr">
                        <a:defRPr sz="1100">
                          <a:solidFill>
                            <a:srgbClr val="0B1426"/>
                          </a:solidFill>
                          <a:latin typeface="Calibri"/>
                        </a:defRPr>
                      </a:pPr>
                      <a:r>
                        <a:t>0.8 (Coupled)</a:t>
                      </a:r>
                    </a:p>
                  </a:txBody>
                  <a:tcPr>
                    <a:solidFill>
                      <a:srgbClr val="DEE5F0"/>
                    </a:solidFill>
                  </a:tcPr>
                </a:tc>
                <a:tc>
                  <a:txBody>
                    <a:bodyPr/>
                    <a:lstStyle/>
                    <a:p>
                      <a:pPr algn="ctr">
                        <a:defRPr sz="1100">
                          <a:solidFill>
                            <a:srgbClr val="0B1426"/>
                          </a:solidFill>
                          <a:latin typeface="Calibri"/>
                        </a:defRPr>
                      </a:pPr>
                      <a:r>
                        <a:t>1000 W/m²</a:t>
                      </a:r>
                    </a:p>
                  </a:txBody>
                  <a:tcPr>
                    <a:solidFill>
                      <a:srgbClr val="DEE5F0"/>
                    </a:solidFill>
                  </a:tcPr>
                </a:tc>
              </a:tr>
            </a:tbl>
          </a:graphicData>
        </a:graphic>
      </p:graphicFrame>
      <p:sp>
        <p:nvSpPr>
          <p:cNvPr id="7" name="TextBox 6"/>
          <p:cNvSpPr txBox="1"/>
          <p:nvPr/>
        </p:nvSpPr>
        <p:spPr>
          <a:xfrm>
            <a:off x="548640" y="4160520"/>
            <a:ext cx="6217920" cy="1737360"/>
          </a:xfrm>
          <a:prstGeom prst="rect">
            <a:avLst/>
          </a:prstGeom>
          <a:noFill/>
        </p:spPr>
        <p:txBody>
          <a:bodyPr wrap="square" lIns="0" tIns="0">
            <a:spAutoFit/>
          </a:bodyPr>
          <a:lstStyle/>
          <a:p>
            <a:pPr>
              <a:spcAft>
                <a:spcPts val="1200"/>
              </a:spcAft>
              <a:defRPr sz="1300">
                <a:solidFill>
                  <a:srgbClr val="0B1426"/>
                </a:solidFill>
                <a:latin typeface="Calibri"/>
              </a:defRPr>
            </a:pPr>
            <a:r>
              <a:t>•  Domain includes 1.0 m unheated inflow section to develop boundary layer.</a:t>
            </a:r>
          </a:p>
          <a:p>
            <a:pPr>
              <a:spcAft>
                <a:spcPts val="1200"/>
              </a:spcAft>
              <a:defRPr sz="1300">
                <a:solidFill>
                  <a:srgbClr val="0B1426"/>
                </a:solidFill>
                <a:latin typeface="Calibri"/>
              </a:defRPr>
            </a:pPr>
            <a:r>
              <a:t>•  Geometric wall-normal grading of 80:1 concentrates 41 cells in 5 mm.</a:t>
            </a:r>
          </a:p>
          <a:p>
            <a:pPr>
              <a:spcAft>
                <a:spcPts val="1200"/>
              </a:spcAft>
              <a:defRPr sz="1300">
                <a:solidFill>
                  <a:srgbClr val="0B1426"/>
                </a:solidFill>
                <a:latin typeface="Calibri"/>
              </a:defRPr>
            </a:pPr>
            <a:r>
              <a:t>•  Fine 64,000-cell mesh maintains zero non-orthogonality and skewness.</a:t>
            </a:r>
          </a:p>
        </p:txBody>
      </p:sp>
      <p:sp>
        <p:nvSpPr>
          <p:cNvPr id="8" name="Rounded Rectangle 7"/>
          <p:cNvSpPr/>
          <p:nvPr/>
        </p:nvSpPr>
        <p:spPr>
          <a:xfrm>
            <a:off x="7132320" y="1371600"/>
            <a:ext cx="4480560" cy="475488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mesh_inflation_detail.png"/>
          <p:cNvPicPr>
            <a:picLocks noChangeAspect="1"/>
          </p:cNvPicPr>
          <p:nvPr/>
        </p:nvPicPr>
        <p:blipFill>
          <a:blip r:embed="rId2"/>
          <a:stretch>
            <a:fillRect/>
          </a:stretch>
        </p:blipFill>
        <p:spPr>
          <a:xfrm>
            <a:off x="7315200" y="2714716"/>
            <a:ext cx="4114800" cy="1748607"/>
          </a:xfrm>
          <a:prstGeom prst="rect">
            <a:avLst/>
          </a:prstGeom>
        </p:spPr>
      </p:pic>
      <p:sp>
        <p:nvSpPr>
          <p:cNvPr id="10" name="TextBox 9"/>
          <p:cNvSpPr txBox="1"/>
          <p:nvPr/>
        </p:nvSpPr>
        <p:spPr>
          <a:xfrm>
            <a:off x="7315200" y="5696712"/>
            <a:ext cx="4114800" cy="320040"/>
          </a:xfrm>
          <a:prstGeom prst="rect">
            <a:avLst/>
          </a:prstGeom>
          <a:noFill/>
        </p:spPr>
        <p:txBody>
          <a:bodyPr wrap="square" lIns="0" tIns="0" rIns="0" bIns="0">
            <a:spAutoFit/>
          </a:bodyPr>
          <a:lstStyle/>
          <a:p>
            <a:pPr>
              <a:defRPr sz="1100">
                <a:solidFill>
                  <a:srgbClr val="7C8DB5"/>
                </a:solidFill>
                <a:latin typeface="Calibri"/>
              </a:defRPr>
            </a:pPr>
            <a:r>
              <a:t>Fig. 3: Structured inflation mesh near heated plate leading edge (80:1 grading).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Box 2"/>
          <p:cNvSpPr txBox="1"/>
          <p:nvPr/>
        </p:nvSpPr>
        <p:spPr>
          <a:xfrm>
            <a:off x="548640" y="365760"/>
            <a:ext cx="11094415" cy="868680"/>
          </a:xfrm>
          <a:prstGeom prst="rect">
            <a:avLst/>
          </a:prstGeom>
          <a:noFill/>
        </p:spPr>
        <p:txBody>
          <a:bodyPr wrap="square" lIns="0" tIns="0" rIns="0" bIns="0">
            <a:spAutoFit/>
          </a:bodyPr>
          <a:lstStyle/>
          <a:p>
            <a:pPr>
              <a:defRPr sz="3200" b="1">
                <a:solidFill>
                  <a:srgbClr val="FFFFFF"/>
                </a:solidFill>
                <a:latin typeface="Cambria"/>
              </a:defRPr>
            </a:pPr>
            <a:r>
              <a:t>Skin Friction Validates Against Blasius Within 0.11%</a:t>
            </a:r>
          </a:p>
        </p:txBody>
      </p:sp>
      <p:sp>
        <p:nvSpPr>
          <p:cNvPr id="4" name="TextBox 3"/>
          <p:cNvSpPr txBox="1"/>
          <p:nvPr/>
        </p:nvSpPr>
        <p:spPr>
          <a:xfrm>
            <a:off x="11064240" y="6400800"/>
            <a:ext cx="548640" cy="274320"/>
          </a:xfrm>
          <a:prstGeom prst="rect">
            <a:avLst/>
          </a:prstGeom>
          <a:noFill/>
        </p:spPr>
        <p:txBody>
          <a:bodyPr wrap="none" lIns="0" tIns="0" rIns="0" bIns="0">
            <a:spAutoFit/>
          </a:bodyPr>
          <a:lstStyle/>
          <a:p>
            <a:pPr algn="r">
              <a:defRPr sz="1100">
                <a:solidFill>
                  <a:srgbClr val="7C8DB5"/>
                </a:solidFill>
                <a:latin typeface="Calibri"/>
              </a:defRPr>
            </a:pPr>
            <a:r>
              <a:t>5</a:t>
            </a:r>
          </a:p>
        </p:txBody>
      </p:sp>
      <p:sp>
        <p:nvSpPr>
          <p:cNvPr id="5" name="Rounded Rectangle 4"/>
          <p:cNvSpPr/>
          <p:nvPr/>
        </p:nvSpPr>
        <p:spPr>
          <a:xfrm>
            <a:off x="548640" y="1371600"/>
            <a:ext cx="6583680" cy="4754880"/>
          </a:xfrm>
          <a:prstGeom prst="roundRect">
            <a:avLst/>
          </a:prstGeom>
          <a:solidFill>
            <a:srgbClr val="162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lasius_velocity_validation.png"/>
          <p:cNvPicPr>
            <a:picLocks noChangeAspect="1"/>
          </p:cNvPicPr>
          <p:nvPr/>
        </p:nvPicPr>
        <p:blipFill>
          <a:blip r:embed="rId2"/>
          <a:stretch>
            <a:fillRect/>
          </a:stretch>
        </p:blipFill>
        <p:spPr>
          <a:xfrm>
            <a:off x="800373" y="1536192"/>
            <a:ext cx="6080213" cy="4105656"/>
          </a:xfrm>
          <a:prstGeom prst="rect">
            <a:avLst/>
          </a:prstGeom>
        </p:spPr>
      </p:pic>
      <p:sp>
        <p:nvSpPr>
          <p:cNvPr id="7" name="TextBox 6"/>
          <p:cNvSpPr txBox="1"/>
          <p:nvPr/>
        </p:nvSpPr>
        <p:spPr>
          <a:xfrm>
            <a:off x="731520" y="5696712"/>
            <a:ext cx="6217920" cy="320040"/>
          </a:xfrm>
          <a:prstGeom prst="rect">
            <a:avLst/>
          </a:prstGeom>
          <a:noFill/>
        </p:spPr>
        <p:txBody>
          <a:bodyPr wrap="square" lIns="0" tIns="0" rIns="0" bIns="0">
            <a:spAutoFit/>
          </a:bodyPr>
          <a:lstStyle/>
          <a:p>
            <a:pPr>
              <a:defRPr sz="1100">
                <a:solidFill>
                  <a:srgbClr val="7C8DB5"/>
                </a:solidFill>
                <a:latin typeface="Calibri"/>
              </a:defRPr>
            </a:pPr>
            <a:r>
              <a:t>Fig. 4: Non-dimensional streamwise velocity collapse vs exact Blasius curve.</a:t>
            </a:r>
          </a:p>
        </p:txBody>
      </p:sp>
      <p:sp>
        <p:nvSpPr>
          <p:cNvPr id="8" name="Rounded Rectangle 7"/>
          <p:cNvSpPr/>
          <p:nvPr/>
        </p:nvSpPr>
        <p:spPr>
          <a:xfrm>
            <a:off x="7498079" y="1371600"/>
            <a:ext cx="4114800" cy="1417320"/>
          </a:xfrm>
          <a:prstGeom prst="roundRect">
            <a:avLst/>
          </a:prstGeom>
          <a:solidFill>
            <a:srgbClr val="162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1536192"/>
            <a:ext cx="3566160" cy="1097280"/>
          </a:xfrm>
          <a:prstGeom prst="rect">
            <a:avLst/>
          </a:prstGeom>
          <a:noFill/>
        </p:spPr>
        <p:txBody>
          <a:bodyPr wrap="square" lIns="0" tIns="0">
            <a:spAutoFit/>
          </a:bodyPr>
          <a:lstStyle/>
          <a:p>
            <a:pPr>
              <a:defRPr sz="3600" b="1">
                <a:solidFill>
                  <a:srgbClr val="FF7A1A"/>
                </a:solidFill>
                <a:latin typeface="Cambria"/>
              </a:defRPr>
            </a:pPr>
            <a:r>
              <a:t>0.11%</a:t>
            </a:r>
          </a:p>
          <a:p>
            <a:pPr>
              <a:defRPr sz="1200">
                <a:solidFill>
                  <a:srgbClr val="EEF2F7"/>
                </a:solidFill>
                <a:latin typeface="Calibri"/>
              </a:defRPr>
            </a:pPr>
            <a:r>
              <a:t>Skin-friction relative error vs Blasius (Cf = 1.874e-3 vs 1.872e-3)</a:t>
            </a:r>
          </a:p>
        </p:txBody>
      </p:sp>
      <p:sp>
        <p:nvSpPr>
          <p:cNvPr id="10" name="Rounded Rectangle 9"/>
          <p:cNvSpPr/>
          <p:nvPr/>
        </p:nvSpPr>
        <p:spPr>
          <a:xfrm>
            <a:off x="7498079" y="2971800"/>
            <a:ext cx="4114800" cy="1417320"/>
          </a:xfrm>
          <a:prstGeom prst="roundRect">
            <a:avLst/>
          </a:prstGeom>
          <a:solidFill>
            <a:srgbClr val="162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0" y="3136392"/>
            <a:ext cx="3566160" cy="1097280"/>
          </a:xfrm>
          <a:prstGeom prst="rect">
            <a:avLst/>
          </a:prstGeom>
          <a:noFill/>
        </p:spPr>
        <p:txBody>
          <a:bodyPr wrap="square" lIns="0" tIns="0">
            <a:spAutoFit/>
          </a:bodyPr>
          <a:lstStyle/>
          <a:p>
            <a:pPr>
              <a:defRPr sz="3600" b="1">
                <a:solidFill>
                  <a:srgbClr val="23B5D3"/>
                </a:solidFill>
                <a:latin typeface="Cambria"/>
              </a:defRPr>
            </a:pPr>
            <a:r>
              <a:t>1.26 × 10⁵</a:t>
            </a:r>
          </a:p>
          <a:p>
            <a:pPr>
              <a:defRPr sz="1200">
                <a:solidFill>
                  <a:srgbClr val="EEF2F7"/>
                </a:solidFill>
                <a:latin typeface="Calibri"/>
              </a:defRPr>
            </a:pPr>
            <a:r>
              <a:t>Plate Reynolds number (Re_L = U_inf L / ν) confirms laminar flow</a:t>
            </a:r>
          </a:p>
        </p:txBody>
      </p:sp>
      <p:sp>
        <p:nvSpPr>
          <p:cNvPr id="12" name="Rounded Rectangle 11"/>
          <p:cNvSpPr/>
          <p:nvPr/>
        </p:nvSpPr>
        <p:spPr>
          <a:xfrm>
            <a:off x="7498079" y="4572000"/>
            <a:ext cx="4114800" cy="1417320"/>
          </a:xfrm>
          <a:prstGeom prst="roundRect">
            <a:avLst/>
          </a:prstGeom>
          <a:solidFill>
            <a:srgbClr val="162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0" y="4736592"/>
            <a:ext cx="3566160" cy="1097280"/>
          </a:xfrm>
          <a:prstGeom prst="rect">
            <a:avLst/>
          </a:prstGeom>
          <a:noFill/>
        </p:spPr>
        <p:txBody>
          <a:bodyPr wrap="square" lIns="0" tIns="0">
            <a:spAutoFit/>
          </a:bodyPr>
          <a:lstStyle/>
          <a:p>
            <a:pPr>
              <a:defRPr sz="3600" b="1">
                <a:solidFill>
                  <a:srgbClr val="FFC24B"/>
                </a:solidFill>
                <a:latin typeface="Cambria"/>
              </a:defRPr>
            </a:pPr>
            <a:r>
              <a:t>Invariant</a:t>
            </a:r>
          </a:p>
          <a:p>
            <a:pPr>
              <a:defRPr sz="1200">
                <a:solidFill>
                  <a:srgbClr val="EEF2F7"/>
                </a:solidFill>
                <a:latin typeface="Calibri"/>
              </a:defRPr>
            </a:pPr>
            <a:r>
              <a:t>Velocity profiles strictly identical between radiating and baseline cases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EF2F7"/>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Box 2"/>
          <p:cNvSpPr txBox="1"/>
          <p:nvPr/>
        </p:nvSpPr>
        <p:spPr>
          <a:xfrm>
            <a:off x="548640" y="365760"/>
            <a:ext cx="11094415" cy="868680"/>
          </a:xfrm>
          <a:prstGeom prst="rect">
            <a:avLst/>
          </a:prstGeom>
          <a:noFill/>
        </p:spPr>
        <p:txBody>
          <a:bodyPr wrap="square" lIns="0" tIns="0" rIns="0" bIns="0">
            <a:spAutoFit/>
          </a:bodyPr>
          <a:lstStyle/>
          <a:p>
            <a:pPr>
              <a:defRPr sz="3200" b="1">
                <a:solidFill>
                  <a:srgbClr val="0B1426"/>
                </a:solidFill>
                <a:latin typeface="Cambria"/>
              </a:defRPr>
            </a:pPr>
            <a:r>
              <a:t>Surface Radiation Depresses Peak Wall Temperature by 6.98 K</a:t>
            </a:r>
          </a:p>
        </p:txBody>
      </p:sp>
      <p:sp>
        <p:nvSpPr>
          <p:cNvPr id="4" name="TextBox 3"/>
          <p:cNvSpPr txBox="1"/>
          <p:nvPr/>
        </p:nvSpPr>
        <p:spPr>
          <a:xfrm>
            <a:off x="11064240" y="6400800"/>
            <a:ext cx="548640" cy="274320"/>
          </a:xfrm>
          <a:prstGeom prst="rect">
            <a:avLst/>
          </a:prstGeom>
          <a:noFill/>
        </p:spPr>
        <p:txBody>
          <a:bodyPr wrap="none" lIns="0" tIns="0" rIns="0" bIns="0">
            <a:spAutoFit/>
          </a:bodyPr>
          <a:lstStyle/>
          <a:p>
            <a:pPr algn="r">
              <a:defRPr sz="1100">
                <a:solidFill>
                  <a:srgbClr val="7C8DB5"/>
                </a:solidFill>
                <a:latin typeface="Calibri"/>
              </a:defRPr>
            </a:pPr>
            <a:r>
              <a:t>6</a:t>
            </a:r>
          </a:p>
        </p:txBody>
      </p:sp>
      <p:sp>
        <p:nvSpPr>
          <p:cNvPr id="5" name="Rounded Rectangle 4"/>
          <p:cNvSpPr/>
          <p:nvPr/>
        </p:nvSpPr>
        <p:spPr>
          <a:xfrm>
            <a:off x="548640" y="1371600"/>
            <a:ext cx="6583680" cy="475488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emperature_difference_zoom.png"/>
          <p:cNvPicPr>
            <a:picLocks noChangeAspect="1"/>
          </p:cNvPicPr>
          <p:nvPr/>
        </p:nvPicPr>
        <p:blipFill>
          <a:blip r:embed="rId2"/>
          <a:stretch>
            <a:fillRect/>
          </a:stretch>
        </p:blipFill>
        <p:spPr>
          <a:xfrm>
            <a:off x="731520" y="2235259"/>
            <a:ext cx="6217920" cy="2707520"/>
          </a:xfrm>
          <a:prstGeom prst="rect">
            <a:avLst/>
          </a:prstGeom>
        </p:spPr>
      </p:pic>
      <p:sp>
        <p:nvSpPr>
          <p:cNvPr id="7" name="TextBox 6"/>
          <p:cNvSpPr txBox="1"/>
          <p:nvPr/>
        </p:nvSpPr>
        <p:spPr>
          <a:xfrm>
            <a:off x="731520" y="5696712"/>
            <a:ext cx="6217920" cy="320040"/>
          </a:xfrm>
          <a:prstGeom prst="rect">
            <a:avLst/>
          </a:prstGeom>
          <a:noFill/>
        </p:spPr>
        <p:txBody>
          <a:bodyPr wrap="square" lIns="0" tIns="0" rIns="0" bIns="0">
            <a:spAutoFit/>
          </a:bodyPr>
          <a:lstStyle/>
          <a:p>
            <a:pPr>
              <a:defRPr sz="1100">
                <a:solidFill>
                  <a:srgbClr val="7C8DB5"/>
                </a:solidFill>
                <a:latin typeface="Calibri"/>
              </a:defRPr>
            </a:pPr>
            <a:r>
              <a:t>Fig. 5: Boundary layer temperature difference field (T_radiation - T_baseline).</a:t>
            </a:r>
          </a:p>
        </p:txBody>
      </p:sp>
      <p:sp>
        <p:nvSpPr>
          <p:cNvPr id="8" name="Rounded Rectangle 7"/>
          <p:cNvSpPr/>
          <p:nvPr/>
        </p:nvSpPr>
        <p:spPr>
          <a:xfrm>
            <a:off x="7498079" y="1371600"/>
            <a:ext cx="4114800" cy="128016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0" y="1463040"/>
            <a:ext cx="3749039" cy="1097280"/>
          </a:xfrm>
          <a:prstGeom prst="rect">
            <a:avLst/>
          </a:prstGeom>
          <a:noFill/>
        </p:spPr>
        <p:txBody>
          <a:bodyPr wrap="square" lIns="0" tIns="0">
            <a:spAutoFit/>
          </a:bodyPr>
          <a:lstStyle/>
          <a:p>
            <a:pPr>
              <a:defRPr sz="3600" b="1">
                <a:solidFill>
                  <a:srgbClr val="23B5D3"/>
                </a:solidFill>
                <a:latin typeface="Cambria"/>
              </a:defRPr>
            </a:pPr>
            <a:r>
              <a:t>6.98 K Drop</a:t>
            </a:r>
          </a:p>
          <a:p>
            <a:pPr>
              <a:defRPr sz="1300" b="1">
                <a:solidFill>
                  <a:srgbClr val="0B1426"/>
                </a:solidFill>
                <a:latin typeface="Calibri"/>
              </a:defRPr>
            </a:pPr>
            <a:r>
              <a:t>Peak Wall Temperature Reduction (Fine Grid)</a:t>
            </a:r>
          </a:p>
        </p:txBody>
      </p:sp>
      <p:sp>
        <p:nvSpPr>
          <p:cNvPr id="10" name="TextBox 9"/>
          <p:cNvSpPr txBox="1"/>
          <p:nvPr/>
        </p:nvSpPr>
        <p:spPr>
          <a:xfrm>
            <a:off x="7498079" y="2926080"/>
            <a:ext cx="4114800" cy="2377440"/>
          </a:xfrm>
          <a:prstGeom prst="rect">
            <a:avLst/>
          </a:prstGeom>
          <a:noFill/>
        </p:spPr>
        <p:txBody>
          <a:bodyPr wrap="square" lIns="0" tIns="0">
            <a:spAutoFit/>
          </a:bodyPr>
          <a:lstStyle/>
          <a:p>
            <a:pPr>
              <a:spcAft>
                <a:spcPts val="1200"/>
              </a:spcAft>
              <a:defRPr sz="1400">
                <a:solidFill>
                  <a:srgbClr val="0B1426"/>
                </a:solidFill>
                <a:latin typeface="Calibri"/>
              </a:defRPr>
            </a:pPr>
            <a:r>
              <a:t>•  Radiation lowers plate wall temperature along the entire heated length.</a:t>
            </a:r>
          </a:p>
          <a:p>
            <a:pPr>
              <a:spcAft>
                <a:spcPts val="1200"/>
              </a:spcAft>
              <a:defRPr sz="1400">
                <a:solidFill>
                  <a:srgbClr val="0B1426"/>
                </a:solidFill>
                <a:latin typeface="Calibri"/>
              </a:defRPr>
            </a:pPr>
            <a:r>
              <a:t>•  Cooling effect intensifies downstream, reaching maximum depression of 6.98 K.</a:t>
            </a:r>
          </a:p>
          <a:p>
            <a:pPr>
              <a:spcAft>
                <a:spcPts val="1200"/>
              </a:spcAft>
              <a:defRPr sz="1400">
                <a:solidFill>
                  <a:srgbClr val="0B1426"/>
                </a:solidFill>
                <a:latin typeface="Calibri"/>
              </a:defRPr>
            </a:pPr>
            <a:r>
              <a:t>•  Thermal boundary layer thickness remains virtually unchanged across radiation cases.</a:t>
            </a:r>
          </a:p>
          <a:p>
            <a:pPr>
              <a:spcBef>
                <a:spcPts val="800"/>
              </a:spcBef>
              <a:defRPr sz="1100">
                <a:solidFill>
                  <a:srgbClr val="7C8DB5"/>
                </a:solidFill>
                <a:latin typeface="Calibri"/>
              </a:defRPr>
            </a:pPr>
            <a:r>
              <a:t>Fine grid trailing edge: 336.70 K vs 343.68 K pure convection.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EF2F7"/>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Box 2"/>
          <p:cNvSpPr txBox="1"/>
          <p:nvPr/>
        </p:nvSpPr>
        <p:spPr>
          <a:xfrm>
            <a:off x="548640" y="365760"/>
            <a:ext cx="11094415" cy="868680"/>
          </a:xfrm>
          <a:prstGeom prst="rect">
            <a:avLst/>
          </a:prstGeom>
          <a:noFill/>
        </p:spPr>
        <p:txBody>
          <a:bodyPr wrap="square" lIns="0" tIns="0" rIns="0" bIns="0">
            <a:spAutoFit/>
          </a:bodyPr>
          <a:lstStyle/>
          <a:p>
            <a:pPr>
              <a:defRPr sz="3200" b="1">
                <a:solidFill>
                  <a:srgbClr val="0B1426"/>
                </a:solidFill>
                <a:latin typeface="Cambria"/>
              </a:defRPr>
            </a:pPr>
            <a:r>
              <a:t>Surface Radiation Carries 21.3% of Total Heat Along Plate</a:t>
            </a:r>
          </a:p>
        </p:txBody>
      </p:sp>
      <p:sp>
        <p:nvSpPr>
          <p:cNvPr id="4" name="TextBox 3"/>
          <p:cNvSpPr txBox="1"/>
          <p:nvPr/>
        </p:nvSpPr>
        <p:spPr>
          <a:xfrm>
            <a:off x="11064240" y="6400800"/>
            <a:ext cx="548640" cy="274320"/>
          </a:xfrm>
          <a:prstGeom prst="rect">
            <a:avLst/>
          </a:prstGeom>
          <a:noFill/>
        </p:spPr>
        <p:txBody>
          <a:bodyPr wrap="none" lIns="0" tIns="0" rIns="0" bIns="0">
            <a:spAutoFit/>
          </a:bodyPr>
          <a:lstStyle/>
          <a:p>
            <a:pPr algn="r">
              <a:defRPr sz="1100">
                <a:solidFill>
                  <a:srgbClr val="7C8DB5"/>
                </a:solidFill>
                <a:latin typeface="Calibri"/>
              </a:defRPr>
            </a:pPr>
            <a:r>
              <a:t>7</a:t>
            </a:r>
          </a:p>
        </p:txBody>
      </p:sp>
      <p:sp>
        <p:nvSpPr>
          <p:cNvPr id="5" name="Rounded Rectangle 4"/>
          <p:cNvSpPr/>
          <p:nvPr/>
        </p:nvSpPr>
        <p:spPr>
          <a:xfrm>
            <a:off x="548640" y="1371600"/>
            <a:ext cx="6583680" cy="475488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ll_heat_balance_and_nusselt.png"/>
          <p:cNvPicPr>
            <a:picLocks noChangeAspect="1"/>
          </p:cNvPicPr>
          <p:nvPr/>
        </p:nvPicPr>
        <p:blipFill>
          <a:blip r:embed="rId2"/>
          <a:stretch>
            <a:fillRect/>
          </a:stretch>
        </p:blipFill>
        <p:spPr>
          <a:xfrm>
            <a:off x="731520" y="2464626"/>
            <a:ext cx="6217920" cy="2248787"/>
          </a:xfrm>
          <a:prstGeom prst="rect">
            <a:avLst/>
          </a:prstGeom>
        </p:spPr>
      </p:pic>
      <p:sp>
        <p:nvSpPr>
          <p:cNvPr id="7" name="TextBox 6"/>
          <p:cNvSpPr txBox="1"/>
          <p:nvPr/>
        </p:nvSpPr>
        <p:spPr>
          <a:xfrm>
            <a:off x="731520" y="5696712"/>
            <a:ext cx="6217920" cy="320040"/>
          </a:xfrm>
          <a:prstGeom prst="rect">
            <a:avLst/>
          </a:prstGeom>
          <a:noFill/>
        </p:spPr>
        <p:txBody>
          <a:bodyPr wrap="square" lIns="0" tIns="0" rIns="0" bIns="0">
            <a:spAutoFit/>
          </a:bodyPr>
          <a:lstStyle/>
          <a:p>
            <a:pPr>
              <a:defRPr sz="1100">
                <a:solidFill>
                  <a:srgbClr val="7C8DB5"/>
                </a:solidFill>
                <a:latin typeface="Calibri"/>
              </a:defRPr>
            </a:pPr>
            <a:r>
              <a:t>Fig. 6: Streamwise convective vs radiative heat-flux split and Nusselt number.</a:t>
            </a:r>
          </a:p>
        </p:txBody>
      </p:sp>
      <p:sp>
        <p:nvSpPr>
          <p:cNvPr id="8" name="Rounded Rectangle 7"/>
          <p:cNvSpPr/>
          <p:nvPr/>
        </p:nvSpPr>
        <p:spPr>
          <a:xfrm>
            <a:off x="7498079" y="1371600"/>
            <a:ext cx="4114800" cy="128016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0" y="1463040"/>
            <a:ext cx="3749039" cy="1097280"/>
          </a:xfrm>
          <a:prstGeom prst="rect">
            <a:avLst/>
          </a:prstGeom>
          <a:noFill/>
        </p:spPr>
        <p:txBody>
          <a:bodyPr wrap="square" lIns="0" tIns="0">
            <a:spAutoFit/>
          </a:bodyPr>
          <a:lstStyle/>
          <a:p>
            <a:pPr>
              <a:defRPr sz="3600" b="1">
                <a:solidFill>
                  <a:srgbClr val="FF7A1A"/>
                </a:solidFill>
                <a:latin typeface="Cambria"/>
              </a:defRPr>
            </a:pPr>
            <a:r>
              <a:t>21.3%</a:t>
            </a:r>
          </a:p>
          <a:p>
            <a:pPr>
              <a:defRPr sz="1300" b="1">
                <a:solidFill>
                  <a:srgbClr val="0B1426"/>
                </a:solidFill>
                <a:latin typeface="Calibri"/>
              </a:defRPr>
            </a:pPr>
            <a:r>
              <a:t>Plate-Averaged Radiative Load</a:t>
            </a:r>
          </a:p>
          <a:p>
            <a:pPr>
              <a:defRPr sz="1100">
                <a:solidFill>
                  <a:srgbClr val="7C8DB5"/>
                </a:solidFill>
                <a:latin typeface="Calibri"/>
              </a:defRPr>
            </a:pPr>
            <a:r>
              <a:t>Mean flux: 213.2 W/m² (preliminary, fine-grid)</a:t>
            </a:r>
          </a:p>
        </p:txBody>
      </p:sp>
      <p:sp>
        <p:nvSpPr>
          <p:cNvPr id="10" name="Rounded Rectangle 9"/>
          <p:cNvSpPr/>
          <p:nvPr/>
        </p:nvSpPr>
        <p:spPr>
          <a:xfrm>
            <a:off x="7498079" y="2788920"/>
            <a:ext cx="4114800" cy="128016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0" y="2880360"/>
            <a:ext cx="3749039" cy="1097280"/>
          </a:xfrm>
          <a:prstGeom prst="rect">
            <a:avLst/>
          </a:prstGeom>
          <a:noFill/>
        </p:spPr>
        <p:txBody>
          <a:bodyPr wrap="square" lIns="0" tIns="0">
            <a:spAutoFit/>
          </a:bodyPr>
          <a:lstStyle/>
          <a:p>
            <a:pPr>
              <a:defRPr sz="3600" b="1">
                <a:solidFill>
                  <a:srgbClr val="23B5D3"/>
                </a:solidFill>
                <a:latin typeface="Cambria"/>
              </a:defRPr>
            </a:pPr>
            <a:r>
              <a:t>21.6%</a:t>
            </a:r>
          </a:p>
          <a:p>
            <a:pPr>
              <a:defRPr sz="1300" b="1">
                <a:solidFill>
                  <a:srgbClr val="0B1426"/>
                </a:solidFill>
                <a:latin typeface="Calibri"/>
              </a:defRPr>
            </a:pPr>
            <a:r>
              <a:t>Trailing-Edge Radiative Load</a:t>
            </a:r>
          </a:p>
          <a:p>
            <a:pPr>
              <a:defRPr sz="1100">
                <a:solidFill>
                  <a:srgbClr val="7C8DB5"/>
                </a:solidFill>
                <a:latin typeface="Calibri"/>
              </a:defRPr>
            </a:pPr>
            <a:r>
              <a:t>Trailing flux: 215.6 W/m² at x = 1.0 m</a:t>
            </a:r>
          </a:p>
        </p:txBody>
      </p:sp>
      <p:sp>
        <p:nvSpPr>
          <p:cNvPr id="12" name="TextBox 11"/>
          <p:cNvSpPr txBox="1"/>
          <p:nvPr/>
        </p:nvSpPr>
        <p:spPr>
          <a:xfrm>
            <a:off x="7498079" y="4251960"/>
            <a:ext cx="4114800" cy="1828800"/>
          </a:xfrm>
          <a:prstGeom prst="rect">
            <a:avLst/>
          </a:prstGeom>
          <a:noFill/>
        </p:spPr>
        <p:txBody>
          <a:bodyPr wrap="square" lIns="0" tIns="0">
            <a:spAutoFit/>
          </a:bodyPr>
          <a:lstStyle/>
          <a:p>
            <a:pPr>
              <a:spcAft>
                <a:spcPts val="1200"/>
              </a:spcAft>
              <a:defRPr sz="1300">
                <a:solidFill>
                  <a:srgbClr val="0B1426"/>
                </a:solidFill>
                <a:latin typeface="Calibri"/>
              </a:defRPr>
            </a:pPr>
            <a:r>
              <a:t>•  Surface radiation relieves over one-fifth of the total heat dissipation load.</a:t>
            </a:r>
          </a:p>
          <a:p>
            <a:pPr>
              <a:spcAft>
                <a:spcPts val="1200"/>
              </a:spcAft>
              <a:defRPr sz="1300">
                <a:solidFill>
                  <a:srgbClr val="0B1426"/>
                </a:solidFill>
                <a:latin typeface="Calibri"/>
              </a:defRPr>
            </a:pPr>
            <a:r>
              <a:t>•  Radiative heat flux remains nearly uniform along the entire plate surface.</a:t>
            </a:r>
          </a:p>
          <a:p>
            <a:pPr>
              <a:spcAft>
                <a:spcPts val="1200"/>
              </a:spcAft>
              <a:defRPr sz="1300">
                <a:solidFill>
                  <a:srgbClr val="0B1426"/>
                </a:solidFill>
                <a:latin typeface="Calibri"/>
              </a:defRPr>
            </a:pPr>
            <a:r>
              <a:t>•  Convective flux drops downstream as thermal boundary layer growth increases resistance.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 Placeholder 2"/>
          <p:cNvSpPr>
            <a:spLocks noGrp="1"/>
          </p:cNvSpPr>
          <p:nvPr>
            <p:ph type="body" idx="101"/>
          </p:nvPr>
        </p:nvSpPr>
        <p:spPr/>
        <p:txBody>
          <a:bodyPr/>
          <a:lstStyle/>
          <a:p/>
        </p:txBody>
      </p:sp>
      <p:sp>
        <p:nvSpPr>
          <p:cNvPr id="4" name="TextBox 3"/>
          <p:cNvSpPr txBox="1"/>
          <p:nvPr/>
        </p:nvSpPr>
        <p:spPr>
          <a:xfrm>
            <a:off x="731520" y="365760"/>
            <a:ext cx="10698480" cy="365760"/>
          </a:xfrm>
          <a:prstGeom prst="rect">
            <a:avLst/>
          </a:prstGeom>
          <a:noFill/>
        </p:spPr>
        <p:txBody>
          <a:bodyPr wrap="none" lIns="0" tIns="0">
            <a:spAutoFit/>
          </a:bodyPr>
          <a:lstStyle/>
          <a:p>
            <a:pPr>
              <a:defRPr sz="1200" b="1">
                <a:solidFill>
                  <a:srgbClr val="23B5D3"/>
                </a:solidFill>
                <a:latin typeface="Calibri"/>
              </a:defRPr>
            </a:pPr>
            <a:r>
              <a:t>PROJECT CONCLUSION &amp; ACADEMIC DOSSIER  •  BOUNDARY LAYER THEORY</a:t>
            </a:r>
          </a:p>
        </p:txBody>
      </p:sp>
      <p:sp>
        <p:nvSpPr>
          <p:cNvPr id="5" name="TextBox 4"/>
          <p:cNvSpPr txBox="1"/>
          <p:nvPr/>
        </p:nvSpPr>
        <p:spPr>
          <a:xfrm>
            <a:off x="731520" y="731520"/>
            <a:ext cx="10698480" cy="914400"/>
          </a:xfrm>
          <a:prstGeom prst="rect">
            <a:avLst/>
          </a:prstGeom>
          <a:noFill/>
        </p:spPr>
        <p:txBody>
          <a:bodyPr wrap="square" lIns="0" tIns="0">
            <a:spAutoFit/>
          </a:bodyPr>
          <a:lstStyle/>
          <a:p>
            <a:pPr>
              <a:defRPr sz="3000" b="1">
                <a:solidFill>
                  <a:srgbClr val="FFFFFF"/>
                </a:solidFill>
                <a:latin typeface="Cambria"/>
              </a:defRPr>
            </a:pPr>
            <a:r>
              <a:t>Coupled Surface Radiation Is Critical for Accurate Boundary Layer CFD</a:t>
            </a:r>
          </a:p>
        </p:txBody>
      </p:sp>
      <p:sp>
        <p:nvSpPr>
          <p:cNvPr id="6" name="TextBox 5"/>
          <p:cNvSpPr txBox="1"/>
          <p:nvPr/>
        </p:nvSpPr>
        <p:spPr>
          <a:xfrm>
            <a:off x="731520" y="1645920"/>
            <a:ext cx="10698480" cy="502920"/>
          </a:xfrm>
          <a:prstGeom prst="rect">
            <a:avLst/>
          </a:prstGeom>
          <a:noFill/>
        </p:spPr>
        <p:txBody>
          <a:bodyPr wrap="square" lIns="0" tIns="0">
            <a:spAutoFit/>
          </a:bodyPr>
          <a:lstStyle/>
          <a:p>
            <a:pPr>
              <a:defRPr sz="1500">
                <a:solidFill>
                  <a:srgbClr val="EEF2F7"/>
                </a:solidFill>
                <a:latin typeface="Calibri"/>
              </a:defRPr>
            </a:pPr>
            <a:r>
              <a:t>Objective Achieved: Successfully incorporated surface radiation and quantified its thermal boundary layer impact.</a:t>
            </a:r>
          </a:p>
        </p:txBody>
      </p:sp>
      <p:sp>
        <p:nvSpPr>
          <p:cNvPr id="7" name="Rounded Rectangle 6"/>
          <p:cNvSpPr/>
          <p:nvPr/>
        </p:nvSpPr>
        <p:spPr>
          <a:xfrm>
            <a:off x="731520" y="2331720"/>
            <a:ext cx="5120640" cy="3657600"/>
          </a:xfrm>
          <a:prstGeom prst="roundRect">
            <a:avLst/>
          </a:prstGeom>
          <a:solidFill>
            <a:srgbClr val="162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514600"/>
            <a:ext cx="4572000" cy="3291840"/>
          </a:xfrm>
          <a:prstGeom prst="rect">
            <a:avLst/>
          </a:prstGeom>
          <a:noFill/>
        </p:spPr>
        <p:txBody>
          <a:bodyPr wrap="square" lIns="0" tIns="0">
            <a:spAutoFit/>
          </a:bodyPr>
          <a:lstStyle/>
          <a:p>
            <a:pPr>
              <a:spcAft>
                <a:spcPts val="800"/>
              </a:spcAft>
              <a:defRPr sz="1700" b="1">
                <a:solidFill>
                  <a:srgbClr val="FF7A1A"/>
                </a:solidFill>
                <a:latin typeface="Cambria"/>
              </a:defRPr>
            </a:pPr>
            <a:r>
              <a:t>Key Findings &amp; Numerical Insights</a:t>
            </a:r>
          </a:p>
          <a:p>
            <a:pPr>
              <a:defRPr sz="1300" b="1">
                <a:solidFill>
                  <a:srgbClr val="FFFFFF"/>
                </a:solidFill>
                <a:latin typeface="Calibri"/>
              </a:defRPr>
            </a:pPr>
            <a:r>
              <a:t>1. Surface Radiation Impact:</a:t>
            </a:r>
          </a:p>
          <a:p>
            <a:pPr>
              <a:spcAft>
                <a:spcPts val="600"/>
              </a:spcAft>
              <a:defRPr sz="1100">
                <a:solidFill>
                  <a:srgbClr val="EEF2F7"/>
                </a:solidFill>
                <a:latin typeface="Calibri"/>
              </a:defRPr>
            </a:pPr>
            <a:r>
              <a:t>Relieves 21.56% of total heat flux and cools peak wall by 6.98 K (336.70 K vs 343.68 K).</a:t>
            </a:r>
          </a:p>
          <a:p>
            <a:pPr>
              <a:defRPr sz="1300" b="1">
                <a:solidFill>
                  <a:srgbClr val="23B5D3"/>
                </a:solidFill>
                <a:latin typeface="Calibri"/>
              </a:defRPr>
            </a:pPr>
            <a:r>
              <a:t>2. Grid Sensitivity Disclosed:</a:t>
            </a:r>
          </a:p>
          <a:p>
            <a:pPr>
              <a:spcAft>
                <a:spcPts val="600"/>
              </a:spcAft>
              <a:defRPr sz="1100">
                <a:solidFill>
                  <a:srgbClr val="EEF2F7"/>
                </a:solidFill>
                <a:latin typeface="Calibri"/>
              </a:defRPr>
            </a:pPr>
            <a:r>
              <a:t>Coarse (16k) overpredicts wall rise (394.9 K); fine grid (64k) resolves sublayer gradient.</a:t>
            </a:r>
          </a:p>
          <a:p>
            <a:pPr>
              <a:defRPr sz="1300" b="1">
                <a:solidFill>
                  <a:srgbClr val="FFC24B"/>
                </a:solidFill>
                <a:latin typeface="Calibri"/>
              </a:defRPr>
            </a:pPr>
            <a:r>
              <a:t>3. Future Scope &amp; Refinement:</a:t>
            </a:r>
          </a:p>
          <a:p>
            <a:pPr>
              <a:defRPr sz="1100">
                <a:solidFill>
                  <a:srgbClr val="EEF2F7"/>
                </a:solidFill>
                <a:latin typeface="Calibri"/>
              </a:defRPr>
            </a:pPr>
            <a:r>
              <a:t>Execute 3rd Richardson mesh for ASME GCI and incorporate variable air properties.</a:t>
            </a:r>
          </a:p>
        </p:txBody>
      </p:sp>
      <p:sp>
        <p:nvSpPr>
          <p:cNvPr id="9" name="Rounded Rectangle 8"/>
          <p:cNvSpPr/>
          <p:nvPr/>
        </p:nvSpPr>
        <p:spPr>
          <a:xfrm>
            <a:off x="6126480" y="2331720"/>
            <a:ext cx="5303520" cy="3657600"/>
          </a:xfrm>
          <a:prstGeom prst="roundRect">
            <a:avLst/>
          </a:prstGeom>
          <a:solidFill>
            <a:srgbClr val="162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2514600"/>
            <a:ext cx="4937760" cy="3291840"/>
          </a:xfrm>
          <a:prstGeom prst="rect">
            <a:avLst/>
          </a:prstGeom>
          <a:noFill/>
        </p:spPr>
        <p:txBody>
          <a:bodyPr wrap="square" lIns="0" tIns="0">
            <a:spAutoFit/>
          </a:bodyPr>
          <a:lstStyle/>
          <a:p>
            <a:pPr>
              <a:spcAft>
                <a:spcPts val="800"/>
              </a:spcAft>
              <a:defRPr sz="1700" b="1">
                <a:solidFill>
                  <a:srgbClr val="FFC24B"/>
                </a:solidFill>
                <a:latin typeface="Cambria"/>
              </a:defRPr>
            </a:pPr>
            <a:r>
              <a:t>Student Credentials &amp; References</a:t>
            </a:r>
          </a:p>
          <a:p>
            <a:pPr>
              <a:defRPr sz="2200" b="1">
                <a:solidFill>
                  <a:srgbClr val="FFFFFF"/>
                </a:solidFill>
                <a:latin typeface="Cambria"/>
              </a:defRPr>
            </a:pPr>
            <a:r>
              <a:t>JERSAM LITHIN L</a:t>
            </a:r>
          </a:p>
          <a:p>
            <a:pPr>
              <a:defRPr sz="1300" b="1">
                <a:solidFill>
                  <a:srgbClr val="23B5D3"/>
                </a:solidFill>
                <a:latin typeface="Calibri"/>
              </a:defRPr>
            </a:pPr>
            <a:r>
              <a:t>Register No: URK24AE1026</a:t>
            </a:r>
          </a:p>
          <a:p>
            <a:pPr>
              <a:defRPr sz="1200">
                <a:solidFill>
                  <a:srgbClr val="EEF2F7"/>
                </a:solidFill>
                <a:latin typeface="Calibri"/>
              </a:defRPr>
            </a:pPr>
            <a:r>
              <a:t>3rd Year B.Tech, Aerospace Engineering  •  Karunya Institute of Tech</a:t>
            </a:r>
          </a:p>
          <a:p>
            <a:pPr>
              <a:spcAft>
                <a:spcPts val="800"/>
              </a:spcAft>
              <a:defRPr sz="1200" b="1">
                <a:solidFill>
                  <a:srgbClr val="FF7A1A"/>
                </a:solidFill>
                <a:latin typeface="Calibri"/>
              </a:defRPr>
            </a:pPr>
            <a:r>
              <a:t>Subject: Boundary Layer Theory</a:t>
            </a:r>
          </a:p>
          <a:p>
            <a:pPr>
              <a:defRPr sz="1100" b="1">
                <a:solidFill>
                  <a:srgbClr val="7C8DB5"/>
                </a:solidFill>
                <a:latin typeface="Calibri"/>
              </a:defRPr>
            </a:pPr>
            <a:r>
              <a:t>Key Formal References:</a:t>
            </a:r>
          </a:p>
          <a:p>
            <a:pPr>
              <a:spcAft>
                <a:spcPts val="200"/>
              </a:spcAft>
              <a:defRPr sz="1000">
                <a:solidFill>
                  <a:srgbClr val="EEF2F7"/>
                </a:solidFill>
                <a:latin typeface="Calibri"/>
              </a:defRPr>
            </a:pPr>
            <a:r>
              <a:t>1. Blasius, H. (1908). Grenzschichten in Flüssigkeiten mit kleiner Reibung.</a:t>
            </a:r>
          </a:p>
          <a:p>
            <a:pPr>
              <a:spcAft>
                <a:spcPts val="200"/>
              </a:spcAft>
              <a:defRPr sz="1000">
                <a:solidFill>
                  <a:srgbClr val="EEF2F7"/>
                </a:solidFill>
                <a:latin typeface="Calibri"/>
              </a:defRPr>
            </a:pPr>
            <a:r>
              <a:t>2. Pohlhausen, E. (1921). Der Wärmeaustausch zwischen festen Körpern.</a:t>
            </a:r>
          </a:p>
          <a:p>
            <a:pPr>
              <a:spcAft>
                <a:spcPts val="200"/>
              </a:spcAft>
              <a:defRPr sz="1000">
                <a:solidFill>
                  <a:srgbClr val="EEF2F7"/>
                </a:solidFill>
                <a:latin typeface="Calibri"/>
              </a:defRPr>
            </a:pPr>
            <a:r>
              <a:t>3. Incropera et al. (2007). Fundamentals of Heat and Mass Transfer. Wiley.</a:t>
            </a:r>
          </a:p>
          <a:p>
            <a:pPr>
              <a:spcAft>
                <a:spcPts val="200"/>
              </a:spcAft>
              <a:defRPr sz="1000">
                <a:solidFill>
                  <a:srgbClr val="EEF2F7"/>
                </a:solidFill>
                <a:latin typeface="Calibri"/>
              </a:defRPr>
            </a:pPr>
            <a:r>
              <a:t>4. Schlichting, H., &amp; Gersten, K. (2017). Boundary-Layer Theory. 9th ed.</a:t>
            </a:r>
          </a:p>
        </p:txBody>
      </p:sp>
      <p:sp>
        <p:nvSpPr>
          <p:cNvPr id="11" name="TextBox 10"/>
          <p:cNvSpPr txBox="1"/>
          <p:nvPr/>
        </p:nvSpPr>
        <p:spPr>
          <a:xfrm>
            <a:off x="731520" y="6217920"/>
            <a:ext cx="10698480" cy="365760"/>
          </a:xfrm>
          <a:prstGeom prst="rect">
            <a:avLst/>
          </a:prstGeom>
          <a:noFill/>
        </p:spPr>
        <p:txBody>
          <a:bodyPr wrap="none" lIns="0" tIns="0">
            <a:spAutoFit/>
          </a:bodyPr>
          <a:lstStyle/>
          <a:p>
            <a:pPr>
              <a:defRPr sz="1200">
                <a:solidFill>
                  <a:srgbClr val="7C8DB5"/>
                </a:solidFill>
                <a:latin typeface="Calibri"/>
              </a:defRPr>
            </a:pPr>
            <a:r>
              <a:t>github.com/Jersam-l/flat-plate-with-radiation-cfd  •  Jersam Lithin L (URK24AE1026)  •  Karunya Institute of Technology and Sciences</a:t>
            </a:r>
          </a:p>
        </p:txBody>
      </p:sp>
    </p:spTree>
  </p:cSld>
  <p:clrMapOvr>
    <a:masterClrMapping/>
  </p:clrMapOvr>
</p:sld>
</file>

<file path=ppt/theme/theme1.xml><?xml version="1.0" encoding="utf-8"?>
<a:theme xmlns:a="http://schemas.openxmlformats.org/drawingml/2006/main" name="Thermal Navy">
  <a:themeElements>
    <a:clrScheme name="Thermal Navy">
      <a:dk1>
        <a:srgbClr val="0B1426"/>
      </a:dk1>
      <a:lt1>
        <a:srgbClr val="FFFFFF"/>
      </a:lt1>
      <a:dk2>
        <a:srgbClr val="16264A"/>
      </a:dk2>
      <a:lt2>
        <a:srgbClr val="EEF2F7"/>
      </a:lt2>
      <a:accent1>
        <a:srgbClr val="FF7A1A"/>
      </a:accent1>
      <a:accent2>
        <a:srgbClr val="23B5D3"/>
      </a:accent2>
      <a:accent3>
        <a:srgbClr val="FFC24B"/>
      </a:accent3>
      <a:accent4>
        <a:srgbClr val="7C8DB5"/>
      </a:accent4>
      <a:accent5>
        <a:srgbClr val="E5484D"/>
      </a:accent5>
      <a:accent6>
        <a:srgbClr val="3DD598"/>
      </a:accent6>
      <a:hlink>
        <a:srgbClr val="23B5D3"/>
      </a:hlink>
      <a:folHlink>
        <a:srgbClr val="7C8DB5"/>
      </a:folHlink>
    </a:clrScheme>
    <a:fontScheme name="Thermal Nav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Flat-Plate CFD with Surface Radiation - Pitch Template</dc:title>
  <dc:subject>PptxGenJS Presentation</dc:subject>
  <dc:creator>[Presenter name]</dc:creator>
  <cp:lastModifiedBy>[Presenter name]</cp:lastModifiedBy>
  <cp:revision>1</cp:revision>
  <dcterms:created xsi:type="dcterms:W3CDTF">2026-10-24T04:42:54Z</dcterms:created>
  <dcterms:modified xsi:type="dcterms:W3CDTF">2026-10-24T04:42:54Z</dcterms:modified>
</cp:coreProperties>
</file>