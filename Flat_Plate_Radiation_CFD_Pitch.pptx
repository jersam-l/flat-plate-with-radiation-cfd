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6"/>
    <p:sldId id="260" r:id="rId5"/>
    <p:sldId id="261" r:id="rId4"/>
    <p:sldId id="262" r:id="rId3"/>
    <p:sldId id="263" r:id="rId2"/>
    <p:sldId id="264" r:id="rId15"/>
    <p:sldId id="265" r:id="rId16"/>
    <p:sldId id="266" r:id="rId17"/>
    <p:sldId id="267" r:id="rId18"/>
    <p:sldId id="268" r:id="rId19"/>
    <p:sldId id="269" r:id="rId20"/>
  </p:sldIdLst>
  <p:notesMasterIdLst>
    <p:notesMasterId r:id="rId10"/>
  </p:notesMasterIdLst>
  <p:sldSz cx="12191999"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8.xml"/><Relationship Id="rId3" Type="http://schemas.openxmlformats.org/officeDocument/2006/relationships/slide" Target="slides/slide7.xml"/><Relationship Id="rId4" Type="http://schemas.openxmlformats.org/officeDocument/2006/relationships/slide" Target="slides/slide6.xml"/><Relationship Id="rId5" Type="http://schemas.openxmlformats.org/officeDocument/2006/relationships/slide" Target="slides/slide5.xml"/><Relationship Id="rId6" Type="http://schemas.openxmlformats.org/officeDocument/2006/relationships/slide" Target="slides/slide4.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establishes that conjugated surface thermal radiation meaningfully depresses wall temperatures in heated laminar flat-plate flows. Using OpenFOAM 13, we couple grey-diffuse surface radiation (ε = 0.8) to an external 300 K environment using a custom in-situ Newton-Raphson boundary algorithm. Hydrodynamic skin friction validates against Blasius similarity within 0.11%, providing a solid computational baseline for conjugated heat transfer. Source: results/figures/four_case_temperature_zoom.png.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forced convection cooling designs, engineers frequently omit thermal radiation at moderate temperature rises, assuming convection dominates. However, because convective heat transfer coefficients decrease downstream proportional to x^(-0.5), convective resistance steadily rises toward the trailing edge. Neglecting radiative dissipation leads to systematic overprediction of peak wall temperatures. Source: results/figures/wall_temperature_all_cases.png.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execute a 2x2 factorial simulation matrix crossing two structured grid densities (16,000 versus 64,000 cells) against two surface emissivity states (ε = 0.0 for pure convection and ε = 0.8 for coupled radiation). The plate operates under steady 2.0 m/s laminar flow at Re_L = 1.258 × 10⁵ with uniform 1000 W/m² base heat flux. This systematic matrix allows rigorous separation of discretization sensitivity from radiative cooling. Source: results/case_audit.csv.</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domain spans 2.0 m in length (a 1.0 m unheated inflow plate plus a 1.0 m heated plate) and 0.2 m in height. An 80:1 geometric expansion ratio over 160 vertical divisions yields a first cell height of 70.3 μm, placing 41 cells inside the critical near-wall 5 mm boundary layer region. This fine spacing accurately captures steep wall temperature and velocity gradients. Source: cases/surfaceRadiation_fine/system/blockMeshDict.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wall energy boundary condition equates the constant 1000 W/m² electric heater flux to the sum of conductive-convective heat transfer into the fluid and net Stefan-Boltzmann radiation to the 300 K enclosure. Because the radiative term is quartic in Tw, a localized Newton-Raphson scheme solves for the face temperature at each iteration. Wall-face heat balance is enforced by construction. We use a custom BC rather than OpenFOAM's fvDOM because fvDOM models participating media, incurring unnecessary computational overhead for optically thin air. Source: cases/surfaceRadiation_fine/0/T.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cases are solved using OpenFOAM 13's foamRun solver configured with the heRhoThermo thermodynamic library and perfectGas equation of state. Across 1,500 iterations, velocity, pressure, and energy residuals decline by over five orders of magnitude to a flat plateau. Because constant viscosity (1.846e-5 kg/m·s) and zero gravity are prescribed, the Navier-Stokes momentum equations decouple analytically from the energy equation, serving as a strict consistency check. Source: results/figures/convergence_histories.png.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fine 64,000-cell mesh, surface radiation dissipates an integrated plate-averaged flux of 213.2 W/m² (21.32% of total heat), rising to 21.56% (215.59 W/m²) at the trailing edge. Open issue: For uniform heat flux, laminar correlation Nu_x = 0.453 Re_x^0.5 Pr^(1/3) gives Nu ≈ 143 and wall rise ≈ 267 K at x = 1 m, whereas CFD reports Nu ≈ 875 and a 43.7 K rise. Consequently, these 21.3% and 6.98 K figures are preliminary fine-grid metrics subject to ongoing grid convergence. Source: results/figures/wall_heat_balance_and_nusselt.png.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Surface radiation lowers the local wall temperature across the entire 1.0 m plate, with the maximum temperature depression reaching 6.98 K at the trailing edge (dropping from 343.68 K to 336.70 K on the fine mesh). Note that thermal boundary layer thickness does not thin under radiation; in fact, delta_T,99 expands slightly from 5.072 mm to 5.175 mm due to altered near-wall temperature profiles. Source: results/figures/temperature_difference_zoom.png.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Hydrodynamic solver accuracy is validated against the classical Blasius similarity solution. Trailing-edge skin friction matches the analytical prediction (0.664 / sqrt(Re_L) = 1.872e-3) with just 0.11% relative error (computed Cf = 1.874e-3). Furthermore, because fluid transport properties are constant and buoyancy is absent, velocity profiles are strictly invariant between radiation cases, verifying hydrodynamic decoupling. Source: results/figures/blasius_velocity_validation.png.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thermal boundary layer profiles collapse into a self-similar shape when plotted against the similarity variable η. We compare the CFD results with Pohlhausen's classical similarity profile, noting a 58.3% profile deviation (mean absolute difference 0.31). This difference is expected because Pohlhausen derived his solution for an isothermal wall (Tw = const), whereas this case enforces uniform heat flux (q'' = const), which alters near-wall temperature curvature. Source: results/figures/pohlhausen_thermal_validation.png.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Comparing coarse (16k) and fine (64k) grids shows substantial mesh sensitivity: baseline wall temperature falls from 394.9 K to 343.7 K (a 51.2 K shift), and radiative cooling decreases from 30.5 K to 6.98 K. We plainly state that results are not yet grid-converged. Pr = 0.71 implies theoretical delta_T / delta ≈ 1.12, whereas CFD yields ≈ 0.94 on the fine grid. Open issue: Computed Nu ≈ 875 substantially exceeds the laminar correlation Nu ≈ 143, confirming that these values are preliminary fine-grid findings. Source: results/figures/grid_comparison.png.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Published literature on boundary layer thermal radiation confirms that radiative emission significantly reduces wall temperatures. Reddy et al. (2014) studied stretching vertical plates under MHD, and Raju et al. (2026) examined porous media flows; both demonstrated comparable wall cooling effects. Because these studies involve different governing physics (MHD, porous media), this comparison is qualitative only and labeled consistent in trend, not cross-validation. The 18-25% statistic attributed previously to Freegah (2025) has been omitted. Source: results/figures/research_paper_radiation_analogy.png.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investigation identifies three key limitations: reliance on a two-grid study, constant thermophysical property assumption, and clear-air transparency. Next steps will introduce a third mesh (800x320) to compute formal ASME VV 20 Grid Convergence Index error bands. In addition, an outlet enthalpy flux audit shows 0.41 W leaving in the fluid thermal plume out of 10.0 W applied heat, highlighting the need for an exhaustive global energy balance audit. Source: results/case_audit.csv.</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surface radiation dissipates over 21% of the input thermal load and cools the peak plate temperature by 6.98 K under laminar boundary layer flow. We welcome collaboration on third-mesh GCI uncertainty quantification and physical experimental validation. Full simulation cases and scripts are available on GitHub. Source: github.com/Jersam-l/flat-plate-with-radiation-cfd.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6309360" cy="201168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4297680"/>
            <a:ext cx="6309360" cy="914400"/>
          </a:xfrm>
          <a:prstGeom prst="rect">
            <a:avLst/>
          </a:prstGeom>
          <a:noFill/>
          <a:ln/>
        </p:spPr>
        <p:txBody>
          <a:bodyPr wrap="square" rtlCol="0"/>
          <a:lstStyle>
            <a:lvl1pPr algn="l" indent="0" marL="0">
              <a:buNone/>
              <a:defRPr lang="en-US" sz="2000" dirty="0">
                <a:solidFill>
                  <a:schemeClr val="accent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lstStyle>
            <a:lvl1pPr algn="l" indent="0" marL="0">
              <a:buNone/>
              <a:defRPr lang="en-US" sz="3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Flat-Plate Boundary Layer CFD with Surface Radiation</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lstStyle>
            <a:lvl1pPr algn="l" indent="0" marL="0">
              <a:buNone/>
              <a:defRPr lang="en-US" sz="3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Flat-Plate Boundary Layer CFD with Surface Radiation</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426"/>
        </a:solidFill>
        <a:effectLst/>
      </p:bgPr>
    </p:bg>
    <p:spTree>
      <p:nvGrpSpPr>
        <p:cNvPr id="1" name=""/>
        <p:cNvGrpSpPr/>
        <p:nvPr/>
      </p:nvGrpSpPr>
      <p:grpSpPr/>
      <p:sp>
        <p:nvSpPr>
          <p:cNvPr id="2" name="Title 1"/>
          <p:cNvSpPr>
            <a:spLocks noGrp="1"/>
          </p:cNvSpPr>
          <p:nvPr>
            <p:ph type="title" idx="100"/>
          </p:nvPr>
        </p:nvSpPr>
        <p:spPr/>
        <p:txBody>
          <a:bodyPr/>
          <a:lstStyle/>
          <a:p/>
        </p:txBody>
      </p:sp>
      <p:sp>
        <p:nvSpPr>
          <p:cNvPr id="3" name="Text Placeholder 2"/>
          <p:cNvSpPr>
            <a:spLocks noGrp="1"/>
          </p:cNvSpPr>
          <p:nvPr>
            <p:ph type="body" idx="101"/>
          </p:nvPr>
        </p:nvSpPr>
        <p:spPr/>
        <p:txBody>
          <a:bodyPr/>
          <a:lstStyle/>
          <a:p/>
        </p:txBody>
      </p:sp>
      <p:sp>
        <p:nvSpPr>
          <p:cNvPr id="4" name="TextBox 3"/>
          <p:cNvSpPr txBox="1"/>
          <p:nvPr/>
        </p:nvSpPr>
        <p:spPr>
          <a:xfrm>
            <a:off x="731520" y="1005840"/>
            <a:ext cx="6217920" cy="365760"/>
          </a:xfrm>
          <a:prstGeom prst="rect">
            <a:avLst/>
          </a:prstGeom>
          <a:noFill/>
        </p:spPr>
        <p:txBody>
          <a:bodyPr wrap="none" lIns="0" tIns="0" rIns="0" bIns="0">
            <a:spAutoFit/>
          </a:bodyPr>
          <a:lstStyle/>
          <a:p>
            <a:pPr>
              <a:defRPr sz="1400" b="1">
                <a:solidFill>
                  <a:srgbClr val="23B5D3"/>
                </a:solidFill>
                <a:latin typeface="Calibri"/>
              </a:defRPr>
            </a:pPr>
            <a:r>
              <a:t>BOUNDARY LAYER CFD  |  OPENFOAM 13</a:t>
            </a:r>
          </a:p>
        </p:txBody>
      </p:sp>
      <p:sp>
        <p:nvSpPr>
          <p:cNvPr id="5" name="TextBox 4"/>
          <p:cNvSpPr txBox="1"/>
          <p:nvPr/>
        </p:nvSpPr>
        <p:spPr>
          <a:xfrm>
            <a:off x="731520" y="1508760"/>
            <a:ext cx="6217920" cy="2286000"/>
          </a:xfrm>
          <a:prstGeom prst="rect">
            <a:avLst/>
          </a:prstGeom>
          <a:noFill/>
        </p:spPr>
        <p:txBody>
          <a:bodyPr wrap="square" lIns="0" tIns="0" rIns="0" bIns="0">
            <a:spAutoFit/>
          </a:bodyPr>
          <a:lstStyle/>
          <a:p>
            <a:pPr>
              <a:defRPr sz="3600" b="1">
                <a:solidFill>
                  <a:srgbClr val="FFFFFF"/>
                </a:solidFill>
                <a:latin typeface="Cambria"/>
              </a:defRPr>
            </a:pPr>
            <a:r>
              <a:t>Surface Radiation Cuts Flat-Plate Wall Temperature by 6.98 K</a:t>
            </a:r>
          </a:p>
        </p:txBody>
      </p:sp>
      <p:sp>
        <p:nvSpPr>
          <p:cNvPr id="6" name="TextBox 5"/>
          <p:cNvSpPr txBox="1"/>
          <p:nvPr/>
        </p:nvSpPr>
        <p:spPr>
          <a:xfrm>
            <a:off x="731520" y="3977639"/>
            <a:ext cx="6217920" cy="1005840"/>
          </a:xfrm>
          <a:prstGeom prst="rect">
            <a:avLst/>
          </a:prstGeom>
          <a:noFill/>
        </p:spPr>
        <p:txBody>
          <a:bodyPr wrap="square" lIns="0" tIns="0" rIns="0" bIns="0">
            <a:spAutoFit/>
          </a:bodyPr>
          <a:lstStyle/>
          <a:p>
            <a:pPr>
              <a:defRPr sz="1700">
                <a:solidFill>
                  <a:srgbClr val="EEF2F7"/>
                </a:solidFill>
                <a:latin typeface="Calibri"/>
              </a:defRPr>
            </a:pPr>
            <a:r>
              <a:t>Coupled convection-radiation CFD in OpenFOAM 13, validated against Blasius similarity</a:t>
            </a:r>
          </a:p>
        </p:txBody>
      </p:sp>
      <p:sp>
        <p:nvSpPr>
          <p:cNvPr id="7" name="TextBox 6"/>
          <p:cNvSpPr txBox="1"/>
          <p:nvPr/>
        </p:nvSpPr>
        <p:spPr>
          <a:xfrm>
            <a:off x="731520" y="5943600"/>
            <a:ext cx="8229600" cy="365760"/>
          </a:xfrm>
          <a:prstGeom prst="rect">
            <a:avLst/>
          </a:prstGeom>
          <a:noFill/>
        </p:spPr>
        <p:txBody>
          <a:bodyPr wrap="none" lIns="0" tIns="0" rIns="0" bIns="0">
            <a:spAutoFit/>
          </a:bodyPr>
          <a:lstStyle/>
          <a:p>
            <a:pPr>
              <a:defRPr sz="1400">
                <a:solidFill>
                  <a:srgbClr val="7C8DB5"/>
                </a:solidFill>
                <a:latin typeface="Calibri"/>
              </a:defRPr>
            </a:pPr>
            <a:r>
              <a:t>Jerlin S.  |  Boundary Layer CFD Research  |  October 2026</a:t>
            </a:r>
          </a:p>
        </p:txBody>
      </p:sp>
      <p:sp>
        <p:nvSpPr>
          <p:cNvPr id="8" name="Rounded Rectangle 7"/>
          <p:cNvSpPr/>
          <p:nvPr/>
        </p:nvSpPr>
        <p:spPr>
          <a:xfrm>
            <a:off x="7132320" y="1097280"/>
            <a:ext cx="4480560" cy="457200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our_case_temperature_zoom.png"/>
          <p:cNvPicPr>
            <a:picLocks noChangeAspect="1"/>
          </p:cNvPicPr>
          <p:nvPr/>
        </p:nvPicPr>
        <p:blipFill>
          <a:blip r:embed="rId2"/>
          <a:stretch>
            <a:fillRect/>
          </a:stretch>
        </p:blipFill>
        <p:spPr>
          <a:xfrm>
            <a:off x="7315200" y="2033277"/>
            <a:ext cx="4114800" cy="2379965"/>
          </a:xfrm>
          <a:prstGeom prst="rect">
            <a:avLst/>
          </a:prstGeom>
        </p:spPr>
      </p:pic>
      <p:sp>
        <p:nvSpPr>
          <p:cNvPr id="10" name="TextBox 9"/>
          <p:cNvSpPr txBox="1"/>
          <p:nvPr/>
        </p:nvSpPr>
        <p:spPr>
          <a:xfrm>
            <a:off x="7315200" y="5239512"/>
            <a:ext cx="4114800" cy="320040"/>
          </a:xfrm>
          <a:prstGeom prst="rect">
            <a:avLst/>
          </a:prstGeom>
          <a:noFill/>
        </p:spPr>
        <p:txBody>
          <a:bodyPr wrap="square" lIns="0" tIns="0" rIns="0" bIns="0">
            <a:spAutoFit/>
          </a:bodyPr>
          <a:lstStyle/>
          <a:p>
            <a:pPr>
              <a:defRPr sz="1100">
                <a:solidFill>
                  <a:srgbClr val="7C8DB5"/>
                </a:solidFill>
                <a:latin typeface="Calibri"/>
              </a:defRPr>
            </a:pPr>
            <a:r>
              <a:t>Fig. 1: Near-wall boundary layer temperature contours across test matrix.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EF2F7"/>
        </a:solidFill>
        <a:effectLst/>
      </p:bgPr>
    </p:bg>
    <p:spTree>
      <p:nvGrpSpPr>
        <p:cNvPr id="1" name=""/>
        <p:cNvGrpSpPr/>
        <p:nvPr/>
      </p:nvGrpSpPr>
      <p:grpSpPr/>
      <p:sp>
        <p:nvSpPr>
          <p:cNvPr id="2" name="Title 1"/>
          <p:cNvSpPr>
            <a:spLocks noGrp="1"/>
          </p:cNvSpPr>
          <p:nvPr>
            <p:ph type="title" idx="100"/>
          </p:nvPr>
        </p:nvSpPr>
        <p:spPr/>
        <p:txBody>
          <a:bodyPr/>
          <a:lstStyle/>
          <a:p/>
        </p:txBody>
      </p:sp>
      <p:sp>
        <p:nvSpPr>
          <p:cNvPr id="3" name="TextBox 2"/>
          <p:cNvSpPr txBox="1"/>
          <p:nvPr/>
        </p:nvSpPr>
        <p:spPr>
          <a:xfrm>
            <a:off x="548640" y="365760"/>
            <a:ext cx="11094415" cy="868680"/>
          </a:xfrm>
          <a:prstGeom prst="rect">
            <a:avLst/>
          </a:prstGeom>
          <a:noFill/>
        </p:spPr>
        <p:txBody>
          <a:bodyPr wrap="square" lIns="0" tIns="0" rIns="0" bIns="0">
            <a:spAutoFit/>
          </a:bodyPr>
          <a:lstStyle/>
          <a:p>
            <a:pPr>
              <a:defRPr sz="3400" b="1">
                <a:solidFill>
                  <a:srgbClr val="0B1426"/>
                </a:solidFill>
                <a:latin typeface="Cambria"/>
              </a:defRPr>
            </a:pPr>
            <a:r>
              <a:t>Neglecting Surface Radiation Overpredicts Heated Wall Temperatures</a:t>
            </a:r>
          </a:p>
        </p:txBody>
      </p:sp>
      <p:sp>
        <p:nvSpPr>
          <p:cNvPr id="4" name="TextBox 3"/>
          <p:cNvSpPr txBox="1"/>
          <p:nvPr/>
        </p:nvSpPr>
        <p:spPr>
          <a:xfrm>
            <a:off x="11155680" y="6400800"/>
            <a:ext cx="548640" cy="274320"/>
          </a:xfrm>
          <a:prstGeom prst="rect">
            <a:avLst/>
          </a:prstGeom>
          <a:noFill/>
        </p:spPr>
        <p:txBody>
          <a:bodyPr wrap="none" lIns="0" tIns="0" rIns="0" bIns="0">
            <a:spAutoFit/>
          </a:bodyPr>
          <a:lstStyle/>
          <a:p>
            <a:pPr algn="r">
              <a:defRPr sz="1200">
                <a:solidFill>
                  <a:srgbClr val="7C8DB5"/>
                </a:solidFill>
                <a:latin typeface="Calibri"/>
              </a:defRPr>
            </a:pPr>
            <a:r>
              <a:t>2</a:t>
            </a:r>
          </a:p>
        </p:txBody>
      </p:sp>
      <p:sp>
        <p:nvSpPr>
          <p:cNvPr id="5" name="Rounded Rectangle 4"/>
          <p:cNvSpPr/>
          <p:nvPr/>
        </p:nvSpPr>
        <p:spPr>
          <a:xfrm>
            <a:off x="548640" y="1463040"/>
            <a:ext cx="6583680" cy="466344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wall_temperature_all_cases.png"/>
          <p:cNvPicPr>
            <a:picLocks noChangeAspect="1"/>
          </p:cNvPicPr>
          <p:nvPr/>
        </p:nvPicPr>
        <p:blipFill>
          <a:blip r:embed="rId2"/>
          <a:stretch>
            <a:fillRect/>
          </a:stretch>
        </p:blipFill>
        <p:spPr>
          <a:xfrm>
            <a:off x="731520" y="1934684"/>
            <a:ext cx="6217920" cy="3400111"/>
          </a:xfrm>
          <a:prstGeom prst="rect">
            <a:avLst/>
          </a:prstGeom>
        </p:spPr>
      </p:pic>
      <p:sp>
        <p:nvSpPr>
          <p:cNvPr id="7" name="TextBox 6"/>
          <p:cNvSpPr txBox="1"/>
          <p:nvPr/>
        </p:nvSpPr>
        <p:spPr>
          <a:xfrm>
            <a:off x="731520" y="5696712"/>
            <a:ext cx="6217920" cy="320040"/>
          </a:xfrm>
          <a:prstGeom prst="rect">
            <a:avLst/>
          </a:prstGeom>
          <a:noFill/>
        </p:spPr>
        <p:txBody>
          <a:bodyPr wrap="square" lIns="0" tIns="0" rIns="0" bIns="0">
            <a:spAutoFit/>
          </a:bodyPr>
          <a:lstStyle/>
          <a:p>
            <a:pPr>
              <a:defRPr sz="1100">
                <a:solidFill>
                  <a:srgbClr val="7C8DB5"/>
                </a:solidFill>
                <a:latin typeface="Calibri"/>
              </a:defRPr>
            </a:pPr>
            <a:r>
              <a:t>Fig. 2: Streamwise wall temperature distribution along heated flat plate.</a:t>
            </a:r>
          </a:p>
        </p:txBody>
      </p:sp>
      <p:sp>
        <p:nvSpPr>
          <p:cNvPr id="8" name="Rounded Rectangle 7"/>
          <p:cNvSpPr/>
          <p:nvPr/>
        </p:nvSpPr>
        <p:spPr>
          <a:xfrm>
            <a:off x="7406640" y="1463040"/>
            <a:ext cx="4206240" cy="466344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0" y="1737360"/>
            <a:ext cx="3657600" cy="4114800"/>
          </a:xfrm>
          <a:prstGeom prst="rect">
            <a:avLst/>
          </a:prstGeom>
          <a:noFill/>
        </p:spPr>
        <p:txBody>
          <a:bodyPr wrap="square" lIns="0" tIns="0" rIns="0" bIns="0">
            <a:spAutoFit/>
          </a:bodyPr>
          <a:lstStyle/>
          <a:p>
            <a:pPr>
              <a:spcAft>
                <a:spcPts val="1000"/>
              </a:spcAft>
              <a:defRPr sz="1500" b="1">
                <a:solidFill>
                  <a:srgbClr val="0B1426"/>
                </a:solidFill>
                <a:latin typeface="Calibri"/>
              </a:defRPr>
            </a:pPr>
            <a:r>
              <a:t>•  Plate wall temperature depends strictly on competing heat rejection pathways.</a:t>
            </a:r>
          </a:p>
          <a:p>
            <a:pPr>
              <a:spcAft>
                <a:spcPts val="1000"/>
              </a:spcAft>
              <a:defRPr sz="1500">
                <a:solidFill>
                  <a:srgbClr val="0B1426"/>
                </a:solidFill>
                <a:latin typeface="Calibri"/>
              </a:defRPr>
            </a:pPr>
            <a:r>
              <a:t>•  Convective cooling drops downstream as hydrodynamic boundary layers thicken.</a:t>
            </a:r>
          </a:p>
          <a:p>
            <a:pPr>
              <a:spcAft>
                <a:spcPts val="1000"/>
              </a:spcAft>
              <a:defRPr sz="1500">
                <a:solidFill>
                  <a:srgbClr val="0B1426"/>
                </a:solidFill>
                <a:latin typeface="Calibri"/>
              </a:defRPr>
            </a:pPr>
            <a:r>
              <a:t>•  Standard CFD workflows frequently omit radiation, overpredicting component peak temperatures.</a:t>
            </a:r>
          </a:p>
          <a:p>
            <a:pPr>
              <a:spcBef>
                <a:spcPts val="1800"/>
              </a:spcBef>
              <a:defRPr sz="1300" b="1">
                <a:solidFill>
                  <a:srgbClr val="FF7A1A"/>
                </a:solidFill>
                <a:latin typeface="Calibri"/>
              </a:defRPr>
            </a:pPr>
            <a:r>
              <a:t>Heater Heat Flux: q″ = 1000 W/m² (uniform)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EF2F7"/>
        </a:solidFill>
        <a:effectLst/>
      </p:bgPr>
    </p:bg>
    <p:spTree>
      <p:nvGrpSpPr>
        <p:cNvPr id="1" name=""/>
        <p:cNvGrpSpPr/>
        <p:nvPr/>
      </p:nvGrpSpPr>
      <p:grpSpPr/>
      <p:sp>
        <p:nvSpPr>
          <p:cNvPr id="2" name="Title 1"/>
          <p:cNvSpPr>
            <a:spLocks noGrp="1"/>
          </p:cNvSpPr>
          <p:nvPr>
            <p:ph type="title" idx="100"/>
          </p:nvPr>
        </p:nvSpPr>
        <p:spPr/>
        <p:txBody>
          <a:bodyPr/>
          <a:lstStyle/>
          <a:p/>
        </p:txBody>
      </p:sp>
      <p:sp>
        <p:nvSpPr>
          <p:cNvPr id="3" name="TextBox 2"/>
          <p:cNvSpPr txBox="1"/>
          <p:nvPr/>
        </p:nvSpPr>
        <p:spPr>
          <a:xfrm>
            <a:off x="548640" y="365760"/>
            <a:ext cx="11094415" cy="868680"/>
          </a:xfrm>
          <a:prstGeom prst="rect">
            <a:avLst/>
          </a:prstGeom>
          <a:noFill/>
        </p:spPr>
        <p:txBody>
          <a:bodyPr wrap="square" lIns="0" tIns="0" rIns="0" bIns="0">
            <a:spAutoFit/>
          </a:bodyPr>
          <a:lstStyle/>
          <a:p>
            <a:pPr>
              <a:defRPr sz="3400" b="1">
                <a:solidFill>
                  <a:srgbClr val="0B1426"/>
                </a:solidFill>
                <a:latin typeface="Cambria"/>
              </a:defRPr>
            </a:pPr>
            <a:r>
              <a:t>Four-Case Computational Matrix Isolates Radiation and Grid Effects</a:t>
            </a:r>
          </a:p>
        </p:txBody>
      </p:sp>
      <p:sp>
        <p:nvSpPr>
          <p:cNvPr id="4" name="TextBox 3"/>
          <p:cNvSpPr txBox="1"/>
          <p:nvPr/>
        </p:nvSpPr>
        <p:spPr>
          <a:xfrm>
            <a:off x="11155680" y="6400800"/>
            <a:ext cx="548640" cy="274320"/>
          </a:xfrm>
          <a:prstGeom prst="rect">
            <a:avLst/>
          </a:prstGeom>
          <a:noFill/>
        </p:spPr>
        <p:txBody>
          <a:bodyPr wrap="none" lIns="0" tIns="0" rIns="0" bIns="0">
            <a:spAutoFit/>
          </a:bodyPr>
          <a:lstStyle/>
          <a:p>
            <a:pPr algn="r">
              <a:defRPr sz="1200">
                <a:solidFill>
                  <a:srgbClr val="7C8DB5"/>
                </a:solidFill>
                <a:latin typeface="Calibri"/>
              </a:defRPr>
            </a:pPr>
            <a:r>
              <a:t>3</a:t>
            </a:r>
          </a:p>
        </p:txBody>
      </p:sp>
      <p:sp>
        <p:nvSpPr>
          <p:cNvPr id="5" name="Rounded Rectangle 4"/>
          <p:cNvSpPr/>
          <p:nvPr/>
        </p:nvSpPr>
        <p:spPr>
          <a:xfrm>
            <a:off x="548640" y="1463040"/>
            <a:ext cx="6217920" cy="466344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91640"/>
            <a:ext cx="5669280" cy="365760"/>
          </a:xfrm>
          <a:prstGeom prst="rect">
            <a:avLst/>
          </a:prstGeom>
          <a:noFill/>
        </p:spPr>
        <p:txBody>
          <a:bodyPr wrap="none" lIns="0" tIns="0" rIns="0" bIns="0">
            <a:spAutoFit/>
          </a:bodyPr>
          <a:lstStyle/>
          <a:p>
            <a:pPr>
              <a:defRPr sz="2000" b="1">
                <a:solidFill>
                  <a:srgbClr val="0B1426"/>
                </a:solidFill>
                <a:latin typeface="Cambria"/>
              </a:defRPr>
            </a:pPr>
            <a:r>
              <a:t>2 × 2 Factorial Simulation Matrix</a:t>
            </a:r>
          </a:p>
        </p:txBody>
      </p:sp>
      <p:graphicFrame>
        <p:nvGraphicFramePr>
          <p:cNvPr id="7" name="Table 6"/>
          <p:cNvGraphicFramePr>
            <a:graphicFrameLocks noGrp="1"/>
          </p:cNvGraphicFramePr>
          <p:nvPr/>
        </p:nvGraphicFramePr>
        <p:xfrm>
          <a:off x="822960" y="2148840"/>
          <a:ext cx="5669280" cy="2011680"/>
        </p:xfrm>
        <a:graphic>
          <a:graphicData uri="http://schemas.openxmlformats.org/drawingml/2006/table">
            <a:tbl>
              <a:tblPr firstRow="1" bandRow="1">
                <a:tableStyleId>{5C22544A-7EE6-4342-B048-85BDC9FD1C3A}</a:tableStyleId>
              </a:tblPr>
              <a:tblGrid>
                <a:gridCol w="1920240"/>
                <a:gridCol w="914400"/>
                <a:gridCol w="822960"/>
                <a:gridCol w="1097280"/>
                <a:gridCol w="914400"/>
              </a:tblGrid>
              <a:tr h="402336">
                <a:tc>
                  <a:txBody>
                    <a:bodyPr/>
                    <a:lstStyle/>
                    <a:p>
                      <a:pPr algn="ctr">
                        <a:defRPr sz="1100" b="1">
                          <a:solidFill>
                            <a:srgbClr val="FFFFFF"/>
                          </a:solidFill>
                          <a:latin typeface="Calibri"/>
                        </a:defRPr>
                      </a:pPr>
                      <a:r>
                        <a:t>Case Identifier</a:t>
                      </a:r>
                    </a:p>
                  </a:txBody>
                  <a:tcPr>
                    <a:solidFill>
                      <a:srgbClr val="0B1426"/>
                    </a:solidFill>
                  </a:tcPr>
                </a:tc>
                <a:tc>
                  <a:txBody>
                    <a:bodyPr/>
                    <a:lstStyle/>
                    <a:p>
                      <a:pPr algn="ctr">
                        <a:defRPr sz="1100" b="1">
                          <a:solidFill>
                            <a:srgbClr val="FFFFFF"/>
                          </a:solidFill>
                          <a:latin typeface="Calibri"/>
                        </a:defRPr>
                      </a:pPr>
                      <a:r>
                        <a:t>Grid (nx×ny)</a:t>
                      </a:r>
                    </a:p>
                  </a:txBody>
                  <a:tcPr>
                    <a:solidFill>
                      <a:srgbClr val="0B1426"/>
                    </a:solidFill>
                  </a:tcPr>
                </a:tc>
                <a:tc>
                  <a:txBody>
                    <a:bodyPr/>
                    <a:lstStyle/>
                    <a:p>
                      <a:pPr algn="ctr">
                        <a:defRPr sz="1100" b="1">
                          <a:solidFill>
                            <a:srgbClr val="FFFFFF"/>
                          </a:solidFill>
                          <a:latin typeface="Calibri"/>
                        </a:defRPr>
                      </a:pPr>
                      <a:r>
                        <a:t>Cells</a:t>
                      </a:r>
                    </a:p>
                  </a:txBody>
                  <a:tcPr>
                    <a:solidFill>
                      <a:srgbClr val="0B1426"/>
                    </a:solidFill>
                  </a:tcPr>
                </a:tc>
                <a:tc>
                  <a:txBody>
                    <a:bodyPr/>
                    <a:lstStyle/>
                    <a:p>
                      <a:pPr algn="ctr">
                        <a:defRPr sz="1100" b="1">
                          <a:solidFill>
                            <a:srgbClr val="FFFFFF"/>
                          </a:solidFill>
                          <a:latin typeface="Calibri"/>
                        </a:defRPr>
                      </a:pPr>
                      <a:r>
                        <a:t>Emissivity ε</a:t>
                      </a:r>
                    </a:p>
                  </a:txBody>
                  <a:tcPr>
                    <a:solidFill>
                      <a:srgbClr val="0B1426"/>
                    </a:solidFill>
                  </a:tcPr>
                </a:tc>
                <a:tc>
                  <a:txBody>
                    <a:bodyPr/>
                    <a:lstStyle/>
                    <a:p>
                      <a:pPr algn="ctr">
                        <a:defRPr sz="1100" b="1">
                          <a:solidFill>
                            <a:srgbClr val="FFFFFF"/>
                          </a:solidFill>
                          <a:latin typeface="Calibri"/>
                        </a:defRPr>
                      </a:pPr>
                      <a:r>
                        <a:t>Heater q″</a:t>
                      </a:r>
                    </a:p>
                  </a:txBody>
                  <a:tcPr>
                    <a:solidFill>
                      <a:srgbClr val="0B1426"/>
                    </a:solidFill>
                  </a:tcPr>
                </a:tc>
              </a:tr>
              <a:tr h="402336">
                <a:tc>
                  <a:txBody>
                    <a:bodyPr/>
                    <a:lstStyle/>
                    <a:p>
                      <a:pPr algn="l">
                        <a:defRPr sz="1100">
                          <a:solidFill>
                            <a:srgbClr val="0B1426"/>
                          </a:solidFill>
                          <a:latin typeface="Calibri"/>
                        </a:defRPr>
                      </a:pPr>
                      <a:r>
                        <a:t>noRadiation_coarse</a:t>
                      </a:r>
                    </a:p>
                  </a:txBody>
                  <a:tcPr>
                    <a:solidFill>
                      <a:srgbClr val="EEF2F7"/>
                    </a:solidFill>
                  </a:tcPr>
                </a:tc>
                <a:tc>
                  <a:txBody>
                    <a:bodyPr/>
                    <a:lstStyle/>
                    <a:p>
                      <a:pPr algn="ctr">
                        <a:defRPr sz="1100">
                          <a:solidFill>
                            <a:srgbClr val="0B1426"/>
                          </a:solidFill>
                          <a:latin typeface="Calibri"/>
                        </a:defRPr>
                      </a:pPr>
                      <a:r>
                        <a:t>200 × 80</a:t>
                      </a:r>
                    </a:p>
                  </a:txBody>
                  <a:tcPr>
                    <a:solidFill>
                      <a:srgbClr val="EEF2F7"/>
                    </a:solidFill>
                  </a:tcPr>
                </a:tc>
                <a:tc>
                  <a:txBody>
                    <a:bodyPr/>
                    <a:lstStyle/>
                    <a:p>
                      <a:pPr algn="ctr">
                        <a:defRPr sz="1100">
                          <a:solidFill>
                            <a:srgbClr val="0B1426"/>
                          </a:solidFill>
                          <a:latin typeface="Calibri"/>
                        </a:defRPr>
                      </a:pPr>
                      <a:r>
                        <a:t>16,000</a:t>
                      </a:r>
                    </a:p>
                  </a:txBody>
                  <a:tcPr>
                    <a:solidFill>
                      <a:srgbClr val="EEF2F7"/>
                    </a:solidFill>
                  </a:tcPr>
                </a:tc>
                <a:tc>
                  <a:txBody>
                    <a:bodyPr/>
                    <a:lstStyle/>
                    <a:p>
                      <a:pPr algn="ctr">
                        <a:defRPr sz="1100">
                          <a:solidFill>
                            <a:srgbClr val="0B1426"/>
                          </a:solidFill>
                          <a:latin typeface="Calibri"/>
                        </a:defRPr>
                      </a:pPr>
                      <a:r>
                        <a:t>0.0 (Pure)</a:t>
                      </a:r>
                    </a:p>
                  </a:txBody>
                  <a:tcPr>
                    <a:solidFill>
                      <a:srgbClr val="EEF2F7"/>
                    </a:solidFill>
                  </a:tcPr>
                </a:tc>
                <a:tc>
                  <a:txBody>
                    <a:bodyPr/>
                    <a:lstStyle/>
                    <a:p>
                      <a:pPr algn="ctr">
                        <a:defRPr sz="1100">
                          <a:solidFill>
                            <a:srgbClr val="0B1426"/>
                          </a:solidFill>
                          <a:latin typeface="Calibri"/>
                        </a:defRPr>
                      </a:pPr>
                      <a:r>
                        <a:t>1000 W/m²</a:t>
                      </a:r>
                    </a:p>
                  </a:txBody>
                  <a:tcPr>
                    <a:solidFill>
                      <a:srgbClr val="EEF2F7"/>
                    </a:solidFill>
                  </a:tcPr>
                </a:tc>
              </a:tr>
              <a:tr h="402336">
                <a:tc>
                  <a:txBody>
                    <a:bodyPr/>
                    <a:lstStyle/>
                    <a:p>
                      <a:pPr algn="l">
                        <a:defRPr sz="1100">
                          <a:solidFill>
                            <a:srgbClr val="0B1426"/>
                          </a:solidFill>
                          <a:latin typeface="Calibri"/>
                        </a:defRPr>
                      </a:pPr>
                      <a:r>
                        <a:t>noRadiation_fine</a:t>
                      </a:r>
                    </a:p>
                  </a:txBody>
                  <a:tcPr>
                    <a:solidFill>
                      <a:srgbClr val="FFFFFF"/>
                    </a:solidFill>
                  </a:tcPr>
                </a:tc>
                <a:tc>
                  <a:txBody>
                    <a:bodyPr/>
                    <a:lstStyle/>
                    <a:p>
                      <a:pPr algn="ctr">
                        <a:defRPr sz="1100">
                          <a:solidFill>
                            <a:srgbClr val="0B1426"/>
                          </a:solidFill>
                          <a:latin typeface="Calibri"/>
                        </a:defRPr>
                      </a:pPr>
                      <a:r>
                        <a:t>400 × 160</a:t>
                      </a:r>
                    </a:p>
                  </a:txBody>
                  <a:tcPr>
                    <a:solidFill>
                      <a:srgbClr val="FFFFFF"/>
                    </a:solidFill>
                  </a:tcPr>
                </a:tc>
                <a:tc>
                  <a:txBody>
                    <a:bodyPr/>
                    <a:lstStyle/>
                    <a:p>
                      <a:pPr algn="ctr">
                        <a:defRPr sz="1100">
                          <a:solidFill>
                            <a:srgbClr val="0B1426"/>
                          </a:solidFill>
                          <a:latin typeface="Calibri"/>
                        </a:defRPr>
                      </a:pPr>
                      <a:r>
                        <a:t>64,000</a:t>
                      </a:r>
                    </a:p>
                  </a:txBody>
                  <a:tcPr>
                    <a:solidFill>
                      <a:srgbClr val="FFFFFF"/>
                    </a:solidFill>
                  </a:tcPr>
                </a:tc>
                <a:tc>
                  <a:txBody>
                    <a:bodyPr/>
                    <a:lstStyle/>
                    <a:p>
                      <a:pPr algn="ctr">
                        <a:defRPr sz="1100">
                          <a:solidFill>
                            <a:srgbClr val="0B1426"/>
                          </a:solidFill>
                          <a:latin typeface="Calibri"/>
                        </a:defRPr>
                      </a:pPr>
                      <a:r>
                        <a:t>0.0 (Pure)</a:t>
                      </a:r>
                    </a:p>
                  </a:txBody>
                  <a:tcPr>
                    <a:solidFill>
                      <a:srgbClr val="FFFFFF"/>
                    </a:solidFill>
                  </a:tcPr>
                </a:tc>
                <a:tc>
                  <a:txBody>
                    <a:bodyPr/>
                    <a:lstStyle/>
                    <a:p>
                      <a:pPr algn="ctr">
                        <a:defRPr sz="1100">
                          <a:solidFill>
                            <a:srgbClr val="0B1426"/>
                          </a:solidFill>
                          <a:latin typeface="Calibri"/>
                        </a:defRPr>
                      </a:pPr>
                      <a:r>
                        <a:t>1000 W/m²</a:t>
                      </a:r>
                    </a:p>
                  </a:txBody>
                  <a:tcPr>
                    <a:solidFill>
                      <a:srgbClr val="FFFFFF"/>
                    </a:solidFill>
                  </a:tcPr>
                </a:tc>
              </a:tr>
              <a:tr h="402336">
                <a:tc>
                  <a:txBody>
                    <a:bodyPr/>
                    <a:lstStyle/>
                    <a:p>
                      <a:pPr algn="l">
                        <a:defRPr sz="1100">
                          <a:solidFill>
                            <a:srgbClr val="0B1426"/>
                          </a:solidFill>
                          <a:latin typeface="Calibri"/>
                        </a:defRPr>
                      </a:pPr>
                      <a:r>
                        <a:t>surfaceRadiation_coarse</a:t>
                      </a:r>
                    </a:p>
                  </a:txBody>
                  <a:tcPr>
                    <a:solidFill>
                      <a:srgbClr val="EEF2F7"/>
                    </a:solidFill>
                  </a:tcPr>
                </a:tc>
                <a:tc>
                  <a:txBody>
                    <a:bodyPr/>
                    <a:lstStyle/>
                    <a:p>
                      <a:pPr algn="ctr">
                        <a:defRPr sz="1100">
                          <a:solidFill>
                            <a:srgbClr val="0B1426"/>
                          </a:solidFill>
                          <a:latin typeface="Calibri"/>
                        </a:defRPr>
                      </a:pPr>
                      <a:r>
                        <a:t>200 × 80</a:t>
                      </a:r>
                    </a:p>
                  </a:txBody>
                  <a:tcPr>
                    <a:solidFill>
                      <a:srgbClr val="EEF2F7"/>
                    </a:solidFill>
                  </a:tcPr>
                </a:tc>
                <a:tc>
                  <a:txBody>
                    <a:bodyPr/>
                    <a:lstStyle/>
                    <a:p>
                      <a:pPr algn="ctr">
                        <a:defRPr sz="1100">
                          <a:solidFill>
                            <a:srgbClr val="0B1426"/>
                          </a:solidFill>
                          <a:latin typeface="Calibri"/>
                        </a:defRPr>
                      </a:pPr>
                      <a:r>
                        <a:t>16,000</a:t>
                      </a:r>
                    </a:p>
                  </a:txBody>
                  <a:tcPr>
                    <a:solidFill>
                      <a:srgbClr val="EEF2F7"/>
                    </a:solidFill>
                  </a:tcPr>
                </a:tc>
                <a:tc>
                  <a:txBody>
                    <a:bodyPr/>
                    <a:lstStyle/>
                    <a:p>
                      <a:pPr algn="ctr">
                        <a:defRPr sz="1100">
                          <a:solidFill>
                            <a:srgbClr val="0B1426"/>
                          </a:solidFill>
                          <a:latin typeface="Calibri"/>
                        </a:defRPr>
                      </a:pPr>
                      <a:r>
                        <a:t>0.8 (Coupled)</a:t>
                      </a:r>
                    </a:p>
                  </a:txBody>
                  <a:tcPr>
                    <a:solidFill>
                      <a:srgbClr val="EEF2F7"/>
                    </a:solidFill>
                  </a:tcPr>
                </a:tc>
                <a:tc>
                  <a:txBody>
                    <a:bodyPr/>
                    <a:lstStyle/>
                    <a:p>
                      <a:pPr algn="ctr">
                        <a:defRPr sz="1100">
                          <a:solidFill>
                            <a:srgbClr val="0B1426"/>
                          </a:solidFill>
                          <a:latin typeface="Calibri"/>
                        </a:defRPr>
                      </a:pPr>
                      <a:r>
                        <a:t>1000 W/m²</a:t>
                      </a:r>
                    </a:p>
                  </a:txBody>
                  <a:tcPr>
                    <a:solidFill>
                      <a:srgbClr val="EEF2F7"/>
                    </a:solidFill>
                  </a:tcPr>
                </a:tc>
              </a:tr>
              <a:tr h="402336">
                <a:tc>
                  <a:txBody>
                    <a:bodyPr/>
                    <a:lstStyle/>
                    <a:p>
                      <a:pPr algn="l">
                        <a:defRPr sz="1100">
                          <a:solidFill>
                            <a:srgbClr val="0B1426"/>
                          </a:solidFill>
                          <a:latin typeface="Calibri"/>
                        </a:defRPr>
                      </a:pPr>
                      <a:r>
                        <a:t>surfaceRadiation_fine</a:t>
                      </a:r>
                    </a:p>
                  </a:txBody>
                  <a:tcPr>
                    <a:solidFill>
                      <a:srgbClr val="FFFFFF"/>
                    </a:solidFill>
                  </a:tcPr>
                </a:tc>
                <a:tc>
                  <a:txBody>
                    <a:bodyPr/>
                    <a:lstStyle/>
                    <a:p>
                      <a:pPr algn="ctr">
                        <a:defRPr sz="1100">
                          <a:solidFill>
                            <a:srgbClr val="0B1426"/>
                          </a:solidFill>
                          <a:latin typeface="Calibri"/>
                        </a:defRPr>
                      </a:pPr>
                      <a:r>
                        <a:t>400 × 160</a:t>
                      </a:r>
                    </a:p>
                  </a:txBody>
                  <a:tcPr>
                    <a:solidFill>
                      <a:srgbClr val="FFFFFF"/>
                    </a:solidFill>
                  </a:tcPr>
                </a:tc>
                <a:tc>
                  <a:txBody>
                    <a:bodyPr/>
                    <a:lstStyle/>
                    <a:p>
                      <a:pPr algn="ctr">
                        <a:defRPr sz="1100">
                          <a:solidFill>
                            <a:srgbClr val="0B1426"/>
                          </a:solidFill>
                          <a:latin typeface="Calibri"/>
                        </a:defRPr>
                      </a:pPr>
                      <a:r>
                        <a:t>64,000</a:t>
                      </a:r>
                    </a:p>
                  </a:txBody>
                  <a:tcPr>
                    <a:solidFill>
                      <a:srgbClr val="FFFFFF"/>
                    </a:solidFill>
                  </a:tcPr>
                </a:tc>
                <a:tc>
                  <a:txBody>
                    <a:bodyPr/>
                    <a:lstStyle/>
                    <a:p>
                      <a:pPr algn="ctr">
                        <a:defRPr sz="1100">
                          <a:solidFill>
                            <a:srgbClr val="0B1426"/>
                          </a:solidFill>
                          <a:latin typeface="Calibri"/>
                        </a:defRPr>
                      </a:pPr>
                      <a:r>
                        <a:t>0.8 (Coupled)</a:t>
                      </a:r>
                    </a:p>
                  </a:txBody>
                  <a:tcPr>
                    <a:solidFill>
                      <a:srgbClr val="FFFFFF"/>
                    </a:solidFill>
                  </a:tcPr>
                </a:tc>
                <a:tc>
                  <a:txBody>
                    <a:bodyPr/>
                    <a:lstStyle/>
                    <a:p>
                      <a:pPr algn="ctr">
                        <a:defRPr sz="1100">
                          <a:solidFill>
                            <a:srgbClr val="0B1426"/>
                          </a:solidFill>
                          <a:latin typeface="Calibri"/>
                        </a:defRPr>
                      </a:pPr>
                      <a:r>
                        <a:t>1000 W/m²</a:t>
                      </a:r>
                    </a:p>
                  </a:txBody>
                  <a:tcPr>
                    <a:solidFill>
                      <a:srgbClr val="FFFFFF"/>
                    </a:solidFill>
                  </a:tcPr>
                </a:tc>
              </a:tr>
            </a:tbl>
          </a:graphicData>
        </a:graphic>
      </p:graphicFrame>
      <p:sp>
        <p:nvSpPr>
          <p:cNvPr id="8" name="TextBox 7"/>
          <p:cNvSpPr txBox="1"/>
          <p:nvPr/>
        </p:nvSpPr>
        <p:spPr>
          <a:xfrm>
            <a:off x="822960" y="4389120"/>
            <a:ext cx="5669280" cy="1463040"/>
          </a:xfrm>
          <a:prstGeom prst="rect">
            <a:avLst/>
          </a:prstGeom>
          <a:noFill/>
        </p:spPr>
        <p:txBody>
          <a:bodyPr wrap="square" lIns="0" tIns="0" rIns="0" bIns="0">
            <a:spAutoFit/>
          </a:bodyPr>
          <a:lstStyle/>
          <a:p>
            <a:pPr>
              <a:spcAft>
                <a:spcPts val="1000"/>
              </a:spcAft>
              <a:defRPr sz="1300">
                <a:solidFill>
                  <a:srgbClr val="0B1426"/>
                </a:solidFill>
                <a:latin typeface="Calibri"/>
              </a:defRPr>
            </a:pPr>
            <a:r>
              <a:t>•  Plate length L = 1.0 m, free-stream velocity U_inf = 2.0 m/s.</a:t>
            </a:r>
          </a:p>
          <a:p>
            <a:pPr>
              <a:spcAft>
                <a:spcPts val="1000"/>
              </a:spcAft>
              <a:defRPr sz="1300">
                <a:solidFill>
                  <a:srgbClr val="0B1426"/>
                </a:solidFill>
                <a:latin typeface="Calibri"/>
              </a:defRPr>
            </a:pPr>
            <a:r>
              <a:t>•  Ambient and enclosure temperatures held constant at 300 K.</a:t>
            </a:r>
          </a:p>
          <a:p>
            <a:pPr>
              <a:spcAft>
                <a:spcPts val="1000"/>
              </a:spcAft>
              <a:defRPr sz="1300">
                <a:solidFill>
                  <a:srgbClr val="0B1426"/>
                </a:solidFill>
                <a:latin typeface="Calibri"/>
              </a:defRPr>
            </a:pPr>
            <a:r>
              <a:t>•  Reynolds number Re_L = 1.258 × 10⁵ preserves laminar flow regime.</a:t>
            </a:r>
          </a:p>
        </p:txBody>
      </p:sp>
      <p:sp>
        <p:nvSpPr>
          <p:cNvPr id="9" name="Rounded Rectangle 8"/>
          <p:cNvSpPr/>
          <p:nvPr/>
        </p:nvSpPr>
        <p:spPr>
          <a:xfrm>
            <a:off x="7040880" y="1463040"/>
            <a:ext cx="4572000" cy="466344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our_case_metric_breakdown.png"/>
          <p:cNvPicPr>
            <a:picLocks noChangeAspect="1"/>
          </p:cNvPicPr>
          <p:nvPr/>
        </p:nvPicPr>
        <p:blipFill>
          <a:blip r:embed="rId2"/>
          <a:stretch>
            <a:fillRect/>
          </a:stretch>
        </p:blipFill>
        <p:spPr>
          <a:xfrm>
            <a:off x="7223760" y="2123742"/>
            <a:ext cx="4206240" cy="3021995"/>
          </a:xfrm>
          <a:prstGeom prst="rect">
            <a:avLst/>
          </a:prstGeom>
        </p:spPr>
      </p:pic>
      <p:sp>
        <p:nvSpPr>
          <p:cNvPr id="11" name="TextBox 10"/>
          <p:cNvSpPr txBox="1"/>
          <p:nvPr/>
        </p:nvSpPr>
        <p:spPr>
          <a:xfrm>
            <a:off x="7223760" y="5696712"/>
            <a:ext cx="4206240" cy="320040"/>
          </a:xfrm>
          <a:prstGeom prst="rect">
            <a:avLst/>
          </a:prstGeom>
          <a:noFill/>
        </p:spPr>
        <p:txBody>
          <a:bodyPr wrap="square" lIns="0" tIns="0" rIns="0" bIns="0">
            <a:spAutoFit/>
          </a:bodyPr>
          <a:lstStyle/>
          <a:p>
            <a:pPr>
              <a:defRPr sz="1100">
                <a:solidFill>
                  <a:srgbClr val="7C8DB5"/>
                </a:solidFill>
                <a:latin typeface="Calibri"/>
              </a:defRPr>
            </a:pPr>
            <a:r>
              <a:t>Fig. 3: Comprehensive parameter breakdown across all four cases.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EF2F7"/>
        </a:solidFill>
        <a:effectLst/>
      </p:bgPr>
    </p:bg>
    <p:spTree>
      <p:nvGrpSpPr>
        <p:cNvPr id="1" name=""/>
        <p:cNvGrpSpPr/>
        <p:nvPr/>
      </p:nvGrpSpPr>
      <p:grpSpPr/>
      <p:sp>
        <p:nvSpPr>
          <p:cNvPr id="2" name="Title 1"/>
          <p:cNvSpPr>
            <a:spLocks noGrp="1"/>
          </p:cNvSpPr>
          <p:nvPr>
            <p:ph type="title" idx="100"/>
          </p:nvPr>
        </p:nvSpPr>
        <p:spPr/>
        <p:txBody>
          <a:bodyPr/>
          <a:lstStyle/>
          <a:p/>
        </p:txBody>
      </p:sp>
      <p:sp>
        <p:nvSpPr>
          <p:cNvPr id="3" name="TextBox 2"/>
          <p:cNvSpPr txBox="1"/>
          <p:nvPr/>
        </p:nvSpPr>
        <p:spPr>
          <a:xfrm>
            <a:off x="548640" y="365760"/>
            <a:ext cx="11094415" cy="868680"/>
          </a:xfrm>
          <a:prstGeom prst="rect">
            <a:avLst/>
          </a:prstGeom>
          <a:noFill/>
        </p:spPr>
        <p:txBody>
          <a:bodyPr wrap="square" lIns="0" tIns="0" rIns="0" bIns="0">
            <a:spAutoFit/>
          </a:bodyPr>
          <a:lstStyle/>
          <a:p>
            <a:pPr>
              <a:defRPr sz="3400" b="1">
                <a:solidFill>
                  <a:srgbClr val="0B1426"/>
                </a:solidFill>
                <a:latin typeface="Cambria"/>
              </a:defRPr>
            </a:pPr>
            <a:r>
              <a:t>80:1 Wall Grading Resolves Viscous and Conductive Sublayers</a:t>
            </a:r>
          </a:p>
        </p:txBody>
      </p:sp>
      <p:sp>
        <p:nvSpPr>
          <p:cNvPr id="4" name="TextBox 3"/>
          <p:cNvSpPr txBox="1"/>
          <p:nvPr/>
        </p:nvSpPr>
        <p:spPr>
          <a:xfrm>
            <a:off x="11155680" y="6400800"/>
            <a:ext cx="548640" cy="274320"/>
          </a:xfrm>
          <a:prstGeom prst="rect">
            <a:avLst/>
          </a:prstGeom>
          <a:noFill/>
        </p:spPr>
        <p:txBody>
          <a:bodyPr wrap="none" lIns="0" tIns="0" rIns="0" bIns="0">
            <a:spAutoFit/>
          </a:bodyPr>
          <a:lstStyle/>
          <a:p>
            <a:pPr algn="r">
              <a:defRPr sz="1200">
                <a:solidFill>
                  <a:srgbClr val="7C8DB5"/>
                </a:solidFill>
                <a:latin typeface="Calibri"/>
              </a:defRPr>
            </a:pPr>
            <a:r>
              <a:t>4</a:t>
            </a:r>
          </a:p>
        </p:txBody>
      </p:sp>
      <p:sp>
        <p:nvSpPr>
          <p:cNvPr id="5" name="Rounded Rectangle 4"/>
          <p:cNvSpPr/>
          <p:nvPr/>
        </p:nvSpPr>
        <p:spPr>
          <a:xfrm>
            <a:off x="548640" y="1463040"/>
            <a:ext cx="6766560" cy="466344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esh_inflation_detail.png"/>
          <p:cNvPicPr>
            <a:picLocks noChangeAspect="1"/>
          </p:cNvPicPr>
          <p:nvPr/>
        </p:nvPicPr>
        <p:blipFill>
          <a:blip r:embed="rId2"/>
          <a:stretch>
            <a:fillRect/>
          </a:stretch>
        </p:blipFill>
        <p:spPr>
          <a:xfrm>
            <a:off x="731520" y="2274712"/>
            <a:ext cx="6400800" cy="2720055"/>
          </a:xfrm>
          <a:prstGeom prst="rect">
            <a:avLst/>
          </a:prstGeom>
        </p:spPr>
      </p:pic>
      <p:sp>
        <p:nvSpPr>
          <p:cNvPr id="7" name="TextBox 6"/>
          <p:cNvSpPr txBox="1"/>
          <p:nvPr/>
        </p:nvSpPr>
        <p:spPr>
          <a:xfrm>
            <a:off x="731520" y="5696712"/>
            <a:ext cx="6400800" cy="320040"/>
          </a:xfrm>
          <a:prstGeom prst="rect">
            <a:avLst/>
          </a:prstGeom>
          <a:noFill/>
        </p:spPr>
        <p:txBody>
          <a:bodyPr wrap="square" lIns="0" tIns="0" rIns="0" bIns="0">
            <a:spAutoFit/>
          </a:bodyPr>
          <a:lstStyle/>
          <a:p>
            <a:pPr>
              <a:defRPr sz="1100">
                <a:solidFill>
                  <a:srgbClr val="7C8DB5"/>
                </a:solidFill>
                <a:latin typeface="Calibri"/>
              </a:defRPr>
            </a:pPr>
            <a:r>
              <a:t>Fig. 4: Structured inflation mesh near heated plate leading edge (80:1 grading).</a:t>
            </a:r>
          </a:p>
        </p:txBody>
      </p:sp>
      <p:sp>
        <p:nvSpPr>
          <p:cNvPr id="8" name="Rounded Rectangle 7"/>
          <p:cNvSpPr/>
          <p:nvPr/>
        </p:nvSpPr>
        <p:spPr>
          <a:xfrm>
            <a:off x="7589520" y="1463040"/>
            <a:ext cx="4023360" cy="466344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863840" y="1737360"/>
            <a:ext cx="3474720" cy="1051560"/>
          </a:xfrm>
          <a:prstGeom prst="round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1783080"/>
            <a:ext cx="3108960" cy="960120"/>
          </a:xfrm>
          <a:prstGeom prst="rect">
            <a:avLst/>
          </a:prstGeom>
          <a:noFill/>
        </p:spPr>
        <p:txBody>
          <a:bodyPr wrap="square" lIns="0" tIns="0" rIns="0" bIns="0">
            <a:spAutoFit/>
          </a:bodyPr>
          <a:lstStyle/>
          <a:p>
            <a:pPr>
              <a:defRPr sz="2400" b="1">
                <a:solidFill>
                  <a:srgbClr val="FF7A1A"/>
                </a:solidFill>
                <a:latin typeface="Cambria"/>
              </a:defRPr>
            </a:pPr>
            <a:r>
              <a:t>41 Cells in 5 mm</a:t>
            </a:r>
          </a:p>
          <a:p>
            <a:pPr>
              <a:defRPr sz="1100">
                <a:solidFill>
                  <a:srgbClr val="0B1426"/>
                </a:solidFill>
                <a:latin typeface="Calibri"/>
              </a:defRPr>
            </a:pPr>
            <a:r>
              <a:t>Near-wall inflation zone resolves thermal gradients</a:t>
            </a:r>
          </a:p>
        </p:txBody>
      </p:sp>
      <p:sp>
        <p:nvSpPr>
          <p:cNvPr id="11" name="Rounded Rectangle 10"/>
          <p:cNvSpPr/>
          <p:nvPr/>
        </p:nvSpPr>
        <p:spPr>
          <a:xfrm>
            <a:off x="7863840" y="2926080"/>
            <a:ext cx="3474720" cy="1051560"/>
          </a:xfrm>
          <a:prstGeom prst="round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0" y="2971800"/>
            <a:ext cx="3108960" cy="960120"/>
          </a:xfrm>
          <a:prstGeom prst="rect">
            <a:avLst/>
          </a:prstGeom>
          <a:noFill/>
        </p:spPr>
        <p:txBody>
          <a:bodyPr wrap="square" lIns="0" tIns="0" rIns="0" bIns="0">
            <a:spAutoFit/>
          </a:bodyPr>
          <a:lstStyle/>
          <a:p>
            <a:pPr>
              <a:defRPr sz="2400" b="1">
                <a:solidFill>
                  <a:srgbClr val="23B5D3"/>
                </a:solidFill>
                <a:latin typeface="Cambria"/>
              </a:defRPr>
            </a:pPr>
            <a:r>
              <a:t>Δy₁ = 70.3 μm</a:t>
            </a:r>
          </a:p>
          <a:p>
            <a:pPr>
              <a:defRPr sz="1100">
                <a:solidFill>
                  <a:srgbClr val="0B1426"/>
                </a:solidFill>
                <a:latin typeface="Calibri"/>
              </a:defRPr>
            </a:pPr>
            <a:r>
              <a:t>First cell wall-normal height on 64k fine grid</a:t>
            </a:r>
          </a:p>
        </p:txBody>
      </p:sp>
      <p:sp>
        <p:nvSpPr>
          <p:cNvPr id="13" name="TextBox 12"/>
          <p:cNvSpPr txBox="1"/>
          <p:nvPr/>
        </p:nvSpPr>
        <p:spPr>
          <a:xfrm>
            <a:off x="7863840" y="4160520"/>
            <a:ext cx="3474720" cy="1737360"/>
          </a:xfrm>
          <a:prstGeom prst="rect">
            <a:avLst/>
          </a:prstGeom>
          <a:noFill/>
        </p:spPr>
        <p:txBody>
          <a:bodyPr wrap="square" lIns="0" tIns="0" rIns="0" bIns="0">
            <a:spAutoFit/>
          </a:bodyPr>
          <a:lstStyle/>
          <a:p>
            <a:pPr>
              <a:spcAft>
                <a:spcPts val="1000"/>
              </a:spcAft>
              <a:defRPr sz="1300">
                <a:solidFill>
                  <a:srgbClr val="0B1426"/>
                </a:solidFill>
                <a:latin typeface="Calibri"/>
              </a:defRPr>
            </a:pPr>
            <a:r>
              <a:t>•  Domain includes 1.0 m unheated inflow section to develop boundary layer.</a:t>
            </a:r>
          </a:p>
          <a:p>
            <a:pPr>
              <a:spcAft>
                <a:spcPts val="1000"/>
              </a:spcAft>
              <a:defRPr sz="1300">
                <a:solidFill>
                  <a:srgbClr val="0B1426"/>
                </a:solidFill>
                <a:latin typeface="Calibri"/>
              </a:defRPr>
            </a:pPr>
            <a:r>
              <a:t>•  Geometric wall-normal grading of 80:1 concentrates 41 cells in 5 mm.</a:t>
            </a:r>
          </a:p>
          <a:p>
            <a:pPr>
              <a:spcAft>
                <a:spcPts val="1000"/>
              </a:spcAft>
              <a:defRPr sz="1300">
                <a:solidFill>
                  <a:srgbClr val="0B1426"/>
                </a:solidFill>
                <a:latin typeface="Calibri"/>
              </a:defRPr>
            </a:pPr>
            <a:r>
              <a:t>•  Fine 64,000-cell mesh maintains zero non-orthogonality and skewness.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2F7"/>
        </a:solidFill>
        <a:effectLst/>
      </p:bgPr>
    </p:bg>
    <p:spTree>
      <p:nvGrpSpPr>
        <p:cNvPr id="1" name=""/>
        <p:cNvGrpSpPr/>
        <p:nvPr/>
      </p:nvGrpSpPr>
      <p:grpSpPr/>
      <p:sp>
        <p:nvSpPr>
          <p:cNvPr id="2" name="Title 1"/>
          <p:cNvSpPr>
            <a:spLocks noGrp="1"/>
          </p:cNvSpPr>
          <p:nvPr>
            <p:ph type="title" idx="100"/>
          </p:nvPr>
        </p:nvSpPr>
        <p:spPr/>
        <p:txBody>
          <a:bodyPr/>
          <a:lstStyle/>
          <a:p/>
        </p:txBody>
      </p:sp>
      <p:sp>
        <p:nvSpPr>
          <p:cNvPr id="3" name="TextBox 2"/>
          <p:cNvSpPr txBox="1"/>
          <p:nvPr/>
        </p:nvSpPr>
        <p:spPr>
          <a:xfrm>
            <a:off x="548640" y="365760"/>
            <a:ext cx="11094415" cy="868680"/>
          </a:xfrm>
          <a:prstGeom prst="rect">
            <a:avLst/>
          </a:prstGeom>
          <a:noFill/>
        </p:spPr>
        <p:txBody>
          <a:bodyPr wrap="square" lIns="0" tIns="0" rIns="0" bIns="0">
            <a:spAutoFit/>
          </a:bodyPr>
          <a:lstStyle/>
          <a:p>
            <a:pPr>
              <a:defRPr sz="3400" b="1">
                <a:solidFill>
                  <a:srgbClr val="0B1426"/>
                </a:solidFill>
                <a:latin typeface="Cambria"/>
              </a:defRPr>
            </a:pPr>
            <a:r>
              <a:t>Newton-Raphson Solver Enforces Non-Linear Surface Heat Balance</a:t>
            </a:r>
          </a:p>
        </p:txBody>
      </p:sp>
      <p:sp>
        <p:nvSpPr>
          <p:cNvPr id="4" name="TextBox 3"/>
          <p:cNvSpPr txBox="1"/>
          <p:nvPr/>
        </p:nvSpPr>
        <p:spPr>
          <a:xfrm>
            <a:off x="11155680" y="6400800"/>
            <a:ext cx="548640" cy="274320"/>
          </a:xfrm>
          <a:prstGeom prst="rect">
            <a:avLst/>
          </a:prstGeom>
          <a:noFill/>
        </p:spPr>
        <p:txBody>
          <a:bodyPr wrap="none" lIns="0" tIns="0" rIns="0" bIns="0">
            <a:spAutoFit/>
          </a:bodyPr>
          <a:lstStyle/>
          <a:p>
            <a:pPr algn="r">
              <a:defRPr sz="1200">
                <a:solidFill>
                  <a:srgbClr val="7C8DB5"/>
                </a:solidFill>
                <a:latin typeface="Calibri"/>
              </a:defRPr>
            </a:pPr>
            <a:r>
              <a:t>5</a:t>
            </a:r>
          </a:p>
        </p:txBody>
      </p:sp>
      <p:sp>
        <p:nvSpPr>
          <p:cNvPr id="5" name="Rounded Rectangle 4"/>
          <p:cNvSpPr/>
          <p:nvPr/>
        </p:nvSpPr>
        <p:spPr>
          <a:xfrm>
            <a:off x="548640" y="1463040"/>
            <a:ext cx="5760720" cy="466344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91640"/>
            <a:ext cx="5212080" cy="4206240"/>
          </a:xfrm>
          <a:prstGeom prst="rect">
            <a:avLst/>
          </a:prstGeom>
          <a:noFill/>
        </p:spPr>
        <p:txBody>
          <a:bodyPr wrap="square" lIns="0" tIns="0" rIns="0" bIns="0">
            <a:spAutoFit/>
          </a:bodyPr>
          <a:lstStyle/>
          <a:p>
            <a:pPr>
              <a:spcAft>
                <a:spcPts val="1200"/>
              </a:spcAft>
              <a:defRPr sz="2000" b="1">
                <a:solidFill>
                  <a:srgbClr val="0B1426"/>
                </a:solidFill>
                <a:latin typeface="Cambria"/>
              </a:defRPr>
            </a:pPr>
            <a:r>
              <a:t>Wall Boundary Energy Conservation</a:t>
            </a:r>
          </a:p>
          <a:p>
            <a:pPr>
              <a:defRPr sz="1200" b="1">
                <a:solidFill>
                  <a:srgbClr val="0B1426"/>
                </a:solidFill>
                <a:latin typeface="Calibri"/>
              </a:defRPr>
            </a:pPr>
            <a:r>
              <a:t>1. Surface Heat Balance (enforced at wall face):</a:t>
            </a:r>
          </a:p>
          <a:p>
            <a:pPr>
              <a:spcAft>
                <a:spcPts val="800"/>
              </a:spcAft>
              <a:defRPr sz="1600" b="1">
                <a:solidFill>
                  <a:srgbClr val="FF7A1A"/>
                </a:solidFill>
                <a:latin typeface="Cambria"/>
              </a:defRPr>
            </a:pPr>
            <a:r>
              <a:t>q″_heater = q″_conv + q″_rad = 1000 W/m²</a:t>
            </a:r>
          </a:p>
          <a:p>
            <a:pPr>
              <a:defRPr sz="1200" b="1">
                <a:solidFill>
                  <a:srgbClr val="0B1426"/>
                </a:solidFill>
                <a:latin typeface="Calibri"/>
              </a:defRPr>
            </a:pPr>
            <a:r>
              <a:t>2. Stefan-Boltzmann Surface Radiation:</a:t>
            </a:r>
          </a:p>
          <a:p>
            <a:pPr>
              <a:defRPr sz="1600" b="1">
                <a:solidFill>
                  <a:srgbClr val="23B5D3"/>
                </a:solidFill>
                <a:latin typeface="Cambria"/>
              </a:defRPr>
            </a:pPr>
            <a:r>
              <a:t>q″_rad = ε σ (T_w⁴ - T_sur⁴)</a:t>
            </a:r>
          </a:p>
          <a:p>
            <a:pPr>
              <a:spcAft>
                <a:spcPts val="800"/>
              </a:spcAft>
              <a:defRPr sz="1100">
                <a:solidFill>
                  <a:srgbClr val="7C8DB5"/>
                </a:solidFill>
                <a:latin typeface="Calibri"/>
              </a:defRPr>
            </a:pPr>
            <a:r>
              <a:t>where ε = 0.8, σ = 5.670 × 10⁻⁸ W/(m²·K⁴), T_sur = 300 K</a:t>
            </a:r>
          </a:p>
          <a:p>
            <a:pPr>
              <a:defRPr sz="1200" b="1">
                <a:solidFill>
                  <a:srgbClr val="0B1426"/>
                </a:solidFill>
                <a:latin typeface="Calibri"/>
              </a:defRPr>
            </a:pPr>
            <a:r>
              <a:t>3. In-Situ Newton-Raphson Iteration:</a:t>
            </a:r>
          </a:p>
          <a:p>
            <a:pPr>
              <a:defRPr sz="1500" b="1">
                <a:solidFill>
                  <a:srgbClr val="0B1426"/>
                </a:solidFill>
                <a:latin typeface="Cambria"/>
              </a:defRPr>
            </a:pPr>
            <a:r>
              <a:t>T_w^(k+1) = T_w^(k) - f(T_w^(k)) / f′(T_w^(k))</a:t>
            </a:r>
          </a:p>
        </p:txBody>
      </p:sp>
      <p:sp>
        <p:nvSpPr>
          <p:cNvPr id="7" name="Rounded Rectangle 6"/>
          <p:cNvSpPr/>
          <p:nvPr/>
        </p:nvSpPr>
        <p:spPr>
          <a:xfrm>
            <a:off x="6583680" y="1463040"/>
            <a:ext cx="5029200" cy="466344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0" y="1691640"/>
            <a:ext cx="4480560" cy="4206240"/>
          </a:xfrm>
          <a:prstGeom prst="rect">
            <a:avLst/>
          </a:prstGeom>
          <a:noFill/>
        </p:spPr>
        <p:txBody>
          <a:bodyPr wrap="square" lIns="0" tIns="0" rIns="0" bIns="0">
            <a:spAutoFit/>
          </a:bodyPr>
          <a:lstStyle/>
          <a:p>
            <a:pPr>
              <a:spcAft>
                <a:spcPts val="1000"/>
              </a:spcAft>
              <a:defRPr sz="1400" b="1">
                <a:solidFill>
                  <a:srgbClr val="0B1426"/>
                </a:solidFill>
                <a:latin typeface="Calibri"/>
              </a:defRPr>
            </a:pPr>
            <a:r>
              <a:t>•  Solves non-linear quartic radiative flux at every boundary face.</a:t>
            </a:r>
          </a:p>
          <a:p>
            <a:pPr>
              <a:spcAft>
                <a:spcPts val="1000"/>
              </a:spcAft>
              <a:defRPr sz="1400">
                <a:solidFill>
                  <a:srgbClr val="0B1426"/>
                </a:solidFill>
                <a:latin typeface="Calibri"/>
              </a:defRPr>
            </a:pPr>
            <a:r>
              <a:t>•  Enforces local face heat balance by construction during each PIMPLE step.</a:t>
            </a:r>
          </a:p>
          <a:p>
            <a:pPr>
              <a:spcAft>
                <a:spcPts val="1000"/>
              </a:spcAft>
              <a:defRPr sz="1400">
                <a:solidFill>
                  <a:srgbClr val="0B1426"/>
                </a:solidFill>
                <a:latin typeface="Calibri"/>
              </a:defRPr>
            </a:pPr>
            <a:r>
              <a:t>•  Newton-Raphson scheme converges to double precision within four iterations.</a:t>
            </a:r>
          </a:p>
        </p:txBody>
      </p:sp>
      <p:sp>
        <p:nvSpPr>
          <p:cNvPr id="9" name="Rounded Rectangle 8"/>
          <p:cNvSpPr/>
          <p:nvPr/>
        </p:nvSpPr>
        <p:spPr>
          <a:xfrm>
            <a:off x="6858000" y="3840480"/>
            <a:ext cx="2148840" cy="1645920"/>
          </a:xfrm>
          <a:prstGeom prst="round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95160" y="3977639"/>
            <a:ext cx="1874519" cy="1371600"/>
          </a:xfrm>
          <a:prstGeom prst="rect">
            <a:avLst/>
          </a:prstGeom>
          <a:noFill/>
        </p:spPr>
        <p:txBody>
          <a:bodyPr wrap="square" lIns="0" tIns="0" rIns="0" bIns="0">
            <a:spAutoFit/>
          </a:bodyPr>
          <a:lstStyle/>
          <a:p>
            <a:pPr>
              <a:defRPr sz="2600" b="1">
                <a:solidFill>
                  <a:srgbClr val="FF7A1A"/>
                </a:solidFill>
                <a:latin typeface="Cambria"/>
              </a:defRPr>
            </a:pPr>
            <a:r>
              <a:t>ε = 0.8</a:t>
            </a:r>
          </a:p>
          <a:p>
            <a:pPr>
              <a:defRPr sz="1100">
                <a:solidFill>
                  <a:srgbClr val="0B1426"/>
                </a:solidFill>
                <a:latin typeface="Calibri"/>
              </a:defRPr>
            </a:pPr>
            <a:r>
              <a:t>Grey-diffuse emissivity to 300 K external enclosure</a:t>
            </a:r>
          </a:p>
        </p:txBody>
      </p:sp>
      <p:sp>
        <p:nvSpPr>
          <p:cNvPr id="11" name="Rounded Rectangle 10"/>
          <p:cNvSpPr/>
          <p:nvPr/>
        </p:nvSpPr>
        <p:spPr>
          <a:xfrm>
            <a:off x="9189720" y="3840480"/>
            <a:ext cx="2148840" cy="1645920"/>
          </a:xfrm>
          <a:prstGeom prst="round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0" y="3977639"/>
            <a:ext cx="1874519" cy="1371600"/>
          </a:xfrm>
          <a:prstGeom prst="rect">
            <a:avLst/>
          </a:prstGeom>
          <a:noFill/>
        </p:spPr>
        <p:txBody>
          <a:bodyPr wrap="square" lIns="0" tIns="0" rIns="0" bIns="0">
            <a:spAutoFit/>
          </a:bodyPr>
          <a:lstStyle/>
          <a:p>
            <a:pPr>
              <a:defRPr sz="2600" b="1">
                <a:solidFill>
                  <a:srgbClr val="23B5D3"/>
                </a:solidFill>
                <a:latin typeface="Cambria"/>
              </a:defRPr>
            </a:pPr>
            <a:r>
              <a:t>&lt; 4 Iter</a:t>
            </a:r>
          </a:p>
          <a:p>
            <a:pPr>
              <a:defRPr sz="1100">
                <a:solidFill>
                  <a:srgbClr val="0B1426"/>
                </a:solidFill>
                <a:latin typeface="Calibri"/>
              </a:defRPr>
            </a:pPr>
            <a:r>
              <a:t>Fast quadratic convergence per boundary face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EF2F7"/>
        </a:solidFill>
        <a:effectLst/>
      </p:bgPr>
    </p:bg>
    <p:spTree>
      <p:nvGrpSpPr>
        <p:cNvPr id="1" name=""/>
        <p:cNvGrpSpPr/>
        <p:nvPr/>
      </p:nvGrpSpPr>
      <p:grpSpPr/>
      <p:sp>
        <p:nvSpPr>
          <p:cNvPr id="2" name="Title 1"/>
          <p:cNvSpPr>
            <a:spLocks noGrp="1"/>
          </p:cNvSpPr>
          <p:nvPr>
            <p:ph type="title" idx="100"/>
          </p:nvPr>
        </p:nvSpPr>
        <p:spPr/>
        <p:txBody>
          <a:bodyPr/>
          <a:lstStyle/>
          <a:p/>
        </p:txBody>
      </p:sp>
      <p:sp>
        <p:nvSpPr>
          <p:cNvPr id="3" name="TextBox 2"/>
          <p:cNvSpPr txBox="1"/>
          <p:nvPr/>
        </p:nvSpPr>
        <p:spPr>
          <a:xfrm>
            <a:off x="548640" y="365760"/>
            <a:ext cx="11094415" cy="868680"/>
          </a:xfrm>
          <a:prstGeom prst="rect">
            <a:avLst/>
          </a:prstGeom>
          <a:noFill/>
        </p:spPr>
        <p:txBody>
          <a:bodyPr wrap="square" lIns="0" tIns="0" rIns="0" bIns="0">
            <a:spAutoFit/>
          </a:bodyPr>
          <a:lstStyle/>
          <a:p>
            <a:pPr>
              <a:defRPr sz="3400" b="1">
                <a:solidFill>
                  <a:srgbClr val="0B1426"/>
                </a:solidFill>
                <a:latin typeface="Cambria"/>
              </a:defRPr>
            </a:pPr>
            <a:r>
              <a:t>Residuals Fall by 5+ Orders Across 1,500 Iterations</a:t>
            </a:r>
          </a:p>
        </p:txBody>
      </p:sp>
      <p:sp>
        <p:nvSpPr>
          <p:cNvPr id="4" name="TextBox 3"/>
          <p:cNvSpPr txBox="1"/>
          <p:nvPr/>
        </p:nvSpPr>
        <p:spPr>
          <a:xfrm>
            <a:off x="11155680" y="6400800"/>
            <a:ext cx="548640" cy="274320"/>
          </a:xfrm>
          <a:prstGeom prst="rect">
            <a:avLst/>
          </a:prstGeom>
          <a:noFill/>
        </p:spPr>
        <p:txBody>
          <a:bodyPr wrap="none" lIns="0" tIns="0" rIns="0" bIns="0">
            <a:spAutoFit/>
          </a:bodyPr>
          <a:lstStyle/>
          <a:p>
            <a:pPr algn="r">
              <a:defRPr sz="1200">
                <a:solidFill>
                  <a:srgbClr val="7C8DB5"/>
                </a:solidFill>
                <a:latin typeface="Calibri"/>
              </a:defRPr>
            </a:pPr>
            <a:r>
              <a:t>6</a:t>
            </a:r>
          </a:p>
        </p:txBody>
      </p:sp>
      <p:sp>
        <p:nvSpPr>
          <p:cNvPr id="5" name="Rounded Rectangle 4"/>
          <p:cNvSpPr/>
          <p:nvPr/>
        </p:nvSpPr>
        <p:spPr>
          <a:xfrm>
            <a:off x="548640" y="1463040"/>
            <a:ext cx="6766560" cy="466344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onvergence_histories.png"/>
          <p:cNvPicPr>
            <a:picLocks noChangeAspect="1"/>
          </p:cNvPicPr>
          <p:nvPr/>
        </p:nvPicPr>
        <p:blipFill>
          <a:blip r:embed="rId2"/>
          <a:stretch>
            <a:fillRect/>
          </a:stretch>
        </p:blipFill>
        <p:spPr>
          <a:xfrm>
            <a:off x="731520" y="2292593"/>
            <a:ext cx="6400800" cy="2684292"/>
          </a:xfrm>
          <a:prstGeom prst="rect">
            <a:avLst/>
          </a:prstGeom>
        </p:spPr>
      </p:pic>
      <p:sp>
        <p:nvSpPr>
          <p:cNvPr id="7" name="TextBox 6"/>
          <p:cNvSpPr txBox="1"/>
          <p:nvPr/>
        </p:nvSpPr>
        <p:spPr>
          <a:xfrm>
            <a:off x="731520" y="5696712"/>
            <a:ext cx="6400800" cy="320040"/>
          </a:xfrm>
          <a:prstGeom prst="rect">
            <a:avLst/>
          </a:prstGeom>
          <a:noFill/>
        </p:spPr>
        <p:txBody>
          <a:bodyPr wrap="square" lIns="0" tIns="0" rIns="0" bIns="0">
            <a:spAutoFit/>
          </a:bodyPr>
          <a:lstStyle/>
          <a:p>
            <a:pPr>
              <a:defRPr sz="1100">
                <a:solidFill>
                  <a:srgbClr val="7C8DB5"/>
                </a:solidFill>
                <a:latin typeface="Calibri"/>
              </a:defRPr>
            </a:pPr>
            <a:r>
              <a:t>Fig. 5: Iterative residual history for velocity, pressure, and enthalpy.</a:t>
            </a:r>
          </a:p>
        </p:txBody>
      </p:sp>
      <p:sp>
        <p:nvSpPr>
          <p:cNvPr id="8" name="Rounded Rectangle 7"/>
          <p:cNvSpPr/>
          <p:nvPr/>
        </p:nvSpPr>
        <p:spPr>
          <a:xfrm>
            <a:off x="7589520" y="1463040"/>
            <a:ext cx="4023360" cy="466344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0" y="1737360"/>
            <a:ext cx="3474720" cy="4114800"/>
          </a:xfrm>
          <a:prstGeom prst="rect">
            <a:avLst/>
          </a:prstGeom>
          <a:noFill/>
        </p:spPr>
        <p:txBody>
          <a:bodyPr wrap="square" lIns="0" tIns="0" rIns="0" bIns="0">
            <a:spAutoFit/>
          </a:bodyPr>
          <a:lstStyle/>
          <a:p>
            <a:pPr>
              <a:spcAft>
                <a:spcPts val="1000"/>
              </a:spcAft>
              <a:defRPr sz="1400" b="1">
                <a:solidFill>
                  <a:srgbClr val="0B1426"/>
                </a:solidFill>
                <a:latin typeface="Calibri"/>
              </a:defRPr>
            </a:pPr>
            <a:r>
              <a:t>•  Solved with OpenFOAM 13 foamRun using steady-state PIMPLE algorithm.</a:t>
            </a:r>
          </a:p>
          <a:p>
            <a:pPr>
              <a:spcAft>
                <a:spcPts val="1000"/>
              </a:spcAft>
              <a:defRPr sz="1400">
                <a:solidFill>
                  <a:srgbClr val="0B1426"/>
                </a:solidFill>
                <a:latin typeface="Calibri"/>
              </a:defRPr>
            </a:pPr>
            <a:r>
              <a:t>•  Residuals fall by 5+ orders, reaching monotonic asymptotic plateau.</a:t>
            </a:r>
          </a:p>
          <a:p>
            <a:pPr>
              <a:spcAft>
                <a:spcPts val="1000"/>
              </a:spcAft>
              <a:defRPr sz="1400">
                <a:solidFill>
                  <a:srgbClr val="0B1426"/>
                </a:solidFill>
                <a:latin typeface="Calibri"/>
              </a:defRPr>
            </a:pPr>
            <a:r>
              <a:t>•  Constant properties decouple momentum from temperature under zero gravity.</a:t>
            </a:r>
          </a:p>
        </p:txBody>
      </p:sp>
      <p:sp>
        <p:nvSpPr>
          <p:cNvPr id="10" name="Rounded Rectangle 9"/>
          <p:cNvSpPr/>
          <p:nvPr/>
        </p:nvSpPr>
        <p:spPr>
          <a:xfrm>
            <a:off x="7863840" y="3977639"/>
            <a:ext cx="3474720" cy="594360"/>
          </a:xfrm>
          <a:prstGeom prst="round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01000" y="4041648"/>
            <a:ext cx="3200400" cy="457200"/>
          </a:xfrm>
          <a:prstGeom prst="rect">
            <a:avLst/>
          </a:prstGeom>
          <a:noFill/>
        </p:spPr>
        <p:txBody>
          <a:bodyPr wrap="none" lIns="0" tIns="0">
            <a:spAutoFit/>
          </a:bodyPr>
          <a:lstStyle/>
          <a:p>
            <a:pPr>
              <a:defRPr sz="1400" b="1">
                <a:solidFill>
                  <a:srgbClr val="0B1426"/>
                </a:solidFill>
                <a:latin typeface="Cambria"/>
              </a:defRPr>
            </a:pPr>
            <a:r>
              <a:t>1,500  Iterations Completed</a:t>
            </a:r>
          </a:p>
        </p:txBody>
      </p:sp>
      <p:sp>
        <p:nvSpPr>
          <p:cNvPr id="12" name="Rounded Rectangle 11"/>
          <p:cNvSpPr/>
          <p:nvPr/>
        </p:nvSpPr>
        <p:spPr>
          <a:xfrm>
            <a:off x="7863840" y="4663440"/>
            <a:ext cx="3474720" cy="594360"/>
          </a:xfrm>
          <a:prstGeom prst="round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01000" y="4727448"/>
            <a:ext cx="3200400" cy="457200"/>
          </a:xfrm>
          <a:prstGeom prst="rect">
            <a:avLst/>
          </a:prstGeom>
          <a:noFill/>
        </p:spPr>
        <p:txBody>
          <a:bodyPr wrap="none" lIns="0" tIns="0">
            <a:spAutoFit/>
          </a:bodyPr>
          <a:lstStyle/>
          <a:p>
            <a:pPr>
              <a:defRPr sz="1400" b="1">
                <a:solidFill>
                  <a:srgbClr val="FF7A1A"/>
                </a:solidFill>
                <a:latin typeface="Cambria"/>
              </a:defRPr>
            </a:pPr>
            <a:r>
              <a:t>&gt; 10⁻⁵  Residual Reduction</a:t>
            </a:r>
          </a:p>
        </p:txBody>
      </p:sp>
      <p:sp>
        <p:nvSpPr>
          <p:cNvPr id="14" name="Rounded Rectangle 13"/>
          <p:cNvSpPr/>
          <p:nvPr/>
        </p:nvSpPr>
        <p:spPr>
          <a:xfrm>
            <a:off x="7863840" y="5349240"/>
            <a:ext cx="3474720" cy="594360"/>
          </a:xfrm>
          <a:prstGeom prst="round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5413248"/>
            <a:ext cx="3200400" cy="457200"/>
          </a:xfrm>
          <a:prstGeom prst="rect">
            <a:avLst/>
          </a:prstGeom>
          <a:noFill/>
        </p:spPr>
        <p:txBody>
          <a:bodyPr wrap="none" lIns="0" tIns="0">
            <a:spAutoFit/>
          </a:bodyPr>
          <a:lstStyle/>
          <a:p>
            <a:pPr>
              <a:defRPr sz="1400" b="1">
                <a:solidFill>
                  <a:srgbClr val="23B5D3"/>
                </a:solidFill>
                <a:latin typeface="Cambria"/>
              </a:defRPr>
            </a:pPr>
            <a:r>
              <a:t>0.00  Max Non-Orthogonality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EF2F7"/>
        </a:solidFill>
        <a:effectLst/>
      </p:bgPr>
    </p:bg>
    <p:spTree>
      <p:nvGrpSpPr>
        <p:cNvPr id="1" name=""/>
        <p:cNvGrpSpPr/>
        <p:nvPr/>
      </p:nvGrpSpPr>
      <p:grpSpPr/>
      <p:sp>
        <p:nvSpPr>
          <p:cNvPr id="2" name="Title 1"/>
          <p:cNvSpPr>
            <a:spLocks noGrp="1"/>
          </p:cNvSpPr>
          <p:nvPr>
            <p:ph type="title" idx="100"/>
          </p:nvPr>
        </p:nvSpPr>
        <p:spPr/>
        <p:txBody>
          <a:bodyPr/>
          <a:lstStyle/>
          <a:p/>
        </p:txBody>
      </p:sp>
      <p:sp>
        <p:nvSpPr>
          <p:cNvPr id="3" name="TextBox 2"/>
          <p:cNvSpPr txBox="1"/>
          <p:nvPr/>
        </p:nvSpPr>
        <p:spPr>
          <a:xfrm>
            <a:off x="548640" y="365760"/>
            <a:ext cx="11094415" cy="868680"/>
          </a:xfrm>
          <a:prstGeom prst="rect">
            <a:avLst/>
          </a:prstGeom>
          <a:noFill/>
        </p:spPr>
        <p:txBody>
          <a:bodyPr wrap="square" lIns="0" tIns="0" rIns="0" bIns="0">
            <a:spAutoFit/>
          </a:bodyPr>
          <a:lstStyle/>
          <a:p>
            <a:pPr>
              <a:defRPr sz="3400" b="1">
                <a:solidFill>
                  <a:srgbClr val="0B1426"/>
                </a:solidFill>
                <a:latin typeface="Cambria"/>
              </a:defRPr>
            </a:pPr>
            <a:r>
              <a:t>Surface Radiation Carries 21.3% of Total Heat Along Plate</a:t>
            </a:r>
          </a:p>
        </p:txBody>
      </p:sp>
      <p:sp>
        <p:nvSpPr>
          <p:cNvPr id="4" name="TextBox 3"/>
          <p:cNvSpPr txBox="1"/>
          <p:nvPr/>
        </p:nvSpPr>
        <p:spPr>
          <a:xfrm>
            <a:off x="11155680" y="6400800"/>
            <a:ext cx="548640" cy="274320"/>
          </a:xfrm>
          <a:prstGeom prst="rect">
            <a:avLst/>
          </a:prstGeom>
          <a:noFill/>
        </p:spPr>
        <p:txBody>
          <a:bodyPr wrap="none" lIns="0" tIns="0" rIns="0" bIns="0">
            <a:spAutoFit/>
          </a:bodyPr>
          <a:lstStyle/>
          <a:p>
            <a:pPr algn="r">
              <a:defRPr sz="1200">
                <a:solidFill>
                  <a:srgbClr val="7C8DB5"/>
                </a:solidFill>
                <a:latin typeface="Calibri"/>
              </a:defRPr>
            </a:pPr>
            <a:r>
              <a:t>7</a:t>
            </a:r>
          </a:p>
        </p:txBody>
      </p:sp>
      <p:sp>
        <p:nvSpPr>
          <p:cNvPr id="5" name="Rounded Rectangle 4"/>
          <p:cNvSpPr/>
          <p:nvPr/>
        </p:nvSpPr>
        <p:spPr>
          <a:xfrm>
            <a:off x="548640" y="1463040"/>
            <a:ext cx="6583680" cy="466344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wall_heat_balance_and_nusselt.png"/>
          <p:cNvPicPr>
            <a:picLocks noChangeAspect="1"/>
          </p:cNvPicPr>
          <p:nvPr/>
        </p:nvPicPr>
        <p:blipFill>
          <a:blip r:embed="rId2"/>
          <a:stretch>
            <a:fillRect/>
          </a:stretch>
        </p:blipFill>
        <p:spPr>
          <a:xfrm>
            <a:off x="731520" y="2510346"/>
            <a:ext cx="6217920" cy="2248787"/>
          </a:xfrm>
          <a:prstGeom prst="rect">
            <a:avLst/>
          </a:prstGeom>
        </p:spPr>
      </p:pic>
      <p:sp>
        <p:nvSpPr>
          <p:cNvPr id="7" name="TextBox 6"/>
          <p:cNvSpPr txBox="1"/>
          <p:nvPr/>
        </p:nvSpPr>
        <p:spPr>
          <a:xfrm>
            <a:off x="731520" y="5696712"/>
            <a:ext cx="6217920" cy="320040"/>
          </a:xfrm>
          <a:prstGeom prst="rect">
            <a:avLst/>
          </a:prstGeom>
          <a:noFill/>
        </p:spPr>
        <p:txBody>
          <a:bodyPr wrap="square" lIns="0" tIns="0" rIns="0" bIns="0">
            <a:spAutoFit/>
          </a:bodyPr>
          <a:lstStyle/>
          <a:p>
            <a:pPr>
              <a:defRPr sz="1100">
                <a:solidFill>
                  <a:srgbClr val="7C8DB5"/>
                </a:solidFill>
                <a:latin typeface="Calibri"/>
              </a:defRPr>
            </a:pPr>
            <a:r>
              <a:t>Fig. 6: Streamwise convective vs radiative heat-flux split and Nusselt number.</a:t>
            </a:r>
          </a:p>
        </p:txBody>
      </p:sp>
      <p:sp>
        <p:nvSpPr>
          <p:cNvPr id="8" name="Rounded Rectangle 7"/>
          <p:cNvSpPr/>
          <p:nvPr/>
        </p:nvSpPr>
        <p:spPr>
          <a:xfrm>
            <a:off x="7406640" y="1463040"/>
            <a:ext cx="4206240" cy="132588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554480"/>
            <a:ext cx="3840480" cy="1143000"/>
          </a:xfrm>
          <a:prstGeom prst="rect">
            <a:avLst/>
          </a:prstGeom>
          <a:noFill/>
        </p:spPr>
        <p:txBody>
          <a:bodyPr wrap="square" lIns="0" tIns="0" rIns="0" bIns="0">
            <a:spAutoFit/>
          </a:bodyPr>
          <a:lstStyle/>
          <a:p>
            <a:pPr>
              <a:defRPr sz="3600" b="1">
                <a:solidFill>
                  <a:srgbClr val="FF7A1A"/>
                </a:solidFill>
                <a:latin typeface="Cambria"/>
              </a:defRPr>
            </a:pPr>
            <a:r>
              <a:t>21.3%</a:t>
            </a:r>
          </a:p>
          <a:p>
            <a:pPr>
              <a:defRPr sz="1300" b="1">
                <a:solidFill>
                  <a:srgbClr val="0B1426"/>
                </a:solidFill>
                <a:latin typeface="Calibri"/>
              </a:defRPr>
            </a:pPr>
            <a:r>
              <a:t>Plate-Averaged Radiative Load</a:t>
            </a:r>
          </a:p>
          <a:p>
            <a:pPr>
              <a:defRPr sz="1100">
                <a:solidFill>
                  <a:srgbClr val="7C8DB5"/>
                </a:solidFill>
                <a:latin typeface="Calibri"/>
              </a:defRPr>
            </a:pPr>
            <a:r>
              <a:t>Mean flux: 213.2 W/m² (preliminary, fine-grid)</a:t>
            </a:r>
          </a:p>
        </p:txBody>
      </p:sp>
      <p:sp>
        <p:nvSpPr>
          <p:cNvPr id="10" name="Rounded Rectangle 9"/>
          <p:cNvSpPr/>
          <p:nvPr/>
        </p:nvSpPr>
        <p:spPr>
          <a:xfrm>
            <a:off x="7406640" y="2926080"/>
            <a:ext cx="4206240" cy="132588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0" y="3017520"/>
            <a:ext cx="3840480" cy="1143000"/>
          </a:xfrm>
          <a:prstGeom prst="rect">
            <a:avLst/>
          </a:prstGeom>
          <a:noFill/>
        </p:spPr>
        <p:txBody>
          <a:bodyPr wrap="square" lIns="0" tIns="0" rIns="0" bIns="0">
            <a:spAutoFit/>
          </a:bodyPr>
          <a:lstStyle/>
          <a:p>
            <a:pPr>
              <a:defRPr sz="3600" b="1">
                <a:solidFill>
                  <a:srgbClr val="23B5D3"/>
                </a:solidFill>
                <a:latin typeface="Cambria"/>
              </a:defRPr>
            </a:pPr>
            <a:r>
              <a:t>21.6%</a:t>
            </a:r>
          </a:p>
          <a:p>
            <a:pPr>
              <a:defRPr sz="1300" b="1">
                <a:solidFill>
                  <a:srgbClr val="0B1426"/>
                </a:solidFill>
                <a:latin typeface="Calibri"/>
              </a:defRPr>
            </a:pPr>
            <a:r>
              <a:t>Trailing-Edge Radiative Load</a:t>
            </a:r>
          </a:p>
          <a:p>
            <a:pPr>
              <a:defRPr sz="1100">
                <a:solidFill>
                  <a:srgbClr val="7C8DB5"/>
                </a:solidFill>
                <a:latin typeface="Calibri"/>
              </a:defRPr>
            </a:pPr>
            <a:r>
              <a:t>Trailing flux: 215.6 W/m² at x = 1.0 m</a:t>
            </a:r>
          </a:p>
        </p:txBody>
      </p:sp>
      <p:sp>
        <p:nvSpPr>
          <p:cNvPr id="12" name="Rounded Rectangle 11"/>
          <p:cNvSpPr/>
          <p:nvPr/>
        </p:nvSpPr>
        <p:spPr>
          <a:xfrm>
            <a:off x="7406640" y="4389120"/>
            <a:ext cx="4206240" cy="173736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4480560"/>
            <a:ext cx="3840480" cy="1554480"/>
          </a:xfrm>
          <a:prstGeom prst="rect">
            <a:avLst/>
          </a:prstGeom>
          <a:noFill/>
        </p:spPr>
        <p:txBody>
          <a:bodyPr wrap="square" lIns="0" tIns="0" rIns="0" bIns="0">
            <a:spAutoFit/>
          </a:bodyPr>
          <a:lstStyle/>
          <a:p>
            <a:pPr>
              <a:spcAft>
                <a:spcPts val="1000"/>
              </a:spcAft>
              <a:defRPr sz="1200">
                <a:solidFill>
                  <a:srgbClr val="0B1426"/>
                </a:solidFill>
                <a:latin typeface="Calibri"/>
              </a:defRPr>
            </a:pPr>
            <a:r>
              <a:t>•  Surface radiation relieves over one-fifth of the total heat dissipation load.</a:t>
            </a:r>
          </a:p>
          <a:p>
            <a:pPr>
              <a:spcAft>
                <a:spcPts val="1000"/>
              </a:spcAft>
              <a:defRPr sz="1200">
                <a:solidFill>
                  <a:srgbClr val="0B1426"/>
                </a:solidFill>
                <a:latin typeface="Calibri"/>
              </a:defRPr>
            </a:pPr>
            <a:r>
              <a:t>•  Radiative heat flux remains nearly uniform along the entire plate surface.</a:t>
            </a:r>
          </a:p>
          <a:p>
            <a:pPr>
              <a:spcAft>
                <a:spcPts val="1000"/>
              </a:spcAft>
              <a:defRPr sz="1200">
                <a:solidFill>
                  <a:srgbClr val="0B1426"/>
                </a:solidFill>
                <a:latin typeface="Calibri"/>
              </a:defRPr>
            </a:pPr>
            <a:r>
              <a:t>•  Convective flux drops downstream as thermal boundary layer growth increases resistance.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2F7"/>
        </a:solidFill>
        <a:effectLst/>
      </p:bgPr>
    </p:bg>
    <p:spTree>
      <p:nvGrpSpPr>
        <p:cNvPr id="1" name=""/>
        <p:cNvGrpSpPr/>
        <p:nvPr/>
      </p:nvGrpSpPr>
      <p:grpSpPr/>
      <p:sp>
        <p:nvSpPr>
          <p:cNvPr id="2" name="Title 1"/>
          <p:cNvSpPr>
            <a:spLocks noGrp="1"/>
          </p:cNvSpPr>
          <p:nvPr>
            <p:ph type="title" idx="100"/>
          </p:nvPr>
        </p:nvSpPr>
        <p:spPr/>
        <p:txBody>
          <a:bodyPr/>
          <a:lstStyle/>
          <a:p/>
        </p:txBody>
      </p:sp>
      <p:sp>
        <p:nvSpPr>
          <p:cNvPr id="3" name="TextBox 2"/>
          <p:cNvSpPr txBox="1"/>
          <p:nvPr/>
        </p:nvSpPr>
        <p:spPr>
          <a:xfrm>
            <a:off x="548640" y="365760"/>
            <a:ext cx="11094415" cy="868680"/>
          </a:xfrm>
          <a:prstGeom prst="rect">
            <a:avLst/>
          </a:prstGeom>
          <a:noFill/>
        </p:spPr>
        <p:txBody>
          <a:bodyPr wrap="square" lIns="0" tIns="0" rIns="0" bIns="0">
            <a:spAutoFit/>
          </a:bodyPr>
          <a:lstStyle/>
          <a:p>
            <a:pPr>
              <a:defRPr sz="3400" b="1">
                <a:solidFill>
                  <a:srgbClr val="0B1426"/>
                </a:solidFill>
                <a:latin typeface="Cambria"/>
              </a:defRPr>
            </a:pPr>
            <a:r>
              <a:t>Surface Radiation Depresses Peak Wall Temperature by 6.98 K</a:t>
            </a:r>
          </a:p>
        </p:txBody>
      </p:sp>
      <p:sp>
        <p:nvSpPr>
          <p:cNvPr id="4" name="TextBox 3"/>
          <p:cNvSpPr txBox="1"/>
          <p:nvPr/>
        </p:nvSpPr>
        <p:spPr>
          <a:xfrm>
            <a:off x="11155680" y="6400800"/>
            <a:ext cx="548640" cy="274320"/>
          </a:xfrm>
          <a:prstGeom prst="rect">
            <a:avLst/>
          </a:prstGeom>
          <a:noFill/>
        </p:spPr>
        <p:txBody>
          <a:bodyPr wrap="none" lIns="0" tIns="0" rIns="0" bIns="0">
            <a:spAutoFit/>
          </a:bodyPr>
          <a:lstStyle/>
          <a:p>
            <a:pPr algn="r">
              <a:defRPr sz="1200">
                <a:solidFill>
                  <a:srgbClr val="7C8DB5"/>
                </a:solidFill>
                <a:latin typeface="Calibri"/>
              </a:defRPr>
            </a:pPr>
            <a:r>
              <a:t>8</a:t>
            </a:r>
          </a:p>
        </p:txBody>
      </p:sp>
      <p:sp>
        <p:nvSpPr>
          <p:cNvPr id="5" name="Rounded Rectangle 4"/>
          <p:cNvSpPr/>
          <p:nvPr/>
        </p:nvSpPr>
        <p:spPr>
          <a:xfrm>
            <a:off x="548640" y="1463040"/>
            <a:ext cx="6766560" cy="466344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emperature_difference_zoom.png"/>
          <p:cNvPicPr>
            <a:picLocks noChangeAspect="1"/>
          </p:cNvPicPr>
          <p:nvPr/>
        </p:nvPicPr>
        <p:blipFill>
          <a:blip r:embed="rId2"/>
          <a:stretch>
            <a:fillRect/>
          </a:stretch>
        </p:blipFill>
        <p:spPr>
          <a:xfrm>
            <a:off x="731520" y="2241163"/>
            <a:ext cx="6400800" cy="2787153"/>
          </a:xfrm>
          <a:prstGeom prst="rect">
            <a:avLst/>
          </a:prstGeom>
        </p:spPr>
      </p:pic>
      <p:sp>
        <p:nvSpPr>
          <p:cNvPr id="7" name="TextBox 6"/>
          <p:cNvSpPr txBox="1"/>
          <p:nvPr/>
        </p:nvSpPr>
        <p:spPr>
          <a:xfrm>
            <a:off x="731520" y="5696712"/>
            <a:ext cx="6400800" cy="320040"/>
          </a:xfrm>
          <a:prstGeom prst="rect">
            <a:avLst/>
          </a:prstGeom>
          <a:noFill/>
        </p:spPr>
        <p:txBody>
          <a:bodyPr wrap="square" lIns="0" tIns="0" rIns="0" bIns="0">
            <a:spAutoFit/>
          </a:bodyPr>
          <a:lstStyle/>
          <a:p>
            <a:pPr>
              <a:defRPr sz="1100">
                <a:solidFill>
                  <a:srgbClr val="7C8DB5"/>
                </a:solidFill>
                <a:latin typeface="Calibri"/>
              </a:defRPr>
            </a:pPr>
            <a:r>
              <a:t>Fig. 7: Boundary layer temperature difference field (T_radiation - T_baseline).</a:t>
            </a:r>
          </a:p>
        </p:txBody>
      </p:sp>
      <p:sp>
        <p:nvSpPr>
          <p:cNvPr id="8" name="Rounded Rectangle 7"/>
          <p:cNvSpPr/>
          <p:nvPr/>
        </p:nvSpPr>
        <p:spPr>
          <a:xfrm>
            <a:off x="7589520" y="1463040"/>
            <a:ext cx="4023360" cy="466344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863840" y="1737360"/>
            <a:ext cx="3474720" cy="1097280"/>
          </a:xfrm>
          <a:prstGeom prst="round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1783080"/>
            <a:ext cx="3108960" cy="1005840"/>
          </a:xfrm>
          <a:prstGeom prst="rect">
            <a:avLst/>
          </a:prstGeom>
          <a:noFill/>
        </p:spPr>
        <p:txBody>
          <a:bodyPr wrap="square" lIns="0" tIns="0" rIns="0" bIns="0">
            <a:spAutoFit/>
          </a:bodyPr>
          <a:lstStyle/>
          <a:p>
            <a:pPr>
              <a:defRPr sz="3400" b="1">
                <a:solidFill>
                  <a:srgbClr val="23B5D3"/>
                </a:solidFill>
                <a:latin typeface="Cambria"/>
              </a:defRPr>
            </a:pPr>
            <a:r>
              <a:t>6.98 K Drop</a:t>
            </a:r>
          </a:p>
          <a:p>
            <a:pPr>
              <a:defRPr sz="1200" b="1">
                <a:solidFill>
                  <a:srgbClr val="0B1426"/>
                </a:solidFill>
                <a:latin typeface="Calibri"/>
              </a:defRPr>
            </a:pPr>
            <a:r>
              <a:t>Peak Wall Temperature Reduction (Fine Grid)</a:t>
            </a:r>
          </a:p>
        </p:txBody>
      </p:sp>
      <p:sp>
        <p:nvSpPr>
          <p:cNvPr id="11" name="TextBox 10"/>
          <p:cNvSpPr txBox="1"/>
          <p:nvPr/>
        </p:nvSpPr>
        <p:spPr>
          <a:xfrm>
            <a:off x="7863840" y="3108960"/>
            <a:ext cx="3474720" cy="2103120"/>
          </a:xfrm>
          <a:prstGeom prst="rect">
            <a:avLst/>
          </a:prstGeom>
          <a:noFill/>
        </p:spPr>
        <p:txBody>
          <a:bodyPr wrap="square" lIns="0" tIns="0" rIns="0" bIns="0">
            <a:spAutoFit/>
          </a:bodyPr>
          <a:lstStyle/>
          <a:p>
            <a:pPr>
              <a:spcAft>
                <a:spcPts val="1000"/>
              </a:spcAft>
              <a:defRPr sz="1300">
                <a:solidFill>
                  <a:srgbClr val="0B1426"/>
                </a:solidFill>
                <a:latin typeface="Calibri"/>
              </a:defRPr>
            </a:pPr>
            <a:r>
              <a:t>•  Radiation lowers plate wall temperature along the entire heated length.</a:t>
            </a:r>
          </a:p>
          <a:p>
            <a:pPr>
              <a:spcAft>
                <a:spcPts val="1000"/>
              </a:spcAft>
              <a:defRPr sz="1300">
                <a:solidFill>
                  <a:srgbClr val="0B1426"/>
                </a:solidFill>
                <a:latin typeface="Calibri"/>
              </a:defRPr>
            </a:pPr>
            <a:r>
              <a:t>•  Cooling effect intensifies downstream, reaching maximum depression of 6.98 K.</a:t>
            </a:r>
          </a:p>
          <a:p>
            <a:pPr>
              <a:spcAft>
                <a:spcPts val="1000"/>
              </a:spcAft>
              <a:defRPr sz="1300">
                <a:solidFill>
                  <a:srgbClr val="0B1426"/>
                </a:solidFill>
                <a:latin typeface="Calibri"/>
              </a:defRPr>
            </a:pPr>
            <a:r>
              <a:t>•  Thermal boundary layer thickness remains virtually unchanged across radiation cases.</a:t>
            </a:r>
          </a:p>
          <a:p>
            <a:pPr>
              <a:spcBef>
                <a:spcPts val="1200"/>
              </a:spcBef>
              <a:defRPr sz="1100">
                <a:solidFill>
                  <a:srgbClr val="7C8DB5"/>
                </a:solidFill>
                <a:latin typeface="Calibri"/>
              </a:defRPr>
            </a:pPr>
            <a:r>
              <a:t>Fine grid trailing edge: 336.70 K vs 343.68 K pure convection.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426"/>
        </a:solidFill>
        <a:effectLst/>
      </p:bgPr>
    </p:bg>
    <p:spTree>
      <p:nvGrpSpPr>
        <p:cNvPr id="1" name=""/>
        <p:cNvGrpSpPr/>
        <p:nvPr/>
      </p:nvGrpSpPr>
      <p:grpSpPr/>
      <p:sp>
        <p:nvSpPr>
          <p:cNvPr id="2" name="Title 1"/>
          <p:cNvSpPr>
            <a:spLocks noGrp="1"/>
          </p:cNvSpPr>
          <p:nvPr>
            <p:ph type="title" idx="100"/>
          </p:nvPr>
        </p:nvSpPr>
        <p:spPr/>
        <p:txBody>
          <a:bodyPr/>
          <a:lstStyle/>
          <a:p/>
        </p:txBody>
      </p:sp>
      <p:sp>
        <p:nvSpPr>
          <p:cNvPr id="3" name="TextBox 2"/>
          <p:cNvSpPr txBox="1"/>
          <p:nvPr/>
        </p:nvSpPr>
        <p:spPr>
          <a:xfrm>
            <a:off x="548640" y="365760"/>
            <a:ext cx="11094415" cy="868680"/>
          </a:xfrm>
          <a:prstGeom prst="rect">
            <a:avLst/>
          </a:prstGeom>
          <a:noFill/>
        </p:spPr>
        <p:txBody>
          <a:bodyPr wrap="square" lIns="0" tIns="0" rIns="0" bIns="0">
            <a:spAutoFit/>
          </a:bodyPr>
          <a:lstStyle/>
          <a:p>
            <a:pPr>
              <a:defRPr sz="3400" b="1">
                <a:solidFill>
                  <a:srgbClr val="FFFFFF"/>
                </a:solidFill>
                <a:latin typeface="Cambria"/>
              </a:defRPr>
            </a:pPr>
            <a:r>
              <a:t>Skin Friction Validates Against Blasius Within 0.11%</a:t>
            </a:r>
          </a:p>
        </p:txBody>
      </p:sp>
      <p:sp>
        <p:nvSpPr>
          <p:cNvPr id="4" name="TextBox 3"/>
          <p:cNvSpPr txBox="1"/>
          <p:nvPr/>
        </p:nvSpPr>
        <p:spPr>
          <a:xfrm>
            <a:off x="11155680" y="6400800"/>
            <a:ext cx="548640" cy="274320"/>
          </a:xfrm>
          <a:prstGeom prst="rect">
            <a:avLst/>
          </a:prstGeom>
          <a:noFill/>
        </p:spPr>
        <p:txBody>
          <a:bodyPr wrap="none" lIns="0" tIns="0" rIns="0" bIns="0">
            <a:spAutoFit/>
          </a:bodyPr>
          <a:lstStyle/>
          <a:p>
            <a:pPr algn="r">
              <a:defRPr sz="1200">
                <a:solidFill>
                  <a:srgbClr val="7C8DB5"/>
                </a:solidFill>
                <a:latin typeface="Calibri"/>
              </a:defRPr>
            </a:pPr>
            <a:r>
              <a:t>9</a:t>
            </a:r>
          </a:p>
        </p:txBody>
      </p:sp>
      <p:sp>
        <p:nvSpPr>
          <p:cNvPr id="5" name="Rounded Rectangle 4"/>
          <p:cNvSpPr/>
          <p:nvPr/>
        </p:nvSpPr>
        <p:spPr>
          <a:xfrm>
            <a:off x="548640" y="1463040"/>
            <a:ext cx="6766560" cy="466344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lasius_velocity_validation.png"/>
          <p:cNvPicPr>
            <a:picLocks noChangeAspect="1"/>
          </p:cNvPicPr>
          <p:nvPr/>
        </p:nvPicPr>
        <p:blipFill>
          <a:blip r:embed="rId2"/>
          <a:stretch>
            <a:fillRect/>
          </a:stretch>
        </p:blipFill>
        <p:spPr>
          <a:xfrm>
            <a:off x="959521" y="1627632"/>
            <a:ext cx="5944796" cy="4014216"/>
          </a:xfrm>
          <a:prstGeom prst="rect">
            <a:avLst/>
          </a:prstGeom>
        </p:spPr>
      </p:pic>
      <p:sp>
        <p:nvSpPr>
          <p:cNvPr id="7" name="TextBox 6"/>
          <p:cNvSpPr txBox="1"/>
          <p:nvPr/>
        </p:nvSpPr>
        <p:spPr>
          <a:xfrm>
            <a:off x="731520" y="5696712"/>
            <a:ext cx="6400800" cy="320040"/>
          </a:xfrm>
          <a:prstGeom prst="rect">
            <a:avLst/>
          </a:prstGeom>
          <a:noFill/>
        </p:spPr>
        <p:txBody>
          <a:bodyPr wrap="square" lIns="0" tIns="0" rIns="0" bIns="0">
            <a:spAutoFit/>
          </a:bodyPr>
          <a:lstStyle/>
          <a:p>
            <a:pPr>
              <a:defRPr sz="1100">
                <a:solidFill>
                  <a:srgbClr val="7C8DB5"/>
                </a:solidFill>
                <a:latin typeface="Calibri"/>
              </a:defRPr>
            </a:pPr>
            <a:r>
              <a:t>Fig. 8: Non-dimensional streamwise velocity collapse vs exact Blasius curve.</a:t>
            </a:r>
          </a:p>
        </p:txBody>
      </p:sp>
      <p:sp>
        <p:nvSpPr>
          <p:cNvPr id="8" name="Rounded Rectangle 7"/>
          <p:cNvSpPr/>
          <p:nvPr/>
        </p:nvSpPr>
        <p:spPr>
          <a:xfrm>
            <a:off x="7589520" y="1463040"/>
            <a:ext cx="4023360" cy="1371600"/>
          </a:xfrm>
          <a:prstGeom prst="roundRect">
            <a:avLst/>
          </a:prstGeom>
          <a:solidFill>
            <a:srgbClr val="162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0" y="1627632"/>
            <a:ext cx="3474720" cy="1051560"/>
          </a:xfrm>
          <a:prstGeom prst="rect">
            <a:avLst/>
          </a:prstGeom>
          <a:noFill/>
        </p:spPr>
        <p:txBody>
          <a:bodyPr wrap="square" lIns="0" tIns="0" rIns="0" bIns="0">
            <a:spAutoFit/>
          </a:bodyPr>
          <a:lstStyle/>
          <a:p>
            <a:pPr>
              <a:defRPr sz="3600" b="1">
                <a:solidFill>
                  <a:srgbClr val="FF7A1A"/>
                </a:solidFill>
                <a:latin typeface="Cambria"/>
              </a:defRPr>
            </a:pPr>
            <a:r>
              <a:t>0.11%</a:t>
            </a:r>
          </a:p>
          <a:p>
            <a:pPr>
              <a:defRPr sz="1200">
                <a:solidFill>
                  <a:srgbClr val="EEF2F7"/>
                </a:solidFill>
                <a:latin typeface="Calibri"/>
              </a:defRPr>
            </a:pPr>
            <a:r>
              <a:t>Skin-friction relative error vs Blasius (Cf = 1.874e-3 vs 1.872e-3)</a:t>
            </a:r>
          </a:p>
        </p:txBody>
      </p:sp>
      <p:sp>
        <p:nvSpPr>
          <p:cNvPr id="10" name="Rounded Rectangle 9"/>
          <p:cNvSpPr/>
          <p:nvPr/>
        </p:nvSpPr>
        <p:spPr>
          <a:xfrm>
            <a:off x="7589520" y="3017520"/>
            <a:ext cx="4023360" cy="1371600"/>
          </a:xfrm>
          <a:prstGeom prst="roundRect">
            <a:avLst/>
          </a:prstGeom>
          <a:solidFill>
            <a:srgbClr val="162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3182112"/>
            <a:ext cx="3474720" cy="1051560"/>
          </a:xfrm>
          <a:prstGeom prst="rect">
            <a:avLst/>
          </a:prstGeom>
          <a:noFill/>
        </p:spPr>
        <p:txBody>
          <a:bodyPr wrap="square" lIns="0" tIns="0" rIns="0" bIns="0">
            <a:spAutoFit/>
          </a:bodyPr>
          <a:lstStyle/>
          <a:p>
            <a:pPr>
              <a:defRPr sz="3600" b="1">
                <a:solidFill>
                  <a:srgbClr val="23B5D3"/>
                </a:solidFill>
                <a:latin typeface="Cambria"/>
              </a:defRPr>
            </a:pPr>
            <a:r>
              <a:t>1.26 × 10⁵</a:t>
            </a:r>
          </a:p>
          <a:p>
            <a:pPr>
              <a:defRPr sz="1200">
                <a:solidFill>
                  <a:srgbClr val="EEF2F7"/>
                </a:solidFill>
                <a:latin typeface="Calibri"/>
              </a:defRPr>
            </a:pPr>
            <a:r>
              <a:t>Plate Reynolds number (Re_L = U_inf L / ν) confirms laminar flow</a:t>
            </a:r>
          </a:p>
        </p:txBody>
      </p:sp>
      <p:sp>
        <p:nvSpPr>
          <p:cNvPr id="12" name="Rounded Rectangle 11"/>
          <p:cNvSpPr/>
          <p:nvPr/>
        </p:nvSpPr>
        <p:spPr>
          <a:xfrm>
            <a:off x="7589520" y="4572000"/>
            <a:ext cx="4023360" cy="1371600"/>
          </a:xfrm>
          <a:prstGeom prst="roundRect">
            <a:avLst/>
          </a:prstGeom>
          <a:solidFill>
            <a:srgbClr val="162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4736592"/>
            <a:ext cx="3474720" cy="1051560"/>
          </a:xfrm>
          <a:prstGeom prst="rect">
            <a:avLst/>
          </a:prstGeom>
          <a:noFill/>
        </p:spPr>
        <p:txBody>
          <a:bodyPr wrap="square" lIns="0" tIns="0" rIns="0" bIns="0">
            <a:spAutoFit/>
          </a:bodyPr>
          <a:lstStyle/>
          <a:p>
            <a:pPr>
              <a:defRPr sz="3600" b="1">
                <a:solidFill>
                  <a:srgbClr val="FFC24B"/>
                </a:solidFill>
                <a:latin typeface="Cambria"/>
              </a:defRPr>
            </a:pPr>
            <a:r>
              <a:t>Invariant</a:t>
            </a:r>
          </a:p>
          <a:p>
            <a:pPr>
              <a:defRPr sz="1200">
                <a:solidFill>
                  <a:srgbClr val="EEF2F7"/>
                </a:solidFill>
                <a:latin typeface="Calibri"/>
              </a:defRPr>
            </a:pPr>
            <a:r>
              <a:t>Velocity profiles strictly identical between radiating and baseline cases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426"/>
        </a:solidFill>
        <a:effectLst/>
      </p:bgPr>
    </p:bg>
    <p:spTree>
      <p:nvGrpSpPr>
        <p:cNvPr id="1" name=""/>
        <p:cNvGrpSpPr/>
        <p:nvPr/>
      </p:nvGrpSpPr>
      <p:grpSpPr/>
      <p:sp>
        <p:nvSpPr>
          <p:cNvPr id="2" name="Title 1"/>
          <p:cNvSpPr>
            <a:spLocks noGrp="1"/>
          </p:cNvSpPr>
          <p:nvPr>
            <p:ph type="title" idx="100"/>
          </p:nvPr>
        </p:nvSpPr>
        <p:spPr/>
        <p:txBody>
          <a:bodyPr/>
          <a:lstStyle/>
          <a:p/>
        </p:txBody>
      </p:sp>
      <p:sp>
        <p:nvSpPr>
          <p:cNvPr id="3" name="TextBox 2"/>
          <p:cNvSpPr txBox="1"/>
          <p:nvPr/>
        </p:nvSpPr>
        <p:spPr>
          <a:xfrm>
            <a:off x="548640" y="365760"/>
            <a:ext cx="11094415" cy="868680"/>
          </a:xfrm>
          <a:prstGeom prst="rect">
            <a:avLst/>
          </a:prstGeom>
          <a:noFill/>
        </p:spPr>
        <p:txBody>
          <a:bodyPr wrap="square" lIns="0" tIns="0" rIns="0" bIns="0">
            <a:spAutoFit/>
          </a:bodyPr>
          <a:lstStyle/>
          <a:p>
            <a:pPr>
              <a:defRPr sz="3400" b="1">
                <a:solidFill>
                  <a:srgbClr val="FFFFFF"/>
                </a:solidFill>
                <a:latin typeface="Cambria"/>
              </a:defRPr>
            </a:pPr>
            <a:r>
              <a:t>Thermal Boundary Layer Tracks Self-Similar Growth Dynamics</a:t>
            </a:r>
          </a:p>
        </p:txBody>
      </p:sp>
      <p:sp>
        <p:nvSpPr>
          <p:cNvPr id="4" name="TextBox 3"/>
          <p:cNvSpPr txBox="1"/>
          <p:nvPr/>
        </p:nvSpPr>
        <p:spPr>
          <a:xfrm>
            <a:off x="11155680" y="6400800"/>
            <a:ext cx="548640" cy="274320"/>
          </a:xfrm>
          <a:prstGeom prst="rect">
            <a:avLst/>
          </a:prstGeom>
          <a:noFill/>
        </p:spPr>
        <p:txBody>
          <a:bodyPr wrap="none" lIns="0" tIns="0" rIns="0" bIns="0">
            <a:spAutoFit/>
          </a:bodyPr>
          <a:lstStyle/>
          <a:p>
            <a:pPr algn="r">
              <a:defRPr sz="1200">
                <a:solidFill>
                  <a:srgbClr val="7C8DB5"/>
                </a:solidFill>
                <a:latin typeface="Calibri"/>
              </a:defRPr>
            </a:pPr>
            <a:r>
              <a:t>10</a:t>
            </a:r>
          </a:p>
        </p:txBody>
      </p:sp>
      <p:sp>
        <p:nvSpPr>
          <p:cNvPr id="5" name="Rounded Rectangle 4"/>
          <p:cNvSpPr/>
          <p:nvPr/>
        </p:nvSpPr>
        <p:spPr>
          <a:xfrm>
            <a:off x="548640" y="1463040"/>
            <a:ext cx="6766560" cy="466344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ohlhausen_thermal_validation.png"/>
          <p:cNvPicPr>
            <a:picLocks noChangeAspect="1"/>
          </p:cNvPicPr>
          <p:nvPr/>
        </p:nvPicPr>
        <p:blipFill>
          <a:blip r:embed="rId2"/>
          <a:stretch>
            <a:fillRect/>
          </a:stretch>
        </p:blipFill>
        <p:spPr>
          <a:xfrm>
            <a:off x="959521" y="1627632"/>
            <a:ext cx="5944796" cy="4014216"/>
          </a:xfrm>
          <a:prstGeom prst="rect">
            <a:avLst/>
          </a:prstGeom>
        </p:spPr>
      </p:pic>
      <p:sp>
        <p:nvSpPr>
          <p:cNvPr id="7" name="TextBox 6"/>
          <p:cNvSpPr txBox="1"/>
          <p:nvPr/>
        </p:nvSpPr>
        <p:spPr>
          <a:xfrm>
            <a:off x="731520" y="5696712"/>
            <a:ext cx="6400800" cy="320040"/>
          </a:xfrm>
          <a:prstGeom prst="rect">
            <a:avLst/>
          </a:prstGeom>
          <a:noFill/>
        </p:spPr>
        <p:txBody>
          <a:bodyPr wrap="square" lIns="0" tIns="0" rIns="0" bIns="0">
            <a:spAutoFit/>
          </a:bodyPr>
          <a:lstStyle/>
          <a:p>
            <a:pPr>
              <a:defRPr sz="1100">
                <a:solidFill>
                  <a:srgbClr val="7C8DB5"/>
                </a:solidFill>
                <a:latin typeface="Calibri"/>
              </a:defRPr>
            </a:pPr>
            <a:r>
              <a:t>Fig. 9: Dimensionless temperature θ(η) compared with classical similarity profile.</a:t>
            </a:r>
          </a:p>
        </p:txBody>
      </p:sp>
      <p:sp>
        <p:nvSpPr>
          <p:cNvPr id="8" name="Rounded Rectangle 7"/>
          <p:cNvSpPr/>
          <p:nvPr/>
        </p:nvSpPr>
        <p:spPr>
          <a:xfrm>
            <a:off x="7589520" y="1463040"/>
            <a:ext cx="4023360" cy="1371600"/>
          </a:xfrm>
          <a:prstGeom prst="roundRect">
            <a:avLst/>
          </a:prstGeom>
          <a:solidFill>
            <a:srgbClr val="162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0" y="1627632"/>
            <a:ext cx="3474720" cy="1051560"/>
          </a:xfrm>
          <a:prstGeom prst="rect">
            <a:avLst/>
          </a:prstGeom>
          <a:noFill/>
        </p:spPr>
        <p:txBody>
          <a:bodyPr wrap="square" lIns="0" tIns="0" rIns="0" bIns="0">
            <a:spAutoFit/>
          </a:bodyPr>
          <a:lstStyle/>
          <a:p>
            <a:pPr>
              <a:defRPr sz="3600" b="1">
                <a:solidFill>
                  <a:srgbClr val="FFC24B"/>
                </a:solidFill>
                <a:latin typeface="Cambria"/>
              </a:defRPr>
            </a:pPr>
            <a:r>
              <a:t>58.3%</a:t>
            </a:r>
          </a:p>
          <a:p>
            <a:pPr>
              <a:defRPr sz="1200">
                <a:solidFill>
                  <a:srgbClr val="EEF2F7"/>
                </a:solidFill>
                <a:latin typeface="Calibri"/>
              </a:defRPr>
            </a:pPr>
            <a:r>
              <a:t>Profile deviation vs isothermal Pohlhausen benchmark at x/L = 0.5</a:t>
            </a:r>
          </a:p>
        </p:txBody>
      </p:sp>
      <p:sp>
        <p:nvSpPr>
          <p:cNvPr id="10" name="Rounded Rectangle 9"/>
          <p:cNvSpPr/>
          <p:nvPr/>
        </p:nvSpPr>
        <p:spPr>
          <a:xfrm>
            <a:off x="7589520" y="3017520"/>
            <a:ext cx="4023360" cy="1371600"/>
          </a:xfrm>
          <a:prstGeom prst="roundRect">
            <a:avLst/>
          </a:prstGeom>
          <a:solidFill>
            <a:srgbClr val="162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3182112"/>
            <a:ext cx="3474720" cy="1051560"/>
          </a:xfrm>
          <a:prstGeom prst="rect">
            <a:avLst/>
          </a:prstGeom>
          <a:noFill/>
        </p:spPr>
        <p:txBody>
          <a:bodyPr wrap="square" lIns="0" tIns="0" rIns="0" bIns="0">
            <a:spAutoFit/>
          </a:bodyPr>
          <a:lstStyle/>
          <a:p>
            <a:pPr>
              <a:defRPr sz="3600" b="1">
                <a:solidFill>
                  <a:srgbClr val="23B5D3"/>
                </a:solidFill>
                <a:latin typeface="Cambria"/>
              </a:defRPr>
            </a:pPr>
            <a:r>
              <a:t>0.31</a:t>
            </a:r>
          </a:p>
          <a:p>
            <a:pPr>
              <a:defRPr sz="1200">
                <a:solidFill>
                  <a:srgbClr val="EEF2F7"/>
                </a:solidFill>
                <a:latin typeface="Calibri"/>
              </a:defRPr>
            </a:pPr>
            <a:r>
              <a:t>Mean dimensionless temperature difference |θ_CFD - θ_Pohl|</a:t>
            </a:r>
          </a:p>
        </p:txBody>
      </p:sp>
      <p:sp>
        <p:nvSpPr>
          <p:cNvPr id="12" name="Rounded Rectangle 11"/>
          <p:cNvSpPr/>
          <p:nvPr/>
        </p:nvSpPr>
        <p:spPr>
          <a:xfrm>
            <a:off x="7589520" y="4572000"/>
            <a:ext cx="4023360" cy="1371600"/>
          </a:xfrm>
          <a:prstGeom prst="roundRect">
            <a:avLst/>
          </a:prstGeom>
          <a:solidFill>
            <a:srgbClr val="162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4736592"/>
            <a:ext cx="3474720" cy="1051560"/>
          </a:xfrm>
          <a:prstGeom prst="rect">
            <a:avLst/>
          </a:prstGeom>
          <a:noFill/>
        </p:spPr>
        <p:txBody>
          <a:bodyPr wrap="square" lIns="0" tIns="0" rIns="0" bIns="0">
            <a:spAutoFit/>
          </a:bodyPr>
          <a:lstStyle/>
          <a:p>
            <a:pPr>
              <a:defRPr sz="3600" b="1">
                <a:solidFill>
                  <a:srgbClr val="FF7A1A"/>
                </a:solidFill>
                <a:latin typeface="Cambria"/>
              </a:defRPr>
            </a:pPr>
            <a:r>
              <a:t>q″ = Const</a:t>
            </a:r>
          </a:p>
          <a:p>
            <a:pPr>
              <a:defRPr sz="1200">
                <a:solidFill>
                  <a:srgbClr val="EEF2F7"/>
                </a:solidFill>
                <a:latin typeface="Calibri"/>
              </a:defRPr>
            </a:pPr>
            <a:r>
              <a:t>Physical shift caused by uniform heat flux vs isothermal wall condition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EF2F7"/>
        </a:solidFill>
        <a:effectLst/>
      </p:bgPr>
    </p:bg>
    <p:spTree>
      <p:nvGrpSpPr>
        <p:cNvPr id="1" name=""/>
        <p:cNvGrpSpPr/>
        <p:nvPr/>
      </p:nvGrpSpPr>
      <p:grpSpPr/>
      <p:sp>
        <p:nvSpPr>
          <p:cNvPr id="2" name="Title 1"/>
          <p:cNvSpPr>
            <a:spLocks noGrp="1"/>
          </p:cNvSpPr>
          <p:nvPr>
            <p:ph type="title" idx="100"/>
          </p:nvPr>
        </p:nvSpPr>
        <p:spPr/>
        <p:txBody>
          <a:bodyPr/>
          <a:lstStyle/>
          <a:p/>
        </p:txBody>
      </p:sp>
      <p:sp>
        <p:nvSpPr>
          <p:cNvPr id="3" name="TextBox 2"/>
          <p:cNvSpPr txBox="1"/>
          <p:nvPr/>
        </p:nvSpPr>
        <p:spPr>
          <a:xfrm>
            <a:off x="548640" y="365760"/>
            <a:ext cx="11094415" cy="868680"/>
          </a:xfrm>
          <a:prstGeom prst="rect">
            <a:avLst/>
          </a:prstGeom>
          <a:noFill/>
        </p:spPr>
        <p:txBody>
          <a:bodyPr wrap="square" lIns="0" tIns="0" rIns="0" bIns="0">
            <a:spAutoFit/>
          </a:bodyPr>
          <a:lstStyle/>
          <a:p>
            <a:pPr>
              <a:defRPr sz="3400" b="1">
                <a:solidFill>
                  <a:srgbClr val="0B1426"/>
                </a:solidFill>
                <a:latin typeface="Cambria"/>
              </a:defRPr>
            </a:pPr>
            <a:r>
              <a:t>Results Show Strong Grid Dependence and Require Further Refinement</a:t>
            </a:r>
          </a:p>
        </p:txBody>
      </p:sp>
      <p:sp>
        <p:nvSpPr>
          <p:cNvPr id="4" name="TextBox 3"/>
          <p:cNvSpPr txBox="1"/>
          <p:nvPr/>
        </p:nvSpPr>
        <p:spPr>
          <a:xfrm>
            <a:off x="11155680" y="6400800"/>
            <a:ext cx="548640" cy="274320"/>
          </a:xfrm>
          <a:prstGeom prst="rect">
            <a:avLst/>
          </a:prstGeom>
          <a:noFill/>
        </p:spPr>
        <p:txBody>
          <a:bodyPr wrap="none" lIns="0" tIns="0" rIns="0" bIns="0">
            <a:spAutoFit/>
          </a:bodyPr>
          <a:lstStyle/>
          <a:p>
            <a:pPr algn="r">
              <a:defRPr sz="1200">
                <a:solidFill>
                  <a:srgbClr val="7C8DB5"/>
                </a:solidFill>
                <a:latin typeface="Calibri"/>
              </a:defRPr>
            </a:pPr>
            <a:r>
              <a:t>11</a:t>
            </a:r>
          </a:p>
        </p:txBody>
      </p:sp>
      <p:sp>
        <p:nvSpPr>
          <p:cNvPr id="5" name="Rounded Rectangle 4"/>
          <p:cNvSpPr/>
          <p:nvPr/>
        </p:nvSpPr>
        <p:spPr>
          <a:xfrm>
            <a:off x="548640" y="1463040"/>
            <a:ext cx="6217920" cy="466344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rid_comparison.png"/>
          <p:cNvPicPr>
            <a:picLocks noChangeAspect="1"/>
          </p:cNvPicPr>
          <p:nvPr/>
        </p:nvPicPr>
        <p:blipFill>
          <a:blip r:embed="rId2"/>
          <a:stretch>
            <a:fillRect/>
          </a:stretch>
        </p:blipFill>
        <p:spPr>
          <a:xfrm>
            <a:off x="731520" y="2262872"/>
            <a:ext cx="5852160" cy="2743734"/>
          </a:xfrm>
          <a:prstGeom prst="rect">
            <a:avLst/>
          </a:prstGeom>
        </p:spPr>
      </p:pic>
      <p:sp>
        <p:nvSpPr>
          <p:cNvPr id="7" name="TextBox 6"/>
          <p:cNvSpPr txBox="1"/>
          <p:nvPr/>
        </p:nvSpPr>
        <p:spPr>
          <a:xfrm>
            <a:off x="731520" y="5696712"/>
            <a:ext cx="5852160" cy="320040"/>
          </a:xfrm>
          <a:prstGeom prst="rect">
            <a:avLst/>
          </a:prstGeom>
          <a:noFill/>
        </p:spPr>
        <p:txBody>
          <a:bodyPr wrap="square" lIns="0" tIns="0" rIns="0" bIns="0">
            <a:spAutoFit/>
          </a:bodyPr>
          <a:lstStyle/>
          <a:p>
            <a:pPr>
              <a:defRPr sz="1100">
                <a:solidFill>
                  <a:srgbClr val="7C8DB5"/>
                </a:solidFill>
                <a:latin typeface="Calibri"/>
              </a:defRPr>
            </a:pPr>
            <a:r>
              <a:t>Fig. 10: Coarse (16,000 cells) vs fine (64,000 cells) grid comparison.</a:t>
            </a:r>
          </a:p>
        </p:txBody>
      </p:sp>
      <p:sp>
        <p:nvSpPr>
          <p:cNvPr id="8" name="Rounded Rectangle 7"/>
          <p:cNvSpPr/>
          <p:nvPr/>
        </p:nvSpPr>
        <p:spPr>
          <a:xfrm>
            <a:off x="7040880" y="1463040"/>
            <a:ext cx="2240280" cy="356616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78040" y="1645920"/>
            <a:ext cx="1965960" cy="3200400"/>
          </a:xfrm>
          <a:prstGeom prst="rect">
            <a:avLst/>
          </a:prstGeom>
          <a:noFill/>
        </p:spPr>
        <p:txBody>
          <a:bodyPr wrap="square" lIns="0" tIns="0" rIns="0" bIns="0">
            <a:spAutoFit/>
          </a:bodyPr>
          <a:lstStyle/>
          <a:p>
            <a:pPr>
              <a:defRPr sz="1800" b="1">
                <a:solidFill>
                  <a:srgbClr val="0B1426"/>
                </a:solidFill>
                <a:latin typeface="Cambria"/>
              </a:defRPr>
            </a:pPr>
            <a:r>
              <a:t>Coarse (16k)</a:t>
            </a:r>
          </a:p>
          <a:p>
            <a:pPr>
              <a:spcBef>
                <a:spcPts val="800"/>
              </a:spcBef>
              <a:defRPr sz="1100">
                <a:latin typeface="Calibri"/>
              </a:defRPr>
            </a:pPr>
            <a:r>
              <a:t>Baseline Tw:</a:t>
            </a:r>
          </a:p>
          <a:p>
            <a:pPr>
              <a:defRPr sz="2200" b="1">
                <a:solidFill>
                  <a:srgbClr val="FF7A1A"/>
                </a:solidFill>
                <a:latin typeface="Cambria"/>
              </a:defRPr>
            </a:pPr>
            <a:r>
              <a:t>394.9 K</a:t>
            </a:r>
          </a:p>
          <a:p>
            <a:pPr>
              <a:spcBef>
                <a:spcPts val="600"/>
              </a:spcBef>
              <a:defRPr sz="1100">
                <a:latin typeface="Calibri"/>
              </a:defRPr>
            </a:pPr>
            <a:r>
              <a:t>Radiation Benefit:</a:t>
            </a:r>
          </a:p>
          <a:p>
            <a:pPr>
              <a:defRPr sz="2000" b="1">
                <a:solidFill>
                  <a:srgbClr val="23B5D3"/>
                </a:solidFill>
                <a:latin typeface="Cambria"/>
              </a:defRPr>
            </a:pPr>
            <a:r>
              <a:t>30.5 K drop</a:t>
            </a:r>
          </a:p>
          <a:p>
            <a:pPr>
              <a:spcBef>
                <a:spcPts val="600"/>
              </a:spcBef>
              <a:defRPr sz="1100">
                <a:solidFill>
                  <a:srgbClr val="7C8DB5"/>
                </a:solidFill>
                <a:latin typeface="Calibri"/>
              </a:defRPr>
            </a:pPr>
            <a:r>
              <a:t>Rad Fraction: 43.2%</a:t>
            </a:r>
          </a:p>
        </p:txBody>
      </p:sp>
      <p:sp>
        <p:nvSpPr>
          <p:cNvPr id="10" name="Rounded Rectangle 9"/>
          <p:cNvSpPr/>
          <p:nvPr/>
        </p:nvSpPr>
        <p:spPr>
          <a:xfrm>
            <a:off x="9464040" y="1463040"/>
            <a:ext cx="2240280" cy="356616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0" y="1645920"/>
            <a:ext cx="1965960" cy="3200400"/>
          </a:xfrm>
          <a:prstGeom prst="rect">
            <a:avLst/>
          </a:prstGeom>
          <a:noFill/>
        </p:spPr>
        <p:txBody>
          <a:bodyPr wrap="square" lIns="0" tIns="0" rIns="0" bIns="0">
            <a:spAutoFit/>
          </a:bodyPr>
          <a:lstStyle/>
          <a:p>
            <a:pPr>
              <a:defRPr sz="1800" b="1">
                <a:solidFill>
                  <a:srgbClr val="0B1426"/>
                </a:solidFill>
                <a:latin typeface="Cambria"/>
              </a:defRPr>
            </a:pPr>
            <a:r>
              <a:t>Fine (64k)</a:t>
            </a:r>
          </a:p>
          <a:p>
            <a:pPr>
              <a:spcBef>
                <a:spcPts val="800"/>
              </a:spcBef>
              <a:defRPr sz="1100">
                <a:latin typeface="Calibri"/>
              </a:defRPr>
            </a:pPr>
            <a:r>
              <a:t>Baseline Tw:</a:t>
            </a:r>
          </a:p>
          <a:p>
            <a:pPr>
              <a:defRPr sz="2200" b="1">
                <a:solidFill>
                  <a:srgbClr val="FF7A1A"/>
                </a:solidFill>
                <a:latin typeface="Cambria"/>
              </a:defRPr>
            </a:pPr>
            <a:r>
              <a:t>343.7 K</a:t>
            </a:r>
          </a:p>
          <a:p>
            <a:pPr>
              <a:spcBef>
                <a:spcPts val="600"/>
              </a:spcBef>
              <a:defRPr sz="1100">
                <a:latin typeface="Calibri"/>
              </a:defRPr>
            </a:pPr>
            <a:r>
              <a:t>Radiation Benefit:</a:t>
            </a:r>
          </a:p>
          <a:p>
            <a:pPr>
              <a:defRPr sz="2000" b="1">
                <a:solidFill>
                  <a:srgbClr val="23B5D3"/>
                </a:solidFill>
                <a:latin typeface="Cambria"/>
              </a:defRPr>
            </a:pPr>
            <a:r>
              <a:t>6.98 K drop</a:t>
            </a:r>
          </a:p>
          <a:p>
            <a:pPr>
              <a:spcBef>
                <a:spcPts val="600"/>
              </a:spcBef>
              <a:defRPr sz="1100">
                <a:solidFill>
                  <a:srgbClr val="7C8DB5"/>
                </a:solidFill>
                <a:latin typeface="Calibri"/>
              </a:defRPr>
            </a:pPr>
            <a:r>
              <a:t>Rad Fraction: 21.6%</a:t>
            </a:r>
          </a:p>
        </p:txBody>
      </p:sp>
      <p:sp>
        <p:nvSpPr>
          <p:cNvPr id="12" name="Rounded Rectangle 11"/>
          <p:cNvSpPr/>
          <p:nvPr/>
        </p:nvSpPr>
        <p:spPr>
          <a:xfrm>
            <a:off x="7040880" y="5212080"/>
            <a:ext cx="4663440" cy="91440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78040" y="5285232"/>
            <a:ext cx="4389120" cy="777240"/>
          </a:xfrm>
          <a:prstGeom prst="rect">
            <a:avLst/>
          </a:prstGeom>
          <a:noFill/>
        </p:spPr>
        <p:txBody>
          <a:bodyPr wrap="square" lIns="0" tIns="0" rIns="0" bIns="0">
            <a:spAutoFit/>
          </a:bodyPr>
          <a:lstStyle/>
          <a:p>
            <a:pPr>
              <a:defRPr sz="1300" b="1">
                <a:solidFill>
                  <a:srgbClr val="E5484D"/>
                </a:solidFill>
                <a:latin typeface="Cambria"/>
              </a:defRPr>
            </a:pPr>
            <a:r>
              <a:t>Status: Results are not yet grid-converged</a:t>
            </a:r>
          </a:p>
          <a:p>
            <a:pPr>
              <a:defRPr sz="1100">
                <a:solidFill>
                  <a:srgbClr val="0B1426"/>
                </a:solidFill>
                <a:latin typeface="Calibri"/>
              </a:defRPr>
            </a:pPr>
            <a:r>
              <a:t>A 51.2 K baseline shift indicates substantial mesh sensitivity.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EF2F7"/>
        </a:solidFill>
        <a:effectLst/>
      </p:bgPr>
    </p:bg>
    <p:spTree>
      <p:nvGrpSpPr>
        <p:cNvPr id="1" name=""/>
        <p:cNvGrpSpPr/>
        <p:nvPr/>
      </p:nvGrpSpPr>
      <p:grpSpPr/>
      <p:sp>
        <p:nvSpPr>
          <p:cNvPr id="2" name="Title 1"/>
          <p:cNvSpPr>
            <a:spLocks noGrp="1"/>
          </p:cNvSpPr>
          <p:nvPr>
            <p:ph type="title" idx="100"/>
          </p:nvPr>
        </p:nvSpPr>
        <p:spPr/>
        <p:txBody>
          <a:bodyPr/>
          <a:lstStyle/>
          <a:p/>
        </p:txBody>
      </p:sp>
      <p:sp>
        <p:nvSpPr>
          <p:cNvPr id="3" name="TextBox 2"/>
          <p:cNvSpPr txBox="1"/>
          <p:nvPr/>
        </p:nvSpPr>
        <p:spPr>
          <a:xfrm>
            <a:off x="548640" y="365760"/>
            <a:ext cx="11094415" cy="868680"/>
          </a:xfrm>
          <a:prstGeom prst="rect">
            <a:avLst/>
          </a:prstGeom>
          <a:noFill/>
        </p:spPr>
        <p:txBody>
          <a:bodyPr wrap="square" lIns="0" tIns="0" rIns="0" bIns="0">
            <a:spAutoFit/>
          </a:bodyPr>
          <a:lstStyle/>
          <a:p>
            <a:pPr>
              <a:defRPr sz="3400" b="1">
                <a:solidFill>
                  <a:srgbClr val="0B1426"/>
                </a:solidFill>
                <a:latin typeface="Cambria"/>
              </a:defRPr>
            </a:pPr>
            <a:r>
              <a:t>Observed Radiation Trends Align with Boundary Layer Literature</a:t>
            </a:r>
          </a:p>
        </p:txBody>
      </p:sp>
      <p:sp>
        <p:nvSpPr>
          <p:cNvPr id="4" name="TextBox 3"/>
          <p:cNvSpPr txBox="1"/>
          <p:nvPr/>
        </p:nvSpPr>
        <p:spPr>
          <a:xfrm>
            <a:off x="11155680" y="6400800"/>
            <a:ext cx="548640" cy="274320"/>
          </a:xfrm>
          <a:prstGeom prst="rect">
            <a:avLst/>
          </a:prstGeom>
          <a:noFill/>
        </p:spPr>
        <p:txBody>
          <a:bodyPr wrap="none" lIns="0" tIns="0" rIns="0" bIns="0">
            <a:spAutoFit/>
          </a:bodyPr>
          <a:lstStyle/>
          <a:p>
            <a:pPr algn="r">
              <a:defRPr sz="1200">
                <a:solidFill>
                  <a:srgbClr val="7C8DB5"/>
                </a:solidFill>
                <a:latin typeface="Calibri"/>
              </a:defRPr>
            </a:pPr>
            <a:r>
              <a:t>12</a:t>
            </a:r>
          </a:p>
        </p:txBody>
      </p:sp>
      <p:sp>
        <p:nvSpPr>
          <p:cNvPr id="5" name="Rounded Rectangle 4"/>
          <p:cNvSpPr/>
          <p:nvPr/>
        </p:nvSpPr>
        <p:spPr>
          <a:xfrm>
            <a:off x="548640" y="1463040"/>
            <a:ext cx="6400800" cy="466344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esearch_paper_radiation_analogy.png"/>
          <p:cNvPicPr>
            <a:picLocks noChangeAspect="1"/>
          </p:cNvPicPr>
          <p:nvPr/>
        </p:nvPicPr>
        <p:blipFill>
          <a:blip r:embed="rId2"/>
          <a:stretch>
            <a:fillRect/>
          </a:stretch>
        </p:blipFill>
        <p:spPr>
          <a:xfrm>
            <a:off x="731520" y="2248136"/>
            <a:ext cx="6035040" cy="2773207"/>
          </a:xfrm>
          <a:prstGeom prst="rect">
            <a:avLst/>
          </a:prstGeom>
        </p:spPr>
      </p:pic>
      <p:sp>
        <p:nvSpPr>
          <p:cNvPr id="7" name="TextBox 6"/>
          <p:cNvSpPr txBox="1"/>
          <p:nvPr/>
        </p:nvSpPr>
        <p:spPr>
          <a:xfrm>
            <a:off x="731520" y="5696712"/>
            <a:ext cx="6035040" cy="320040"/>
          </a:xfrm>
          <a:prstGeom prst="rect">
            <a:avLst/>
          </a:prstGeom>
          <a:noFill/>
        </p:spPr>
        <p:txBody>
          <a:bodyPr wrap="square" lIns="0" tIns="0" rIns="0" bIns="0">
            <a:spAutoFit/>
          </a:bodyPr>
          <a:lstStyle/>
          <a:p>
            <a:pPr>
              <a:defRPr sz="1100">
                <a:solidFill>
                  <a:srgbClr val="7C8DB5"/>
                </a:solidFill>
                <a:latin typeface="Calibri"/>
              </a:defRPr>
            </a:pPr>
            <a:r>
              <a:t>Fig. 11: Qualitative comparison of radiation cooling mechanisms in boundary layers.</a:t>
            </a:r>
          </a:p>
        </p:txBody>
      </p:sp>
      <p:sp>
        <p:nvSpPr>
          <p:cNvPr id="8" name="Rounded Rectangle 7"/>
          <p:cNvSpPr/>
          <p:nvPr/>
        </p:nvSpPr>
        <p:spPr>
          <a:xfrm>
            <a:off x="7223760" y="1463040"/>
            <a:ext cx="4389120" cy="466344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79" y="1737360"/>
            <a:ext cx="3840480" cy="2103120"/>
          </a:xfrm>
          <a:prstGeom prst="rect">
            <a:avLst/>
          </a:prstGeom>
          <a:noFill/>
        </p:spPr>
        <p:txBody>
          <a:bodyPr wrap="square" lIns="0" tIns="0" rIns="0" bIns="0">
            <a:spAutoFit/>
          </a:bodyPr>
          <a:lstStyle/>
          <a:p>
            <a:pPr>
              <a:spcAft>
                <a:spcPts val="1000"/>
              </a:spcAft>
              <a:defRPr sz="1300" b="1">
                <a:solidFill>
                  <a:srgbClr val="0B1426"/>
                </a:solidFill>
                <a:latin typeface="Calibri"/>
              </a:defRPr>
            </a:pPr>
            <a:r>
              <a:t>•  Reddy et al. (2014) reported consistent wall cooling in radiative boundary layers.</a:t>
            </a:r>
          </a:p>
          <a:p>
            <a:pPr>
              <a:spcAft>
                <a:spcPts val="1000"/>
              </a:spcAft>
              <a:defRPr sz="1200">
                <a:solidFill>
                  <a:srgbClr val="7C8DB5"/>
                </a:solidFill>
                <a:latin typeface="Calibri"/>
              </a:defRPr>
            </a:pPr>
            <a:r>
              <a:t>(Qualitative only — consistent in trend)</a:t>
            </a:r>
          </a:p>
          <a:p>
            <a:pPr>
              <a:spcAft>
                <a:spcPts val="1000"/>
              </a:spcAft>
              <a:defRPr sz="1300">
                <a:solidFill>
                  <a:srgbClr val="0B1426"/>
                </a:solidFill>
                <a:latin typeface="Calibri"/>
              </a:defRPr>
            </a:pPr>
            <a:r>
              <a:t>•  Raju et al. (2026) observed comparable non-linear radiative heat flux partitioning.</a:t>
            </a:r>
          </a:p>
          <a:p>
            <a:pPr>
              <a:spcAft>
                <a:spcPts val="1000"/>
              </a:spcAft>
              <a:defRPr sz="1300">
                <a:solidFill>
                  <a:srgbClr val="0B1426"/>
                </a:solidFill>
                <a:latin typeface="Calibri"/>
              </a:defRPr>
            </a:pPr>
            <a:r>
              <a:t>•  Studies address differing configurations; trends are consistent but not direct validations.</a:t>
            </a:r>
          </a:p>
        </p:txBody>
      </p:sp>
      <p:sp>
        <p:nvSpPr>
          <p:cNvPr id="10" name="Rounded Rectangle 9"/>
          <p:cNvSpPr/>
          <p:nvPr/>
        </p:nvSpPr>
        <p:spPr>
          <a:xfrm>
            <a:off x="7406640" y="4114800"/>
            <a:ext cx="4023360" cy="1828800"/>
          </a:xfrm>
          <a:prstGeom prst="round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43800" y="4206240"/>
            <a:ext cx="3749039" cy="1645920"/>
          </a:xfrm>
          <a:prstGeom prst="rect">
            <a:avLst/>
          </a:prstGeom>
          <a:noFill/>
        </p:spPr>
        <p:txBody>
          <a:bodyPr wrap="square" lIns="0" tIns="0" rIns="0" bIns="0">
            <a:spAutoFit/>
          </a:bodyPr>
          <a:lstStyle/>
          <a:p>
            <a:pPr>
              <a:spcAft>
                <a:spcPts val="400"/>
              </a:spcAft>
              <a:defRPr sz="1200" b="1">
                <a:solidFill>
                  <a:srgbClr val="0B1426"/>
                </a:solidFill>
                <a:latin typeface="Calibri"/>
              </a:defRPr>
            </a:pPr>
            <a:r>
              <a:t>Physical Regime Distinctions</a:t>
            </a:r>
          </a:p>
          <a:p>
            <a:pPr>
              <a:defRPr sz="1100">
                <a:solidFill>
                  <a:srgbClr val="7C8DB5"/>
                </a:solidFill>
                <a:latin typeface="Calibri"/>
              </a:defRPr>
            </a:pPr>
            <a:r>
              <a:t>Reddy (2014): MHD vertical plate with Rosseland radiation model.</a:t>
            </a:r>
          </a:p>
          <a:p>
            <a:pPr>
              <a:defRPr sz="1100">
                <a:solidFill>
                  <a:srgbClr val="7C8DB5"/>
                </a:solidFill>
                <a:latin typeface="Calibri"/>
              </a:defRPr>
            </a:pPr>
            <a:r>
              <a:t>Raju (2026): Darcy-Brinkman porous medium flow equations.</a:t>
            </a:r>
          </a:p>
          <a:p>
            <a:pPr>
              <a:defRPr sz="1100">
                <a:solidFill>
                  <a:srgbClr val="FF7A1A"/>
                </a:solidFill>
                <a:latin typeface="Calibri"/>
              </a:defRPr>
            </a:pPr>
            <a:r>
              <a:t>Present CFD: Plain flat-plate surface radiation in clear air.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EF2F7"/>
        </a:solidFill>
        <a:effectLst/>
      </p:bgPr>
    </p:bg>
    <p:spTree>
      <p:nvGrpSpPr>
        <p:cNvPr id="1" name=""/>
        <p:cNvGrpSpPr/>
        <p:nvPr/>
      </p:nvGrpSpPr>
      <p:grpSpPr/>
      <p:sp>
        <p:nvSpPr>
          <p:cNvPr id="2" name="Title 1"/>
          <p:cNvSpPr>
            <a:spLocks noGrp="1"/>
          </p:cNvSpPr>
          <p:nvPr>
            <p:ph type="title" idx="100"/>
          </p:nvPr>
        </p:nvSpPr>
        <p:spPr/>
        <p:txBody>
          <a:bodyPr/>
          <a:lstStyle/>
          <a:p/>
        </p:txBody>
      </p:sp>
      <p:sp>
        <p:nvSpPr>
          <p:cNvPr id="3" name="TextBox 2"/>
          <p:cNvSpPr txBox="1"/>
          <p:nvPr/>
        </p:nvSpPr>
        <p:spPr>
          <a:xfrm>
            <a:off x="548640" y="365760"/>
            <a:ext cx="11094415" cy="868680"/>
          </a:xfrm>
          <a:prstGeom prst="rect">
            <a:avLst/>
          </a:prstGeom>
          <a:noFill/>
        </p:spPr>
        <p:txBody>
          <a:bodyPr wrap="square" lIns="0" tIns="0" rIns="0" bIns="0">
            <a:spAutoFit/>
          </a:bodyPr>
          <a:lstStyle/>
          <a:p>
            <a:pPr>
              <a:defRPr sz="3400" b="1">
                <a:solidFill>
                  <a:srgbClr val="0B1426"/>
                </a:solidFill>
                <a:latin typeface="Cambria"/>
              </a:defRPr>
            </a:pPr>
            <a:r>
              <a:t>Planned Refinements Focus on GCI Audit and Global Energy Closure</a:t>
            </a:r>
          </a:p>
        </p:txBody>
      </p:sp>
      <p:sp>
        <p:nvSpPr>
          <p:cNvPr id="4" name="TextBox 3"/>
          <p:cNvSpPr txBox="1"/>
          <p:nvPr/>
        </p:nvSpPr>
        <p:spPr>
          <a:xfrm>
            <a:off x="11155680" y="6400800"/>
            <a:ext cx="548640" cy="274320"/>
          </a:xfrm>
          <a:prstGeom prst="rect">
            <a:avLst/>
          </a:prstGeom>
          <a:noFill/>
        </p:spPr>
        <p:txBody>
          <a:bodyPr wrap="none" lIns="0" tIns="0" rIns="0" bIns="0">
            <a:spAutoFit/>
          </a:bodyPr>
          <a:lstStyle/>
          <a:p>
            <a:pPr algn="r">
              <a:defRPr sz="1200">
                <a:solidFill>
                  <a:srgbClr val="7C8DB5"/>
                </a:solidFill>
                <a:latin typeface="Calibri"/>
              </a:defRPr>
            </a:pPr>
            <a:r>
              <a:t>13</a:t>
            </a:r>
          </a:p>
        </p:txBody>
      </p:sp>
      <p:sp>
        <p:nvSpPr>
          <p:cNvPr id="5" name="Rounded Rectangle 4"/>
          <p:cNvSpPr/>
          <p:nvPr/>
        </p:nvSpPr>
        <p:spPr>
          <a:xfrm>
            <a:off x="548640" y="1463040"/>
            <a:ext cx="5394960" cy="466344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4846320" cy="4114800"/>
          </a:xfrm>
          <a:prstGeom prst="rect">
            <a:avLst/>
          </a:prstGeom>
          <a:noFill/>
        </p:spPr>
        <p:txBody>
          <a:bodyPr wrap="square" lIns="0" tIns="0" rIns="0" bIns="0">
            <a:spAutoFit/>
          </a:bodyPr>
          <a:lstStyle/>
          <a:p>
            <a:pPr>
              <a:spcAft>
                <a:spcPts val="1000"/>
              </a:spcAft>
              <a:defRPr sz="1500" b="1">
                <a:solidFill>
                  <a:srgbClr val="0B1426"/>
                </a:solidFill>
                <a:latin typeface="Calibri"/>
              </a:defRPr>
            </a:pPr>
            <a:r>
              <a:t>•  Two-grid study without third refinement precludes formal ASME GCI calculation.</a:t>
            </a:r>
          </a:p>
          <a:p>
            <a:pPr>
              <a:spcAft>
                <a:spcPts val="1000"/>
              </a:spcAft>
              <a:defRPr sz="1500">
                <a:solidFill>
                  <a:srgbClr val="0B1426"/>
                </a:solidFill>
                <a:latin typeface="Calibri"/>
              </a:defRPr>
            </a:pPr>
            <a:r>
              <a:t>•  Constant fluid properties neglect air density and thermal conductivity temperature variation.</a:t>
            </a:r>
          </a:p>
          <a:p>
            <a:pPr>
              <a:spcAft>
                <a:spcPts val="1000"/>
              </a:spcAft>
              <a:defRPr sz="1500">
                <a:solidFill>
                  <a:srgbClr val="0B1426"/>
                </a:solidFill>
                <a:latin typeface="Calibri"/>
              </a:defRPr>
            </a:pPr>
            <a:r>
              <a:t>•  Optically transparent fluid assumption omits potential gas-phase absorption and emission.</a:t>
            </a:r>
          </a:p>
          <a:p>
            <a:pPr>
              <a:spcBef>
                <a:spcPts val="2400"/>
              </a:spcBef>
              <a:defRPr sz="1200">
                <a:solidFill>
                  <a:srgbClr val="7C8DB5"/>
                </a:solidFill>
                <a:latin typeface="Calibri"/>
              </a:defRPr>
            </a:pPr>
            <a:r>
              <a:t>Audit status: Disclosed upfront to guide future experimental verification.</a:t>
            </a:r>
          </a:p>
        </p:txBody>
      </p:sp>
      <p:sp>
        <p:nvSpPr>
          <p:cNvPr id="7" name="Rounded Rectangle 6"/>
          <p:cNvSpPr/>
          <p:nvPr/>
        </p:nvSpPr>
        <p:spPr>
          <a:xfrm>
            <a:off x="6217920" y="1463040"/>
            <a:ext cx="5394960" cy="466344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737360"/>
            <a:ext cx="4846320" cy="548640"/>
          </a:xfrm>
          <a:prstGeom prst="rect">
            <a:avLst/>
          </a:prstGeom>
          <a:noFill/>
        </p:spPr>
        <p:txBody>
          <a:bodyPr wrap="none" lIns="0" tIns="0" rIns="0" bIns="0">
            <a:spAutoFit/>
          </a:bodyPr>
          <a:lstStyle/>
          <a:p>
            <a:pPr>
              <a:defRPr sz="2400" b="1">
                <a:solidFill>
                  <a:srgbClr val="0B1426"/>
                </a:solidFill>
                <a:latin typeface="Cambria"/>
              </a:defRPr>
            </a:pPr>
            <a:r>
              <a:t>Roadmap Milestones</a:t>
            </a:r>
          </a:p>
        </p:txBody>
      </p:sp>
      <p:sp>
        <p:nvSpPr>
          <p:cNvPr id="9" name="Rounded Rectangle 8"/>
          <p:cNvSpPr/>
          <p:nvPr/>
        </p:nvSpPr>
        <p:spPr>
          <a:xfrm>
            <a:off x="6492240" y="2377440"/>
            <a:ext cx="4846320" cy="1051560"/>
          </a:xfrm>
          <a:prstGeom prst="round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0" y="2423160"/>
            <a:ext cx="4480560" cy="960120"/>
          </a:xfrm>
          <a:prstGeom prst="rect">
            <a:avLst/>
          </a:prstGeom>
          <a:noFill/>
        </p:spPr>
        <p:txBody>
          <a:bodyPr wrap="square" lIns="0" tIns="0">
            <a:spAutoFit/>
          </a:bodyPr>
          <a:lstStyle/>
          <a:p>
            <a:pPr>
              <a:defRPr sz="2200" b="1">
                <a:solidFill>
                  <a:srgbClr val="FF7A1A"/>
                </a:solidFill>
                <a:latin typeface="Cambria"/>
              </a:defRPr>
            </a:pPr>
            <a:r>
              <a:t>800 × 320 Cells</a:t>
            </a:r>
          </a:p>
          <a:p>
            <a:pPr>
              <a:defRPr sz="1200">
                <a:solidFill>
                  <a:srgbClr val="0B1426"/>
                </a:solidFill>
                <a:latin typeface="Calibri"/>
              </a:defRPr>
            </a:pPr>
            <a:r>
              <a:t>Execute 3rd mesh level to establish formal ASME GCI error bars</a:t>
            </a:r>
          </a:p>
        </p:txBody>
      </p:sp>
      <p:sp>
        <p:nvSpPr>
          <p:cNvPr id="11" name="Rounded Rectangle 10"/>
          <p:cNvSpPr/>
          <p:nvPr/>
        </p:nvSpPr>
        <p:spPr>
          <a:xfrm>
            <a:off x="6492240" y="3566160"/>
            <a:ext cx="4846320" cy="1051560"/>
          </a:xfrm>
          <a:prstGeom prst="round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3611880"/>
            <a:ext cx="4480560" cy="960120"/>
          </a:xfrm>
          <a:prstGeom prst="rect">
            <a:avLst/>
          </a:prstGeom>
          <a:noFill/>
        </p:spPr>
        <p:txBody>
          <a:bodyPr wrap="square" lIns="0" tIns="0">
            <a:spAutoFit/>
          </a:bodyPr>
          <a:lstStyle/>
          <a:p>
            <a:pPr>
              <a:defRPr sz="2200" b="1">
                <a:solidFill>
                  <a:srgbClr val="23B5D3"/>
                </a:solidFill>
                <a:latin typeface="Cambria"/>
              </a:defRPr>
            </a:pPr>
            <a:r>
              <a:t>0.41 W Enthalpy Audit</a:t>
            </a:r>
          </a:p>
          <a:p>
            <a:pPr>
              <a:defRPr sz="1200">
                <a:solidFill>
                  <a:srgbClr val="0B1426"/>
                </a:solidFill>
                <a:latin typeface="Calibri"/>
              </a:defRPr>
            </a:pPr>
            <a:r>
              <a:t>Reconcile outlet fluid plume flux against 10.0 W plate heater input</a:t>
            </a:r>
          </a:p>
        </p:txBody>
      </p:sp>
      <p:sp>
        <p:nvSpPr>
          <p:cNvPr id="13" name="Rounded Rectangle 12"/>
          <p:cNvSpPr/>
          <p:nvPr/>
        </p:nvSpPr>
        <p:spPr>
          <a:xfrm>
            <a:off x="6492240" y="4754880"/>
            <a:ext cx="4846320" cy="1051560"/>
          </a:xfrm>
          <a:prstGeom prst="round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0" y="4800600"/>
            <a:ext cx="4480560" cy="960120"/>
          </a:xfrm>
          <a:prstGeom prst="rect">
            <a:avLst/>
          </a:prstGeom>
          <a:noFill/>
        </p:spPr>
        <p:txBody>
          <a:bodyPr wrap="square" lIns="0" tIns="0">
            <a:spAutoFit/>
          </a:bodyPr>
          <a:lstStyle/>
          <a:p>
            <a:pPr>
              <a:defRPr sz="2200" b="1">
                <a:solidFill>
                  <a:srgbClr val="FFC24B"/>
                </a:solidFill>
                <a:latin typeface="Cambria"/>
              </a:defRPr>
            </a:pPr>
            <a:r>
              <a:t>Variable Properties</a:t>
            </a:r>
          </a:p>
          <a:p>
            <a:pPr>
              <a:defRPr sz="1200">
                <a:solidFill>
                  <a:srgbClr val="0B1426"/>
                </a:solidFill>
                <a:latin typeface="Calibri"/>
              </a:defRPr>
            </a:pPr>
            <a:r>
              <a:t>Incorporate temperature-dependent air density and conductivity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426"/>
        </a:solidFill>
        <a:effectLst/>
      </p:bgPr>
    </p:bg>
    <p:spTree>
      <p:nvGrpSpPr>
        <p:cNvPr id="1" name=""/>
        <p:cNvGrpSpPr/>
        <p:nvPr/>
      </p:nvGrpSpPr>
      <p:grpSpPr/>
      <p:sp>
        <p:nvSpPr>
          <p:cNvPr id="2" name="Title 1"/>
          <p:cNvSpPr>
            <a:spLocks noGrp="1"/>
          </p:cNvSpPr>
          <p:nvPr>
            <p:ph type="title" idx="100"/>
          </p:nvPr>
        </p:nvSpPr>
        <p:spPr/>
        <p:txBody>
          <a:bodyPr/>
          <a:lstStyle/>
          <a:p/>
        </p:txBody>
      </p:sp>
      <p:sp>
        <p:nvSpPr>
          <p:cNvPr id="3" name="Text Placeholder 2"/>
          <p:cNvSpPr>
            <a:spLocks noGrp="1"/>
          </p:cNvSpPr>
          <p:nvPr>
            <p:ph type="body" idx="101"/>
          </p:nvPr>
        </p:nvSpPr>
        <p:spPr/>
        <p:txBody>
          <a:bodyPr/>
          <a:lstStyle/>
          <a:p/>
        </p:txBody>
      </p:sp>
      <p:sp>
        <p:nvSpPr>
          <p:cNvPr id="4" name="TextBox 3"/>
          <p:cNvSpPr txBox="1"/>
          <p:nvPr/>
        </p:nvSpPr>
        <p:spPr>
          <a:xfrm>
            <a:off x="731520" y="457200"/>
            <a:ext cx="10698480" cy="365760"/>
          </a:xfrm>
          <a:prstGeom prst="rect">
            <a:avLst/>
          </a:prstGeom>
          <a:noFill/>
        </p:spPr>
        <p:txBody>
          <a:bodyPr wrap="none" lIns="0" tIns="0" rIns="0" bIns="0">
            <a:spAutoFit/>
          </a:bodyPr>
          <a:lstStyle/>
          <a:p>
            <a:pPr>
              <a:defRPr sz="1300" b="1">
                <a:solidFill>
                  <a:srgbClr val="23B5D3"/>
                </a:solidFill>
                <a:latin typeface="Calibri"/>
              </a:defRPr>
            </a:pPr>
            <a:r>
              <a:t>SUMMARY &amp; NEXT STEPS  |  BOUNDARY LAYER RESEARCH</a:t>
            </a:r>
          </a:p>
        </p:txBody>
      </p:sp>
      <p:sp>
        <p:nvSpPr>
          <p:cNvPr id="5" name="TextBox 4"/>
          <p:cNvSpPr txBox="1"/>
          <p:nvPr/>
        </p:nvSpPr>
        <p:spPr>
          <a:xfrm>
            <a:off x="731520" y="822960"/>
            <a:ext cx="10698480" cy="1005840"/>
          </a:xfrm>
          <a:prstGeom prst="rect">
            <a:avLst/>
          </a:prstGeom>
          <a:noFill/>
        </p:spPr>
        <p:txBody>
          <a:bodyPr wrap="square" lIns="0" tIns="0" rIns="0" bIns="0">
            <a:spAutoFit/>
          </a:bodyPr>
          <a:lstStyle/>
          <a:p>
            <a:pPr>
              <a:defRPr sz="3200" b="1">
                <a:solidFill>
                  <a:srgbClr val="FFFFFF"/>
                </a:solidFill>
                <a:latin typeface="Cambria"/>
              </a:defRPr>
            </a:pPr>
            <a:r>
              <a:t>Coupled Surface Radiation Is Critical for Accurate Boundary Layer CFD</a:t>
            </a:r>
          </a:p>
        </p:txBody>
      </p:sp>
      <p:sp>
        <p:nvSpPr>
          <p:cNvPr id="6" name="TextBox 5"/>
          <p:cNvSpPr txBox="1"/>
          <p:nvPr/>
        </p:nvSpPr>
        <p:spPr>
          <a:xfrm>
            <a:off x="731520" y="1828800"/>
            <a:ext cx="10698480" cy="548640"/>
          </a:xfrm>
          <a:prstGeom prst="rect">
            <a:avLst/>
          </a:prstGeom>
          <a:noFill/>
        </p:spPr>
        <p:txBody>
          <a:bodyPr wrap="square" lIns="0" tIns="0" rIns="0" bIns="0">
            <a:spAutoFit/>
          </a:bodyPr>
          <a:lstStyle/>
          <a:p>
            <a:pPr>
              <a:defRPr sz="1700">
                <a:solidFill>
                  <a:srgbClr val="EEF2F7"/>
                </a:solidFill>
                <a:latin typeface="Calibri"/>
              </a:defRPr>
            </a:pPr>
            <a:r>
              <a:t>Open for peer review, three-grid GCI collaboration, and experimental validation datasets.</a:t>
            </a:r>
          </a:p>
        </p:txBody>
      </p:sp>
      <p:sp>
        <p:nvSpPr>
          <p:cNvPr id="7" name="Rounded Rectangle 6"/>
          <p:cNvSpPr/>
          <p:nvPr/>
        </p:nvSpPr>
        <p:spPr>
          <a:xfrm>
            <a:off x="731520" y="2560320"/>
            <a:ext cx="10698480" cy="3291840"/>
          </a:xfrm>
          <a:prstGeom prst="roundRect">
            <a:avLst/>
          </a:prstGeom>
          <a:solidFill>
            <a:srgbClr val="162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697480"/>
            <a:ext cx="10332720" cy="3017520"/>
          </a:xfrm>
          <a:prstGeom prst="rect">
            <a:avLst/>
          </a:prstGeom>
          <a:noFill/>
        </p:spPr>
        <p:txBody>
          <a:bodyPr wrap="square" lIns="0" tIns="0" rIns="0" bIns="0">
            <a:spAutoFit/>
          </a:bodyPr>
          <a:lstStyle/>
          <a:p>
            <a:pPr>
              <a:spcAft>
                <a:spcPts val="600"/>
              </a:spcAft>
              <a:defRPr sz="1500" b="1">
                <a:solidFill>
                  <a:srgbClr val="FFC24B"/>
                </a:solidFill>
                <a:latin typeface="Cambria"/>
              </a:defRPr>
            </a:pPr>
            <a:r>
              <a:t>Key Formal References</a:t>
            </a:r>
          </a:p>
          <a:p>
            <a:pPr>
              <a:spcAft>
                <a:spcPts val="300"/>
              </a:spcAft>
              <a:defRPr sz="1100">
                <a:solidFill>
                  <a:srgbClr val="EEF2F7"/>
                </a:solidFill>
                <a:latin typeface="Calibri"/>
              </a:defRPr>
            </a:pPr>
            <a:r>
              <a:t>1. Blasius, H. (1908). Grenzschichten in Flüssigkeiten mit kleiner Reibung. Z. Math. Phys., 56:1–37.</a:t>
            </a:r>
          </a:p>
          <a:p>
            <a:pPr>
              <a:spcAft>
                <a:spcPts val="300"/>
              </a:spcAft>
              <a:defRPr sz="1100">
                <a:solidFill>
                  <a:srgbClr val="EEF2F7"/>
                </a:solidFill>
                <a:latin typeface="Calibri"/>
              </a:defRPr>
            </a:pPr>
            <a:r>
              <a:t>2. Pohlhausen, E. (1921). Der Wärmeaustausch zwischen festen Körpern und Flüssigkeiten. ZAMM, 1:115–121.</a:t>
            </a:r>
          </a:p>
          <a:p>
            <a:pPr>
              <a:spcAft>
                <a:spcPts val="300"/>
              </a:spcAft>
              <a:defRPr sz="1100">
                <a:solidFill>
                  <a:srgbClr val="EEF2F7"/>
                </a:solidFill>
                <a:latin typeface="Calibri"/>
              </a:defRPr>
            </a:pPr>
            <a:r>
              <a:t>3. Incropera, F.P., DeWitt, D.P., Bergman, T.L., &amp; Lavine, A.S. (2007). Fundamentals of Heat and Mass Transfer. 6th ed., Wiley.</a:t>
            </a:r>
          </a:p>
          <a:p>
            <a:pPr>
              <a:spcAft>
                <a:spcPts val="300"/>
              </a:spcAft>
              <a:defRPr sz="1100">
                <a:solidFill>
                  <a:srgbClr val="EEF2F7"/>
                </a:solidFill>
                <a:latin typeface="Calibri"/>
              </a:defRPr>
            </a:pPr>
            <a:r>
              <a:t>4. Reddy, P.B.A. (2014). Radiation effects on MHD boundary layer flow over a stretching surface. J. Appl. Fluid Mech., 7(3):471–479.</a:t>
            </a:r>
          </a:p>
          <a:p>
            <a:pPr>
              <a:spcAft>
                <a:spcPts val="300"/>
              </a:spcAft>
              <a:defRPr sz="1100">
                <a:solidFill>
                  <a:srgbClr val="EEF2F7"/>
                </a:solidFill>
                <a:latin typeface="Calibri"/>
              </a:defRPr>
            </a:pPr>
            <a:r>
              <a:t>5. Raju, C.S.K., et al. (2026). Thermal radiation and heat transfer in boundary layer flows. Phys. Fluids.</a:t>
            </a:r>
          </a:p>
          <a:p>
            <a:pPr>
              <a:spcAft>
                <a:spcPts val="300"/>
              </a:spcAft>
              <a:defRPr sz="1100">
                <a:solidFill>
                  <a:srgbClr val="EEF2F7"/>
                </a:solidFill>
                <a:latin typeface="Calibri"/>
              </a:defRPr>
            </a:pPr>
            <a:r>
              <a:t>6. Schlichting, H., &amp; Gersten, K. (2017). Boundary-Layer Theory. 9th ed., Springer-Verlag.</a:t>
            </a:r>
          </a:p>
        </p:txBody>
      </p:sp>
      <p:sp>
        <p:nvSpPr>
          <p:cNvPr id="9" name="TextBox 8"/>
          <p:cNvSpPr txBox="1"/>
          <p:nvPr/>
        </p:nvSpPr>
        <p:spPr>
          <a:xfrm>
            <a:off x="731520" y="6035040"/>
            <a:ext cx="10698480" cy="365760"/>
          </a:xfrm>
          <a:prstGeom prst="rect">
            <a:avLst/>
          </a:prstGeom>
          <a:noFill/>
        </p:spPr>
        <p:txBody>
          <a:bodyPr wrap="none" lIns="0" tIns="0" rIns="0" bIns="0">
            <a:spAutoFit/>
          </a:bodyPr>
          <a:lstStyle/>
          <a:p>
            <a:pPr>
              <a:defRPr sz="1300">
                <a:solidFill>
                  <a:srgbClr val="7C8DB5"/>
                </a:solidFill>
                <a:latin typeface="Calibri"/>
              </a:defRPr>
            </a:pPr>
            <a:r>
              <a:t>github.com/Jersam-l/flat-plate-with-radiation-cfd  |  Jerlin S.  |  Contact: jerlin.research@cfd-lab.org</a:t>
            </a:r>
          </a:p>
        </p:txBody>
      </p:sp>
    </p:spTree>
  </p:cSld>
  <p:clrMapOvr>
    <a:masterClrMapping/>
  </p:clrMapOvr>
</p:sld>
</file>

<file path=ppt/theme/theme1.xml><?xml version="1.0" encoding="utf-8"?>
<a:theme xmlns:a="http://schemas.openxmlformats.org/drawingml/2006/main" name="Thermal Navy">
  <a:themeElements>
    <a:clrScheme name="Thermal Navy">
      <a:dk1>
        <a:srgbClr val="0B1426"/>
      </a:dk1>
      <a:lt1>
        <a:srgbClr val="FFFFFF"/>
      </a:lt1>
      <a:dk2>
        <a:srgbClr val="16264A"/>
      </a:dk2>
      <a:lt2>
        <a:srgbClr val="EEF2F7"/>
      </a:lt2>
      <a:accent1>
        <a:srgbClr val="FF7A1A"/>
      </a:accent1>
      <a:accent2>
        <a:srgbClr val="23B5D3"/>
      </a:accent2>
      <a:accent3>
        <a:srgbClr val="FFC24B"/>
      </a:accent3>
      <a:accent4>
        <a:srgbClr val="7C8DB5"/>
      </a:accent4>
      <a:accent5>
        <a:srgbClr val="E5484D"/>
      </a:accent5>
      <a:accent6>
        <a:srgbClr val="3DD598"/>
      </a:accent6>
      <a:hlink>
        <a:srgbClr val="23B5D3"/>
      </a:hlink>
      <a:folHlink>
        <a:srgbClr val="7C8DB5"/>
      </a:folHlink>
    </a:clrScheme>
    <a:fontScheme name="Thermal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Flat-Plate CFD with Surface Radiation - Pitch Template</dc:title>
  <dc:subject>PptxGenJS Presentation</dc:subject>
  <dc:creator>[Presenter name]</dc:creator>
  <cp:lastModifiedBy>[Presenter name]</cp:lastModifiedBy>
  <cp:revision>1</cp:revision>
  <dcterms:created xsi:type="dcterms:W3CDTF">2026-10-24T04:42:54Z</dcterms:created>
  <dcterms:modified xsi:type="dcterms:W3CDTF">2026-10-24T04:42:54Z</dcterms:modified>
</cp:coreProperties>
</file>