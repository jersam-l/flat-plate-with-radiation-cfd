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6"/>
    <p:sldId id="260" r:id="rId5"/>
    <p:sldId id="261" r:id="rId4"/>
    <p:sldId id="262" r:id="rId3"/>
    <p:sldId id="263" r:id="rId2"/>
    <p:sldId id="264" r:id="rId15"/>
    <p:sldId id="265" r:id="rId16"/>
    <p:sldId id="266" r:id="rId17"/>
    <p:sldId id="267" r:id="rId18"/>
    <p:sldId id="268" r:id="rId19"/>
    <p:sldId id="269" r:id="rId20"/>
  </p:sldIdLst>
  <p:notesMasterIdLst>
    <p:notesMasterId r:id="rId10"/>
  </p:notesMasterIdLst>
  <p:sldSz cx="12191999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review presents our OpenFOAM 13 simulation of laminar convection with radiation. Source: cases/surfaceRadiation_fine/0/T and results/figures/four_case_temperature_zoom.png.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simulation compares emissivity levels and mesh resolutions under uniform heating. It assumes low-speed laminar air flow. Source: cases/template/caseParameters.txt and results/case_audit.csv.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 geometry is 1.0 m by 0.20 m with constant fluid properties. Values are verified from case dictionaries. Source: cases/template/constant/transportProperties.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Governing equations represent steady incompressible laminar flow. Re_L is 1.258e5. This supports laminar modeling but does not guarantee transition behavior on real plates. Source: cases/template/system/fvSchemes.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Boundary conditions are configured directly in OpenFOAM 0 directory files. Inlet is uniform, plate is heated no-slip, top is slip, and outlet is pressure. Source: cases/template/0/U, 0/T, 0/p_rgh.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Surface radiation couples conduction to the quartic Stefan-Boltzmann emission term. In-situ Newton-Raphson iteration solves the nonlinear boundary condition. Source: cases/surfaceRadiation_fine/0/T.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OpenFOAM 13 foamRun executes with second-order schemes and GAMG/PBiCGStab solvers. Residuals drop below 1e-7. Low residuals do not guarantee complete convergence. Source: cases/template/system/controlDict, fvSchemes, fvSolution.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Mesh statistics are verified from checkMesh logs. Large wall temperature shifts between coarse and fine meshes demonstrate that grid independence is not yet achieved. Source: cases/noRadiation_fine/log.checkMesh, results/case_audit.csv.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Radiation depresses trailing wall temperature by 30.52 K on coarse and 6.98 K on fine grid. The large mesh difference precludes treating either as grid-independent. Source: results/case_audit.csv.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the trailing edge, coarse predicts 43.22% radiation while fine predicts 21.56%. The flux identity was enforced by post-processing construction. Source: scripts/evidenceReport.py, results/case_audit.csv.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constant fluid properties and zero buoyancy, the momentum equations do not contain temperature terms. Velocity is strictly decoupled. Source: cases/noRadiation_fine/1500/U, cases/surfaceRadiation_fine/1500/U.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Discrepancies in boundary-layer thickness and Nusselt number must be disclosed before claiming validation. Blasius predicts 14.1 mm while CFD reports 5.38 mm. Source: results/case_audit.csv, scripts/evidenceReport.py.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separates verified simulation facts from items requiring further verification. Grid sensitivity and boundary-layer thickness discrepancies remain open. Source: cases/noRadiation_fine/log.foamRun, results/case_audit.csv.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simulation demonstrates radiation modeling, but validation requires resolving grid sensitivity and similarity discrepancies. Six priorities are defined. Source: README.md, results/case_audit.csv.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297680"/>
            <a:ext cx="6309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 sz="1100">
                <a:solidFill>
                  <a:srgbClr val="7C8DB5"/>
                </a:solidFill>
                <a:latin typeface="Calibri"/>
              </a:defRPr>
            </a:pPr>
            <a:r>
              <a:t>Boundary Layer on a Flat Plate with Radiation  •  Jersam Lithin L (URK24AE1026)  •  Karunya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 sz="1100">
                <a:solidFill>
                  <a:srgbClr val="7C8DB5"/>
                </a:solidFill>
                <a:latin typeface="Calibri"/>
              </a:defRPr>
            </a:pPr>
            <a:r>
              <a:t>Boundary Layer on a Flat Plate with Radiation  •  Jersam Lithin L (URK24AE1026)  •  Karunya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62179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200" b="1">
                <a:solidFill>
                  <a:srgbClr val="23B5D3"/>
                </a:solidFill>
                <a:latin typeface="Calibri"/>
              </a:defRPr>
            </a:pPr>
            <a:r>
              <a:t>KARUNYA INSTITUTE OF TECHNOLOGY AND SCIENCES  •  AEROSPACE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621792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Cambria"/>
              </a:defRPr>
            </a:pPr>
            <a:r>
              <a:t>Boundary Layer Over a Heated Flat Plate with Surface Radiation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621792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500">
                <a:solidFill>
                  <a:srgbClr val="EEF2F7"/>
                </a:solidFill>
                <a:latin typeface="Calibri"/>
              </a:defRPr>
            </a:pPr>
            <a:r>
              <a:t>OpenFOAM 13 | Steady Laminar Forced Convection | Grey-Diffuse Surface Radiation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621792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F7A1A"/>
                </a:solidFill>
                <a:latin typeface="Cambria"/>
              </a:defRPr>
            </a:pPr>
            <a:r>
              <a:t>Jersam Lithin L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Register No.: URK24AE1026</a:t>
            </a:r>
          </a:p>
          <a:p>
            <a:pPr>
              <a:spcAft>
                <a:spcPts val="200"/>
              </a:spcAft>
              <a:defRPr sz="1300">
                <a:solidFill>
                  <a:srgbClr val="EEF2F7"/>
                </a:solidFill>
                <a:latin typeface="Calibri"/>
              </a:defRPr>
            </a:pPr>
            <a:r>
              <a:t>B.Tech Aerospace Engineering</a:t>
            </a:r>
          </a:p>
          <a:p>
            <a:pPr>
              <a:defRPr sz="1300">
                <a:solidFill>
                  <a:srgbClr val="FFC24B"/>
                </a:solidFill>
                <a:latin typeface="Calibri"/>
              </a:defRPr>
            </a:pPr>
            <a:r>
              <a:t>Karunya Institute of Technology and Sciences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005840"/>
            <a:ext cx="4480560" cy="5120640"/>
          </a:xfrm>
          <a:prstGeom prst="roundRect">
            <a:avLst/>
          </a:prstGeom>
          <a:solidFill>
            <a:srgbClr val="162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ur_case_temperature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2219295"/>
            <a:ext cx="4151376" cy="2401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6912" y="5742432"/>
            <a:ext cx="4151376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7C8DB5"/>
                </a:solidFill>
                <a:latin typeface="Calibri"/>
              </a:defRPr>
            </a:pPr>
            <a:r>
              <a:t>Fig. 1: Near-wall temperature contours across cases.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B1426"/>
                </a:solidFill>
                <a:latin typeface="Cambria"/>
              </a:defRPr>
            </a:pPr>
            <a:r>
              <a:t>Problem Definition and Test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943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all_temperature_al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67685"/>
            <a:ext cx="5614416" cy="3070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833872"/>
            <a:ext cx="5614416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7C8DB5"/>
                </a:solidFill>
                <a:latin typeface="Calibri"/>
              </a:defRPr>
            </a:pPr>
            <a:r>
              <a:t>Fig. 2: Streamwise wall temperature distribution along plate.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280160"/>
            <a:ext cx="48463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463040"/>
            <a:ext cx="429768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7C8DB5"/>
                </a:solidFill>
                <a:latin typeface="Calibri"/>
              </a:defRPr>
            </a:pPr>
            <a:r>
              <a:t>Core Engineering Question:</a:t>
            </a:r>
          </a:p>
          <a:p>
            <a:pPr>
              <a:defRPr sz="1900" b="1">
                <a:solidFill>
                  <a:srgbClr val="FF7A1A"/>
                </a:solidFill>
                <a:latin typeface="Cambria"/>
              </a:defRPr>
            </a:pPr>
            <a:r>
              <a:t>How does surface radiation change wall temperature under fixed flux?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834640"/>
            <a:ext cx="429768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0B1426"/>
                </a:solidFill>
                <a:latin typeface="Calibri"/>
              </a:defRPr>
            </a:pPr>
            <a:r>
              <a:t>•  Compares emissivity levels of 0.0 and 0.8 across meshes.</a:t>
            </a:r>
          </a:p>
          <a:p>
            <a:pPr>
              <a:spcAft>
                <a:spcPts val="1200"/>
              </a:spcAft>
              <a:defRPr sz="1500">
                <a:solidFill>
                  <a:srgbClr val="0B1426"/>
                </a:solidFill>
                <a:latin typeface="Calibri"/>
              </a:defRPr>
            </a:pPr>
            <a:r>
              <a:t>•  Evaluates 16,000-cell coarse and 64,000-cell fine structured grids.</a:t>
            </a:r>
          </a:p>
          <a:p>
            <a:pPr>
              <a:spcAft>
                <a:spcPts val="1200"/>
              </a:spcAft>
              <a:defRPr sz="1500">
                <a:solidFill>
                  <a:srgbClr val="0B1426"/>
                </a:solidFill>
                <a:latin typeface="Calibri"/>
              </a:defRPr>
            </a:pPr>
            <a:r>
              <a:t>•  Assumes low-speed, constant-property air flow without buoyancy.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5120640"/>
            <a:ext cx="429768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E5484D"/>
                </a:solidFill>
                <a:latin typeface="Calibri"/>
              </a:defRPr>
            </a:pPr>
            <a:r>
              <a:t>Scope: Low-speed constant-property CFD. Not hypersonic or validated TPS.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B1426"/>
                </a:solidFill>
                <a:latin typeface="Cambria"/>
              </a:defRPr>
            </a:pPr>
            <a:r>
              <a:t>Geometry and Input 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sh_full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08386"/>
            <a:ext cx="4791456" cy="15886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833872"/>
            <a:ext cx="4791456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7C8DB5"/>
                </a:solidFill>
                <a:latin typeface="Calibri"/>
              </a:defRPr>
            </a:pPr>
            <a:r>
              <a:t>Fig. 3: Computational domain schematic (L = 1.0 m, H = 0.20 m).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280160"/>
            <a:ext cx="5669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417320"/>
          <a:ext cx="53035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914400"/>
              </a:tblGrid>
              <a:tr h="35169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Unit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Plate length, 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Domain height, H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Inlet velocity, U_inf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Inlet temperature, T_inf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300.0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K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Surroundings temperature, T_sur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300.0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Reference pressure, p_ref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kPa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Applied heater flux, q''_heater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1000.0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W/m²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Dynamic viscosity, mu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1.846 x 10^-5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kg/(m s)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Thermal conductivity, 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0.02613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W/(m 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Specific heat capacity, cp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1005.0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J/(kg K)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Prandtl number,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0.71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Density, rho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1.1614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kg/m³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B1426"/>
                </a:solidFill>
                <a:latin typeface="Cambria"/>
              </a:defRPr>
            </a:pPr>
            <a:r>
              <a:t>Governing Equations and Physical Assumptions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943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5394960" cy="4480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7C8DB5"/>
                </a:solidFill>
                <a:latin typeface="Calibri"/>
              </a:defRPr>
            </a:pPr>
            <a:r>
              <a:t>1. Continuity Equation (Incompressible):</a:t>
            </a:r>
          </a:p>
          <a:p>
            <a:pPr>
              <a:spcAft>
                <a:spcPts val="1200"/>
              </a:spcAft>
              <a:defRPr sz="1600" b="1">
                <a:solidFill>
                  <a:srgbClr val="0B1426"/>
                </a:solidFill>
                <a:latin typeface="Cambria"/>
              </a:defRPr>
            </a:pPr>
            <a:r>
              <a:t>div(U) = 0</a:t>
            </a:r>
          </a:p>
          <a:p>
            <a:pPr>
              <a:defRPr sz="1300" b="1">
                <a:solidFill>
                  <a:srgbClr val="7C8DB5"/>
                </a:solidFill>
                <a:latin typeface="Calibri"/>
              </a:defRPr>
            </a:pPr>
            <a:r>
              <a:t>2. Momentum Conservation (Zero Buoyancy):</a:t>
            </a:r>
          </a:p>
          <a:p>
            <a:pPr>
              <a:spcAft>
                <a:spcPts val="1200"/>
              </a:spcAft>
              <a:defRPr sz="1600" b="1">
                <a:solidFill>
                  <a:srgbClr val="0B1426"/>
                </a:solidFill>
                <a:latin typeface="Cambria"/>
              </a:defRPr>
            </a:pPr>
            <a:r>
              <a:t>rho (U . grad) U = -grad(p) + mu laplacian(U)</a:t>
            </a:r>
          </a:p>
          <a:p>
            <a:pPr>
              <a:defRPr sz="1300" b="1">
                <a:solidFill>
                  <a:srgbClr val="7C8DB5"/>
                </a:solidFill>
                <a:latin typeface="Calibri"/>
              </a:defRPr>
            </a:pPr>
            <a:r>
              <a:t>3. Thermal Energy Equation:</a:t>
            </a:r>
          </a:p>
          <a:p>
            <a:pPr>
              <a:spcAft>
                <a:spcPts val="1200"/>
              </a:spcAft>
              <a:defRPr sz="1600" b="1">
                <a:solidFill>
                  <a:srgbClr val="0B1426"/>
                </a:solidFill>
                <a:latin typeface="Cambria"/>
              </a:defRPr>
            </a:pPr>
            <a:r>
              <a:t>rho cp U . grad(T) = div(k grad(T))</a:t>
            </a:r>
          </a:p>
          <a:p>
            <a:pPr>
              <a:defRPr sz="1300" b="1">
                <a:solidFill>
                  <a:srgbClr val="7C8DB5"/>
                </a:solidFill>
                <a:latin typeface="Calibri"/>
              </a:defRPr>
            </a:pPr>
            <a:r>
              <a:t>4. Plate Reynolds Number:</a:t>
            </a:r>
          </a:p>
          <a:p>
            <a:pPr>
              <a:defRPr sz="1600" b="1">
                <a:solidFill>
                  <a:srgbClr val="FF7A1A"/>
                </a:solidFill>
                <a:latin typeface="Cambria"/>
              </a:defRPr>
            </a:pPr>
            <a:r>
              <a:t>Re_L = (rho U_inf L) / mu = 1.258 x 10^5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280160"/>
            <a:ext cx="48463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463040"/>
            <a:ext cx="4297680" cy="4480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B1426"/>
                </a:solidFill>
                <a:latin typeface="Cambria"/>
              </a:defRPr>
            </a:pPr>
            <a:r>
              <a:t>Physical Assumptions &amp; Limitations:</a:t>
            </a:r>
          </a:p>
          <a:p>
            <a:pPr>
              <a:spcAft>
                <a:spcPts val="1200"/>
              </a:spcAft>
              <a:defRPr sz="1500">
                <a:solidFill>
                  <a:srgbClr val="0B1426"/>
                </a:solidFill>
                <a:latin typeface="Calibri"/>
              </a:defRPr>
            </a:pPr>
            <a:r>
              <a:t>•  Steady two-dimensional flow with constant fluid physical properties.</a:t>
            </a:r>
          </a:p>
          <a:p>
            <a:pPr>
              <a:spcAft>
                <a:spcPts val="1200"/>
              </a:spcAft>
              <a:defRPr sz="1500">
                <a:solidFill>
                  <a:srgbClr val="0B1426"/>
                </a:solidFill>
                <a:latin typeface="Calibri"/>
              </a:defRPr>
            </a:pPr>
            <a:r>
              <a:t>•  Buoyancy forces neglected; natural convection effects are completely omitted.</a:t>
            </a:r>
          </a:p>
          <a:p>
            <a:pPr>
              <a:spcAft>
                <a:spcPts val="1200"/>
              </a:spcAft>
              <a:defRPr sz="1500">
                <a:solidFill>
                  <a:srgbClr val="0B1426"/>
                </a:solidFill>
                <a:latin typeface="Calibri"/>
              </a:defRPr>
            </a:pPr>
            <a:r>
              <a:t>•  Re_L supports laminar flow, but ignores physical plate roughness.</a:t>
            </a:r>
          </a:p>
          <a:p>
            <a:pPr>
              <a:defRPr sz="1200">
                <a:solidFill>
                  <a:srgbClr val="7C8DB5"/>
                </a:solidFill>
                <a:latin typeface="Calibri"/>
              </a:defRPr>
            </a:pPr>
            <a:r>
              <a:t>Fluid medium is non-participating; no volumetric radiation absorption occurs.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B1426"/>
                </a:solidFill>
                <a:latin typeface="Cambria"/>
              </a:defRPr>
            </a:pPr>
            <a:r>
              <a:t>Boundary Conditions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943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sh_full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671952"/>
            <a:ext cx="5614416" cy="18615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833872"/>
            <a:ext cx="5614416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7C8DB5"/>
                </a:solidFill>
                <a:latin typeface="Calibri"/>
              </a:defRPr>
            </a:pPr>
            <a:r>
              <a:t>Fig. 4: Boundary patch locations on computational domain.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280160"/>
            <a:ext cx="48463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463040"/>
            <a:ext cx="4297680" cy="4480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B1426"/>
                </a:solidFill>
                <a:latin typeface="Cambria"/>
              </a:defRPr>
            </a:pPr>
            <a:r>
              <a:t>Configured OpenFOAM Patches:</a:t>
            </a:r>
          </a:p>
          <a:p>
            <a:pPr>
              <a:spcAft>
                <a:spcPts val="1200"/>
              </a:spcAft>
              <a:defRPr sz="1500">
                <a:solidFill>
                  <a:srgbClr val="0B1426"/>
                </a:solidFill>
                <a:latin typeface="Calibri"/>
              </a:defRPr>
            </a:pPr>
            <a:r>
              <a:t>•  Inlet imposes uniform 2 m/s velocity and 300 K.</a:t>
            </a:r>
          </a:p>
          <a:p>
            <a:pPr>
              <a:spcAft>
                <a:spcPts val="1200"/>
              </a:spcAft>
              <a:defRPr sz="1500">
                <a:solidFill>
                  <a:srgbClr val="0B1426"/>
                </a:solidFill>
                <a:latin typeface="Calibri"/>
              </a:defRPr>
            </a:pPr>
            <a:r>
              <a:t>•  Heated plate enforces no-slip and 1000 W/m² heater flux.</a:t>
            </a:r>
          </a:p>
          <a:p>
            <a:pPr>
              <a:spcAft>
                <a:spcPts val="1200"/>
              </a:spcAft>
              <a:defRPr sz="1500">
                <a:solidFill>
                  <a:srgbClr val="0B1426"/>
                </a:solidFill>
                <a:latin typeface="Calibri"/>
              </a:defRPr>
            </a:pPr>
            <a:r>
              <a:t>•  Top boundary enforces slip velocity and zero thermal gradient.</a:t>
            </a:r>
          </a:p>
          <a:p>
            <a:pPr>
              <a:defRPr sz="1200">
                <a:solidFill>
                  <a:srgbClr val="7C8DB5"/>
                </a:solidFill>
                <a:latin typeface="Calibri"/>
              </a:defRPr>
            </a:pPr>
            <a:r>
              <a:t>Outlet: 100 kPa reference pressure with inletOutlet outflow condition.</a:t>
            </a:r>
            <a:br/>
            <a:r>
              <a:t>Sides: Empty patch type enforcing two-dimensional planar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B1426"/>
                </a:solidFill>
                <a:latin typeface="Cambria"/>
              </a:defRPr>
            </a:pPr>
            <a:r>
              <a:t>Surface Radiation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943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5394960" cy="4480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7C8DB5"/>
                </a:solidFill>
                <a:latin typeface="Calibri"/>
              </a:defRPr>
            </a:pPr>
            <a:r>
              <a:t>Wall Energy Balance (First-Law Closure):</a:t>
            </a:r>
          </a:p>
          <a:p>
            <a:pPr>
              <a:spcAft>
                <a:spcPts val="1400"/>
              </a:spcAft>
              <a:defRPr sz="1700" b="1">
                <a:solidFill>
                  <a:srgbClr val="0B1426"/>
                </a:solidFill>
                <a:latin typeface="Cambria"/>
              </a:defRPr>
            </a:pPr>
            <a:r>
              <a:t>q''_heater = q''_conv + q''_rad</a:t>
            </a:r>
          </a:p>
          <a:p>
            <a:pPr>
              <a:defRPr sz="1300" b="1">
                <a:solidFill>
                  <a:srgbClr val="7C8DB5"/>
                </a:solidFill>
                <a:latin typeface="Calibri"/>
              </a:defRPr>
            </a:pPr>
            <a:r>
              <a:t>Stefan-Boltzmann Radiation to Enclosure:</a:t>
            </a:r>
          </a:p>
          <a:p>
            <a:pPr>
              <a:spcAft>
                <a:spcPts val="1400"/>
              </a:spcAft>
              <a:defRPr sz="1700" b="1">
                <a:solidFill>
                  <a:srgbClr val="FF7A1A"/>
                </a:solidFill>
                <a:latin typeface="Cambria"/>
              </a:defRPr>
            </a:pPr>
            <a:r>
              <a:t>q''_rad = eps * sigma * (Tw^4 - T_sur^4)</a:t>
            </a:r>
          </a:p>
          <a:p>
            <a:pPr>
              <a:defRPr sz="1300" b="1">
                <a:solidFill>
                  <a:srgbClr val="7C8DB5"/>
                </a:solidFill>
                <a:latin typeface="Calibri"/>
              </a:defRPr>
            </a:pPr>
            <a:r>
              <a:t>Objective Function Solved for Tw:</a:t>
            </a:r>
          </a:p>
          <a:p>
            <a:pPr>
              <a:defRPr sz="1300" b="1">
                <a:solidFill>
                  <a:srgbClr val="0B1426"/>
                </a:solidFill>
                <a:latin typeface="Calibri"/>
              </a:defRPr>
            </a:pPr>
            <a:r>
              <a:t>f(Tw) = -k (dT/dy)_w + eps sigma (Tw^4 - T_sur^4) - q''_heater =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280160"/>
            <a:ext cx="48463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463040"/>
            <a:ext cx="4297680" cy="4480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B1426"/>
                </a:solidFill>
                <a:latin typeface="Cambria"/>
              </a:defRPr>
            </a:pPr>
            <a:r>
              <a:t>Newton-Raphson Wall Solver:</a:t>
            </a:r>
          </a:p>
          <a:p>
            <a:pPr>
              <a:spcAft>
                <a:spcPts val="1200"/>
              </a:spcAft>
              <a:defRPr sz="1500">
                <a:solidFill>
                  <a:srgbClr val="0B1426"/>
                </a:solidFill>
                <a:latin typeface="Calibri"/>
              </a:defRPr>
            </a:pPr>
            <a:r>
              <a:t>•  Uses codedFixedValue boundary condition with Newton-Raphson iteration.</a:t>
            </a:r>
          </a:p>
          <a:p>
            <a:pPr>
              <a:spcAft>
                <a:spcPts val="1200"/>
              </a:spcAft>
              <a:defRPr sz="1500">
                <a:solidFill>
                  <a:srgbClr val="0B1426"/>
                </a:solidFill>
                <a:latin typeface="Calibri"/>
              </a:defRPr>
            </a:pPr>
            <a:r>
              <a:t>•  Emissivity equals 0.0 for baseline and 0.8 for radiation.</a:t>
            </a:r>
          </a:p>
          <a:p>
            <a:pPr>
              <a:spcAft>
                <a:spcPts val="1200"/>
              </a:spcAft>
              <a:defRPr sz="1500">
                <a:solidFill>
                  <a:srgbClr val="0B1426"/>
                </a:solidFill>
                <a:latin typeface="Calibri"/>
              </a:defRPr>
            </a:pPr>
            <a:r>
              <a:t>•  Models radiation to 300 K surroundings without gas absorption.</a:t>
            </a:r>
          </a:p>
          <a:p>
            <a:pPr>
              <a:defRPr sz="1200">
                <a:solidFill>
                  <a:srgbClr val="7C8DB5"/>
                </a:solidFill>
                <a:latin typeface="Calibri"/>
              </a:defRPr>
            </a:pPr>
            <a:r>
              <a:t>Stefan-Boltzmann constant sigma = 5.670374 x 10^-8 W/(m² K⁴).</a:t>
            </a:r>
            <a:br/>
            <a:r>
              <a:t>Surrounding enclosure is held fixed at T_sur = 300 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B1426"/>
                </a:solidFill>
                <a:latin typeface="Cambria"/>
              </a:defRPr>
            </a:pPr>
            <a:r>
              <a:t>CFD Solver and Numerical Setup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9441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46304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474720"/>
                <a:gridCol w="41148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Setting / Parameter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Details / Configured Values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CFD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OpenFOAM Foundation v13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Standard finite volume formulation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Mesh Generator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blockMesh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Parametric structured hexahedral generation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Solver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foamRun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Incompressible steady/transient PIMPLE algorithm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Divergence Schemes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linearUpwind Gauss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Second-order upwind for div(phi,U) and div(phi,T)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Laplacian Schemes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Gauss linear orthogonal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Second-order central differencing with orthogonal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Pressure Solver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GAMG (DIC smoother)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Tolerance: 10^-7, relative tolerance: 0.01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Momentum &amp; Energy Solver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PBiCGStab (DILU)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Tolerance: 10^-8, relative tolerance: 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Run Controls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1500 iterations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deltaT = 1, final time index = 1500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0B1426"/>
                </a:solidFill>
                <a:latin typeface="Calibri"/>
              </a:defRPr>
            </a:pPr>
            <a:r>
              <a:t>•  PIMPLE algorithm integrates pressure-velocity-energy coupling across 1500 iterations.</a:t>
            </a:r>
          </a:p>
          <a:p>
            <a:pPr>
              <a:spcAft>
                <a:spcPts val="1200"/>
              </a:spcAft>
              <a:defRPr sz="1300">
                <a:solidFill>
                  <a:srgbClr val="0B1426"/>
                </a:solidFill>
                <a:latin typeface="Calibri"/>
              </a:defRPr>
            </a:pPr>
            <a:r>
              <a:t>•  Linear equation residuals drop below 10^-7 for all solved variables.</a:t>
            </a:r>
          </a:p>
          <a:p>
            <a:pPr>
              <a:spcAft>
                <a:spcPts val="1200"/>
              </a:spcAft>
              <a:defRPr sz="1300">
                <a:solidFill>
                  <a:srgbClr val="0B1426"/>
                </a:solidFill>
                <a:latin typeface="Calibri"/>
              </a:defRPr>
            </a:pPr>
            <a:r>
              <a:t>•  Low linear solver residuals alone do not prove numerical convergence.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B1426"/>
                </a:solidFill>
                <a:latin typeface="Cambria"/>
              </a:defRPr>
            </a:pPr>
            <a:r>
              <a:t>Mesh and Grid Sensitivity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sh_inflation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584657"/>
            <a:ext cx="4791456" cy="20361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833872"/>
            <a:ext cx="4791456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7C8DB5"/>
                </a:solidFill>
                <a:latin typeface="Calibri"/>
              </a:defRPr>
            </a:pPr>
            <a:r>
              <a:t>Fig. 5: Near-wall mesh zoom showing 80:1 wall grading.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280160"/>
            <a:ext cx="5669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463040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Quantity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Coarse Mesh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 Mesh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Cells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16,000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64,000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Grid dimensions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200 x 80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400 x 160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First cell height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142.5 µm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70.3 µm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Maximum aspect ratio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36.63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36.34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126480" y="3291840"/>
            <a:ext cx="5303520" cy="914400"/>
          </a:xfrm>
          <a:prstGeom prst="roundRect">
            <a:avLst/>
          </a:prstGeom>
          <a:solidFill>
            <a:srgbClr val="FFEEEE"/>
          </a:solidFill>
          <a:ln w="12700">
            <a:solidFill>
              <a:srgbClr val="E54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383280"/>
            <a:ext cx="512064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00" b="1">
                <a:solidFill>
                  <a:srgbClr val="E5484D"/>
                </a:solidFill>
                <a:latin typeface="Cambria"/>
              </a:defRPr>
            </a:pPr>
            <a:r>
              <a:t>Two meshes have been tested. Grid independence has not been demonstrated.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343400"/>
            <a:ext cx="530352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0B1426"/>
                </a:solidFill>
                <a:latin typeface="Calibri"/>
              </a:defRPr>
            </a:pPr>
            <a:r>
              <a:t>•  Without radiation, trailing-edge wall temperature drops 51.22 K on fine mesh.</a:t>
            </a:r>
          </a:p>
          <a:p>
            <a:pPr>
              <a:spcAft>
                <a:spcPts val="1200"/>
              </a:spcAft>
              <a:defRPr sz="1300">
                <a:solidFill>
                  <a:srgbClr val="0B1426"/>
                </a:solidFill>
                <a:latin typeface="Calibri"/>
              </a:defRPr>
            </a:pPr>
            <a:r>
              <a:t>•  With radiation, trailing-edge wall temperature drops 27.68 K on fine mesh.</a:t>
            </a:r>
          </a:p>
          <a:p>
            <a:pPr>
              <a:spcAft>
                <a:spcPts val="1200"/>
              </a:spcAft>
              <a:defRPr sz="1300">
                <a:solidFill>
                  <a:srgbClr val="0B1426"/>
                </a:solidFill>
                <a:latin typeface="Calibri"/>
              </a:defRPr>
            </a:pPr>
            <a:r>
              <a:t>•  A third systematically refined mesh and GCI study are required.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B1426"/>
                </a:solidFill>
                <a:latin typeface="Cambria"/>
              </a:defRPr>
            </a:pPr>
            <a:r>
              <a:t>Radiation Versus No-Radiation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our_case_temperature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164179"/>
            <a:ext cx="4974336" cy="28771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833872"/>
            <a:ext cx="4974336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7C8DB5"/>
                </a:solidFill>
                <a:latin typeface="Calibri"/>
              </a:defRPr>
            </a:pPr>
            <a:r>
              <a:t>Fig. 6: 2 x 2 thermal boundary layer comparison.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1463040"/>
          <a:ext cx="51206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Reported Tw (x = 1.0 m)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No radiation, coarse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394.90 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Radiation, coarse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364.38 K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No radiation, fine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343.68 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Radiation, fine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336.70 K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3474720"/>
            <a:ext cx="512064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0B1426"/>
                </a:solidFill>
                <a:latin typeface="Calibri"/>
              </a:defRPr>
            </a:pPr>
            <a:r>
              <a:t>•  Radiation lowers reported wall temperature across both tested mesh levels.</a:t>
            </a:r>
          </a:p>
          <a:p>
            <a:pPr>
              <a:spcAft>
                <a:spcPts val="1200"/>
              </a:spcAft>
              <a:defRPr sz="1400">
                <a:solidFill>
                  <a:srgbClr val="0B1426"/>
                </a:solidFill>
                <a:latin typeface="Calibri"/>
              </a:defRPr>
            </a:pPr>
            <a:r>
              <a:t>•  Temperature reduction is 30.52 K on coarse and 6.98 K on fine.</a:t>
            </a:r>
          </a:p>
          <a:p>
            <a:pPr>
              <a:spcAft>
                <a:spcPts val="1200"/>
              </a:spcAft>
              <a:defRPr sz="1400">
                <a:solidFill>
                  <a:srgbClr val="0B1426"/>
                </a:solidFill>
                <a:latin typeface="Calibri"/>
              </a:defRPr>
            </a:pPr>
            <a:r>
              <a:t>•  Large grid difference prevents treating either reduction as mesh-independent.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B1426"/>
                </a:solidFill>
                <a:latin typeface="Cambria"/>
              </a:defRPr>
            </a:pPr>
            <a:r>
              <a:t>Heat-Flux Partition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all_heat_flux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258596"/>
            <a:ext cx="4974336" cy="26882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833872"/>
            <a:ext cx="4974336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7C8DB5"/>
                </a:solidFill>
                <a:latin typeface="Calibri"/>
              </a:defRPr>
            </a:pPr>
            <a:r>
              <a:t>Fig. 7: Convective and radiative flux partition along plate.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146304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280160"/>
                <a:gridCol w="1280160"/>
              </a:tblGrid>
              <a:tr h="40233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Quantity (at x = 1.0 m)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Coarse, eps=0.8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Fine, eps=0.8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Wall 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364.38 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336.70 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Radiative heat flux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432.21 W/m²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215.59 W/m²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Convective heat flux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567.79 W/m²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784.41 W/m²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Radiative fraction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43.22%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426"/>
                          </a:solidFill>
                          <a:latin typeface="Calibri"/>
                        </a:defRPr>
                      </a:pPr>
                      <a:r>
                        <a:t>21.56%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3657600"/>
            <a:ext cx="512064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0B1426"/>
                </a:solidFill>
                <a:latin typeface="Calibri"/>
              </a:defRPr>
            </a:pPr>
            <a:r>
              <a:t>•  Radiative fraction is defined as f_rad = (q''_rad / q''_heater) * 100%.</a:t>
            </a:r>
          </a:p>
          <a:p>
            <a:pPr>
              <a:spcAft>
                <a:spcPts val="1200"/>
              </a:spcAft>
              <a:defRPr sz="1400">
                <a:solidFill>
                  <a:srgbClr val="0B1426"/>
                </a:solidFill>
                <a:latin typeface="Calibri"/>
              </a:defRPr>
            </a:pPr>
            <a:r>
              <a:t>•  Reported radiation fraction depends strongly on grid in current results.</a:t>
            </a:r>
          </a:p>
          <a:p>
            <a:pPr>
              <a:spcAft>
                <a:spcPts val="1200"/>
              </a:spcAft>
              <a:defRPr sz="1400">
                <a:solidFill>
                  <a:srgbClr val="0B1426"/>
                </a:solidFill>
                <a:latin typeface="Calibri"/>
              </a:defRPr>
            </a:pPr>
            <a:r>
              <a:t>•  Flux sum balance is satisfied by construction, not independent proof.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mbria"/>
              </a:defRPr>
            </a:pPr>
            <a:r>
              <a:t>Velocity Field and Momentum Coupling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162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locity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592585"/>
            <a:ext cx="4974336" cy="2020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833872"/>
            <a:ext cx="4974336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7C8DB5"/>
                </a:solidFill>
                <a:latin typeface="Calibri"/>
              </a:defRPr>
            </a:pPr>
            <a:r>
              <a:t>Fig. 8: Streamwise velocity profiles across stations.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5486400" cy="4937760"/>
          </a:xfrm>
          <a:prstGeom prst="roundRect">
            <a:avLst/>
          </a:prstGeom>
          <a:solidFill>
            <a:srgbClr val="162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4000" b="1">
                <a:solidFill>
                  <a:srgbClr val="23B5D3"/>
                </a:solidFill>
                <a:latin typeface="Cambria"/>
              </a:defRPr>
            </a:pPr>
            <a:r>
              <a:t>&lt; 10^-12 m/s</a:t>
            </a:r>
          </a:p>
          <a:p>
            <a:pPr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Maximum Velocity Field Difference |u_rad - u_norad|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017520"/>
            <a:ext cx="4937760" cy="3017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 Constant density and viscosity decouple momentum from the thermal energy equation.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 Buoyancy is disabled, leaving momentum equations completely independent of temperature.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 Radiation changes thermal boundary layer without altering velocity solution.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B1426"/>
                </a:solidFill>
                <a:latin typeface="Cambria"/>
              </a:defRPr>
            </a:pPr>
            <a:r>
              <a:t>Analytical Boundary-Layer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lasius_velocity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23279"/>
            <a:ext cx="4974336" cy="3358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833872"/>
            <a:ext cx="4974336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7C8DB5"/>
                </a:solidFill>
                <a:latin typeface="Calibri"/>
              </a:defRPr>
            </a:pPr>
            <a:r>
              <a:t>Fig. 9: Similarity profile comparison (eta vs u/U_inf).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4937760" cy="13716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FC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554480"/>
            <a:ext cx="457200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400" b="1">
                <a:solidFill>
                  <a:srgbClr val="FF7A1A"/>
                </a:solidFill>
                <a:latin typeface="Cambria"/>
              </a:defRPr>
            </a:pPr>
            <a:r>
              <a:t>5.38 mm vs 14.1 mm</a:t>
            </a:r>
          </a:p>
          <a:p>
            <a:pPr>
              <a:defRPr sz="1100">
                <a:solidFill>
                  <a:srgbClr val="0B1426"/>
                </a:solidFill>
                <a:latin typeface="Calibri"/>
              </a:defRPr>
            </a:pPr>
            <a:r>
              <a:t>Boundary-layer thickness delta_99 at x = 1.0 m (CFD reports 5.38 mm; Blasius predicts 14.1 mm)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017520"/>
            <a:ext cx="4937760" cy="13716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FC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108960"/>
            <a:ext cx="457200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400" b="1">
                <a:solidFill>
                  <a:srgbClr val="23B5D3"/>
                </a:solidFill>
                <a:latin typeface="Cambria"/>
              </a:defRPr>
            </a:pPr>
            <a:r>
              <a:t>875 vs 143</a:t>
            </a:r>
          </a:p>
          <a:p>
            <a:pPr>
              <a:defRPr sz="1100">
                <a:solidFill>
                  <a:srgbClr val="0B1426"/>
                </a:solidFill>
                <a:latin typeface="Calibri"/>
              </a:defRPr>
            </a:pPr>
            <a:r>
              <a:t>Trailing-edge Nusselt number Nu_L (CFD reports 875; laminar correlation predicts ~143)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572000"/>
            <a:ext cx="493776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0B1426"/>
                </a:solidFill>
                <a:latin typeface="Calibri"/>
              </a:defRPr>
            </a:pPr>
            <a:r>
              <a:t>•  Similarity variable defined as eta = y * sqrt(U_inf / (nu x)).</a:t>
            </a:r>
          </a:p>
          <a:p>
            <a:pPr>
              <a:spcAft>
                <a:spcPts val="1200"/>
              </a:spcAft>
              <a:defRPr sz="1300">
                <a:solidFill>
                  <a:srgbClr val="0B1426"/>
                </a:solidFill>
                <a:latin typeface="Calibri"/>
              </a:defRPr>
            </a:pPr>
            <a:r>
              <a:t>•  Discrepancies arise from domain height confinement and mesh resolution.</a:t>
            </a:r>
          </a:p>
          <a:p>
            <a:pPr>
              <a:spcAft>
                <a:spcPts val="1200"/>
              </a:spcAft>
              <a:defRPr sz="1300">
                <a:solidFill>
                  <a:srgbClr val="0B1426"/>
                </a:solidFill>
                <a:latin typeface="Calibri"/>
              </a:defRPr>
            </a:pPr>
            <a:r>
              <a:t>•  Results are marked as provisional pending resolution of discrepancies.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mbria"/>
              </a:defRPr>
            </a:pPr>
            <a:r>
              <a:t>Numerical Audit and Limitations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4114800"/>
          </a:xfrm>
          <a:prstGeom prst="roundRect">
            <a:avLst/>
          </a:prstGeom>
          <a:solidFill>
            <a:srgbClr val="16264A"/>
          </a:solidFill>
          <a:ln w="12700">
            <a:solidFill>
              <a:srgbClr val="23B5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74903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23B5D3"/>
                </a:solidFill>
                <a:latin typeface="Cambria"/>
              </a:defRPr>
            </a:pPr>
            <a:r>
              <a:t>Verified from Current Files: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✓  Solver completed 1500 iterations with linear residuals below 10^-7.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✓  Newton-Raphson scheme converges non-linear wall energy equation.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✓  Momentum field decouples strictly under constant fluid properties.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303520" cy="4114800"/>
          </a:xfrm>
          <a:prstGeom prst="roundRect">
            <a:avLst/>
          </a:prstGeom>
          <a:solidFill>
            <a:srgbClr val="16264A"/>
          </a:solidFill>
          <a:ln w="12700">
            <a:solidFill>
              <a:srgbClr val="FFC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374903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C24B"/>
                </a:solidFill>
                <a:latin typeface="Cambria"/>
              </a:defRPr>
            </a:pPr>
            <a:r>
              <a:t>Requires Further Verification: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!  Grid independence: 51.22 K wall temperature shift between meshes.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!  Discrepancy between 5.38 mm CFD thickness and 14.1 mm Blasius.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!  Wall heat flux needs independent calculation from thermal gradient.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1109441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>
                <a:solidFill>
                  <a:srgbClr val="7C8DB5"/>
                </a:solidFill>
                <a:latin typeface="Calibri"/>
              </a:defRPr>
            </a:pPr>
            <a:r>
              <a:t>Classification Note: Unresolved numerical values are marked as provisional. Iterative convergence does not equal grid independence or experimental validation.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mbria"/>
              </a:defRPr>
            </a:pPr>
            <a:r>
              <a:t>Conclusions and Next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474720" cy="1645920"/>
          </a:xfrm>
          <a:prstGeom prst="roundRect">
            <a:avLst/>
          </a:prstGeom>
          <a:solidFill>
            <a:srgbClr val="16264A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31089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7A1A"/>
                </a:solidFill>
                <a:latin typeface="Cambria"/>
              </a:defRPr>
            </a:pPr>
            <a:r>
              <a:t>1. Resolve Discrepancies</a:t>
            </a:r>
          </a:p>
          <a:p>
            <a:pPr>
              <a:defRPr sz="1200">
                <a:solidFill>
                  <a:srgbClr val="EEF2F7"/>
                </a:solidFill>
                <a:latin typeface="Calibri"/>
              </a:defRPr>
            </a:pPr>
            <a:r>
              <a:t>Investigate thickness (5.38 vs 14.1 mm) and Nusselt number (875 vs 143).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280160"/>
            <a:ext cx="3474720" cy="1645920"/>
          </a:xfrm>
          <a:prstGeom prst="roundRect">
            <a:avLst/>
          </a:prstGeom>
          <a:solidFill>
            <a:srgbClr val="16264A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417320"/>
            <a:ext cx="31089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7A1A"/>
                </a:solidFill>
                <a:latin typeface="Cambria"/>
              </a:defRPr>
            </a:pPr>
            <a:r>
              <a:t>2. Independent Heat Flux</a:t>
            </a:r>
          </a:p>
          <a:p>
            <a:pPr>
              <a:defRPr sz="1200">
                <a:solidFill>
                  <a:srgbClr val="EEF2F7"/>
                </a:solidFill>
                <a:latin typeface="Calibri"/>
              </a:defRPr>
            </a:pPr>
            <a:r>
              <a:t>Calculate wall flux from -k(dT/dy)_w and check global energy balance.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280160"/>
            <a:ext cx="3474720" cy="1645920"/>
          </a:xfrm>
          <a:prstGeom prst="roundRect">
            <a:avLst/>
          </a:prstGeom>
          <a:solidFill>
            <a:srgbClr val="16264A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417320"/>
            <a:ext cx="31089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3B5D3"/>
                </a:solidFill>
                <a:latin typeface="Cambria"/>
              </a:defRPr>
            </a:pPr>
            <a:r>
              <a:t>3. Third Refined Mesh</a:t>
            </a:r>
          </a:p>
          <a:p>
            <a:pPr>
              <a:defRPr sz="1200">
                <a:solidFill>
                  <a:srgbClr val="EEF2F7"/>
                </a:solidFill>
                <a:latin typeface="Calibri"/>
              </a:defRPr>
            </a:pPr>
            <a:r>
              <a:t>Execute an 800 x 320 structured grid to establish asymptotic convergence.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00400"/>
            <a:ext cx="3474720" cy="1645920"/>
          </a:xfrm>
          <a:prstGeom prst="roundRect">
            <a:avLst/>
          </a:prstGeom>
          <a:solidFill>
            <a:srgbClr val="16264A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31089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3B5D3"/>
                </a:solidFill>
                <a:latin typeface="Cambria"/>
              </a:defRPr>
            </a:pPr>
            <a:r>
              <a:t>4. Formal GCI Study</a:t>
            </a:r>
          </a:p>
          <a:p>
            <a:pPr>
              <a:defRPr sz="1200">
                <a:solidFill>
                  <a:srgbClr val="EEF2F7"/>
                </a:solidFill>
                <a:latin typeface="Calibri"/>
              </a:defRPr>
            </a:pPr>
            <a:r>
              <a:t>Compute ASME VV 20 Grid Convergence Index error bands for Tw and Nu.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200400"/>
            <a:ext cx="3474720" cy="1645920"/>
          </a:xfrm>
          <a:prstGeom prst="roundRect">
            <a:avLst/>
          </a:prstGeom>
          <a:solidFill>
            <a:srgbClr val="16264A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337560"/>
            <a:ext cx="31089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3B5D3"/>
                </a:solidFill>
                <a:latin typeface="Cambria"/>
              </a:defRPr>
            </a:pPr>
            <a:r>
              <a:t>5. Recheck Similarity</a:t>
            </a:r>
          </a:p>
          <a:p>
            <a:pPr>
              <a:defRPr sz="1200">
                <a:solidFill>
                  <a:srgbClr val="EEF2F7"/>
                </a:solidFill>
                <a:latin typeface="Calibri"/>
              </a:defRPr>
            </a:pPr>
            <a:r>
              <a:t>Match domain height and inlet conditions to semi-infinite assumptions.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200400"/>
            <a:ext cx="3474720" cy="1645920"/>
          </a:xfrm>
          <a:prstGeom prst="roundRect">
            <a:avLst/>
          </a:prstGeom>
          <a:solidFill>
            <a:srgbClr val="16264A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3337560"/>
            <a:ext cx="31089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3B5D3"/>
                </a:solidFill>
                <a:latin typeface="Cambria"/>
              </a:defRPr>
            </a:pPr>
            <a:r>
              <a:t>6. Parameter Sensitivity</a:t>
            </a:r>
          </a:p>
          <a:p>
            <a:pPr>
              <a:defRPr sz="1200">
                <a:solidFill>
                  <a:srgbClr val="EEF2F7"/>
                </a:solidFill>
                <a:latin typeface="Calibri"/>
              </a:defRPr>
            </a:pPr>
            <a:r>
              <a:t>Vary emissivity (0 to 1) and flux (500 to 2000 W/m²) after verification.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03520"/>
            <a:ext cx="11094415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Jersam Lithin L  •  Register No.: URK24AE1026  •  B.Tech Aerospace Engineering  •  Karunya Institute of Technology and Sciences</a:t>
            </a:r>
          </a:p>
          <a:p>
            <a:pPr>
              <a:defRPr sz="1200">
                <a:solidFill>
                  <a:srgbClr val="7C8DB5"/>
                </a:solidFill>
                <a:latin typeface="Calibri"/>
              </a:defRPr>
            </a:pPr>
            <a:r>
              <a:t>Conclusion: Radiation methodology is established, but validation requires resolving grid sensitivity and analytical discrepancies.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7C8DB5"/>
                </a:solidFill>
                <a:latin typeface="Calibri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rmal Navy">
  <a:themeElements>
    <a:clrScheme name="Thermal Navy">
      <a:dk1>
        <a:srgbClr val="0B1426"/>
      </a:dk1>
      <a:lt1>
        <a:srgbClr val="FFFFFF"/>
      </a:lt1>
      <a:dk2>
        <a:srgbClr val="16264A"/>
      </a:dk2>
      <a:lt2>
        <a:srgbClr val="EEF2F7"/>
      </a:lt2>
      <a:accent1>
        <a:srgbClr val="FF7A1A"/>
      </a:accent1>
      <a:accent2>
        <a:srgbClr val="23B5D3"/>
      </a:accent2>
      <a:accent3>
        <a:srgbClr val="FFC24B"/>
      </a:accent3>
      <a:accent4>
        <a:srgbClr val="7C8DB5"/>
      </a:accent4>
      <a:accent5>
        <a:srgbClr val="E5484D"/>
      </a:accent5>
      <a:accent6>
        <a:srgbClr val="3DD598"/>
      </a:accent6>
      <a:hlink>
        <a:srgbClr val="23B5D3"/>
      </a:hlink>
      <a:folHlink>
        <a:srgbClr val="7C8DB5"/>
      </a:folHlink>
    </a:clrScheme>
    <a:fontScheme name="Thermal Nav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Flat-Plate CFD with Surface Radiation - Pitch Template</dc:title>
  <dc:subject>PptxGenJS Presentation</dc:subject>
  <dc:creator>[Presenter name]</dc:creator>
  <cp:lastModifiedBy>[Presenter name]</cp:lastModifiedBy>
  <cp:revision>1</cp:revision>
  <dcterms:created xsi:type="dcterms:W3CDTF">2026-10-24T04:42:54Z</dcterms:created>
  <dcterms:modified xsi:type="dcterms:W3CDTF">2026-10-24T04:42:54Z</dcterms:modified>
</cp:coreProperties>
</file>