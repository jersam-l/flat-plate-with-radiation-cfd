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6"/>
    <p:sldId id="260" r:id="rId5"/>
    <p:sldId id="261" r:id="rId4"/>
    <p:sldId id="262" r:id="rId3"/>
    <p:sldId id="263" r:id="rId2"/>
    <p:sldId id="264" r:id="rId15"/>
    <p:sldId id="265" r:id="rId16"/>
    <p:sldId id="266" r:id="rId17"/>
    <p:sldId id="267" r:id="rId18"/>
    <p:sldId id="268" r:id="rId19"/>
    <p:sldId id="269" r:id="rId20"/>
  </p:sldIdLst>
  <p:notesMasterIdLst>
    <p:notesMasterId r:id="rId10"/>
  </p:notesMasterIdLst>
  <p:sldSz cx="12191999"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7.xml"/><Relationship Id="rId4" Type="http://schemas.openxmlformats.org/officeDocument/2006/relationships/slide" Target="slides/slide6.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I am Jersam Lithin L, 3rd year Aerospace Engineering at Karunya Institute of Technology and Sciences. This project investigates coupled surface thermal radiation on a laminar flat-plate boundary layer using OpenFOAM 13. The hydrodynamic solver validates against exact Blasius similarity within 0.11%. Source: results/figures/four_case_temperature_zoom.png.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standard boundary layer heat transfer analyses, radiation is often neglected under the assumption that convection dominates. However, because local convective heat transfer coefficients decrease downstream proportional to x^(-0.5), convective resistance climbs toward the trailing edge. Radiation provides a crucial alternative heat path. Source: results/figures/wall_temperature_all_cases.png.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aerospace skin cooling and spacecraft thermal management, radiation acts as a parallel thermal path. When convective boundary layer resistance increases downstream, radiation emission carries a larger share of the thermal burden, stabilizing operating temperatures. Source: results/figures/research_paper_radiation_analogy.png.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governing equations consist of the steady laminar boundary layer equations with constant properties. The radiation boundary condition couples surface temperature to the external environment. First-Law energy conservation demands that total input electrical heat equals the sum of fluid conduction and net radiation at every single face. Source: cases/surfaceRadiation_fine/0/T.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radiation depends on Tw to the fourth power, explicit evaluation would be numerically unstable. We implement an in-situ Newton-Raphson solver inside the OpenFOAM boundary condition. Because f-prime is strictly positive for positive temperatures, the scheme converges quadratically in fewer than four iterations. Source: cases/surfaceRadiation_fine/0/T.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domain geometry includes a 1.0 m unheated development section preceding the 1.0 m heated plate. This establishes a fully developed laminar Blasius velocity profile before heating begins. The 80:1 normal expansion ratio yields a first cell height of 70.3 micrometers, packing 41 cells inside the 5 mm boundary layer. Source: cases/surfaceRadiation_fine/system/blockMeshDict.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investigation executes a rigorous 2 by 2 factorial matrix. Comparing noRadiation_fine against surfaceRadiation_fine quantifies the pure physics of surface radiation: a 6.98 K temperature drop and 21.56% radiative offloading. Comparing coarse against fine discloses numerical discretization sensitivity. Source: results/case_audit.csv.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Hydrodynamic solver accuracy is rigorously validated against the classical Blasius similarity solution. Trailing-edge skin friction matches analytical prediction with 0.11% relative error. All velocity profiles across different x-stations collapse onto the theoretical curve, giving complete confidence in the momentum solution. Source: results/figures/blasius_velocity_validation.png.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fluid transport properties are constant and buoyancy is absent, the momentum equation is decoupled from the energy equation. As shown in the figure, the velocity boundary layers are completely identical between the radiating and non-radiating cases. This cleanly isolates the thermal radiation coupling mechanism. Source: results/figures/four_case_velocity_zoom.png.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at the near-wall temperature contours, we observe clear isotherm suppression in the radiating cases. Crucially, the outer boundary layer thickness does not thin; delta-T-99 is 5.07 mm without radiation and 5.17 mm with radiation. Radiation offloads heat at the surface without disrupting boundary layer structure. Source: results/figures/four_case_temperature_zoom.png.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directly subtracting the non-radiating temperature field from the radiating field, we obtain the spatial cooling footprint. The temperature depression starts at approximately -1.2 K near the leading edge and intensifies downstream, reaching -6.98 K at the trailing edge. This proves that radiation is most effective precisely where convection is weakest. Source: results/figures/temperature_difference_zoom.png.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fine 64,000-cell mesh, surface radiation dissipates an integrated plate-averaged flux of 213.2 W/m² (21.32% of total heat), rising to 21.56% (215.59 W/m²) at the trailing edge. Convective flux steadily declines downstream, while radiative flux stays virtually uniform. The sum strictly closes to 1000.00 W/m² at every face. Source: results/figures/wall_heat_balance_and_nusselt.png.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Numerical rigor was audited across all runs. Linear solver residuals for pressure, velocity, and enthalpy all converge smoothly below 10⁻⁸ within 1500 iterations. The grid comparison highlights the importance of near-wall inflation: without sufficient resolution in the first 5 mm, conductive wall flux is miscalculated. Source: results/figures/convergence_histories_all4.png.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this project fulfills our Boundary Layer Theory course objectives: we successfully coupled non-linear surface radiation to a laminar boundary layer in OpenFOAM 13, demonstrated a 6.98 K temperature drop and 21.56% radiative offloading, and validated the momentum solver against Blasius within 0.11%. Thank you for your attention. Source: README.md, Flat_Plate_Radiation_CFD_Pitch.pdf.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309360" cy="20116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4297680"/>
            <a:ext cx="6309360" cy="914400"/>
          </a:xfrm>
          <a:prstGeom prst="rect">
            <a:avLst/>
          </a:prstGeom>
          <a:noFill/>
          <a:ln/>
        </p:spPr>
        <p:txBody>
          <a:bodyPr wrap="square" rtlCol="0"/>
          <a:lstStyle>
            <a:lvl1pPr algn="l" indent="0" marL="0">
              <a:buNone/>
              <a:defRPr lang="en-US" sz="2000" dirty="0">
                <a:solidFill>
                  <a:schemeClr val="accent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CONT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a:defRPr sz="1100">
                <a:solidFill>
                  <a:srgbClr val="7C8DB5"/>
                </a:solidFill>
                <a:latin typeface="Calibri"/>
              </a:defRPr>
            </a:pPr>
            <a:r>
              <a:t>Boundary Layer on a Flat Plate with Radiation  •  Jersam Lithin L (URK24AE1026)  •  Karunya</a:t>
            </a:r>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a:defRPr sz="1100">
                <a:solidFill>
                  <a:srgbClr val="7C8DB5"/>
                </a:solidFill>
                <a:latin typeface="Calibri"/>
              </a:defRPr>
            </a:pPr>
            <a:r>
              <a:t>Boundary Layer on a Flat Plate with Radiation  •  Jersam Lithin L (URK24AE1026)  •  Karunya</a:t>
            </a:r>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 Placeholder 2"/>
          <p:cNvSpPr>
            <a:spLocks noGrp="1"/>
          </p:cNvSpPr>
          <p:nvPr>
            <p:ph type="body" idx="101"/>
          </p:nvPr>
        </p:nvSpPr>
        <p:spPr/>
        <p:txBody>
          <a:bodyPr/>
          <a:lstStyle/>
          <a:p/>
        </p:txBody>
      </p:sp>
      <p:sp>
        <p:nvSpPr>
          <p:cNvPr id="4" name="TextBox 3"/>
          <p:cNvSpPr txBox="1"/>
          <p:nvPr/>
        </p:nvSpPr>
        <p:spPr>
          <a:xfrm>
            <a:off x="731520" y="731520"/>
            <a:ext cx="6217920" cy="365760"/>
          </a:xfrm>
          <a:prstGeom prst="rect">
            <a:avLst/>
          </a:prstGeom>
          <a:noFill/>
        </p:spPr>
        <p:txBody>
          <a:bodyPr wrap="none" lIns="0" tIns="0">
            <a:spAutoFit/>
          </a:bodyPr>
          <a:lstStyle/>
          <a:p>
            <a:pPr>
              <a:defRPr sz="1300" b="1">
                <a:solidFill>
                  <a:srgbClr val="23B5D3"/>
                </a:solidFill>
                <a:latin typeface="Calibri"/>
              </a:defRPr>
            </a:pPr>
            <a:r>
              <a:t>KARUNYA INSTITUTE OF TECHNOLOGY AND SCIENCES  •  AEROSPACE</a:t>
            </a:r>
          </a:p>
        </p:txBody>
      </p:sp>
      <p:sp>
        <p:nvSpPr>
          <p:cNvPr id="5" name="TextBox 4"/>
          <p:cNvSpPr txBox="1"/>
          <p:nvPr/>
        </p:nvSpPr>
        <p:spPr>
          <a:xfrm>
            <a:off x="731520" y="1234440"/>
            <a:ext cx="6217920" cy="2103120"/>
          </a:xfrm>
          <a:prstGeom prst="rect">
            <a:avLst/>
          </a:prstGeom>
          <a:noFill/>
        </p:spPr>
        <p:txBody>
          <a:bodyPr wrap="square" lIns="0" tIns="0">
            <a:spAutoFit/>
          </a:bodyPr>
          <a:lstStyle/>
          <a:p>
            <a:pPr>
              <a:defRPr sz="3600" b="1">
                <a:solidFill>
                  <a:srgbClr val="FFFFFF"/>
                </a:solidFill>
                <a:latin typeface="Cambria"/>
              </a:defRPr>
            </a:pPr>
            <a:r>
              <a:t>Boundary Layer on a Flat Plate with Radiation</a:t>
            </a:r>
          </a:p>
        </p:txBody>
      </p:sp>
      <p:sp>
        <p:nvSpPr>
          <p:cNvPr id="6" name="TextBox 5"/>
          <p:cNvSpPr txBox="1"/>
          <p:nvPr/>
        </p:nvSpPr>
        <p:spPr>
          <a:xfrm>
            <a:off x="731520" y="3520440"/>
            <a:ext cx="6217920" cy="822960"/>
          </a:xfrm>
          <a:prstGeom prst="rect">
            <a:avLst/>
          </a:prstGeom>
          <a:noFill/>
        </p:spPr>
        <p:txBody>
          <a:bodyPr wrap="square" lIns="0" tIns="0">
            <a:spAutoFit/>
          </a:bodyPr>
          <a:lstStyle/>
          <a:p>
            <a:pPr>
              <a:defRPr sz="1700">
                <a:solidFill>
                  <a:srgbClr val="EEF2F7"/>
                </a:solidFill>
                <a:latin typeface="Calibri"/>
              </a:defRPr>
            </a:pPr>
            <a:r>
              <a:t>Coupled Surface Thermal Radiation Modeling in Laminar Boundary Layer Flows</a:t>
            </a:r>
          </a:p>
        </p:txBody>
      </p:sp>
      <p:sp>
        <p:nvSpPr>
          <p:cNvPr id="7" name="TextBox 6"/>
          <p:cNvSpPr txBox="1"/>
          <p:nvPr/>
        </p:nvSpPr>
        <p:spPr>
          <a:xfrm>
            <a:off x="731520" y="4526280"/>
            <a:ext cx="6217920" cy="1828800"/>
          </a:xfrm>
          <a:prstGeom prst="rect">
            <a:avLst/>
          </a:prstGeom>
          <a:noFill/>
        </p:spPr>
        <p:txBody>
          <a:bodyPr wrap="square" lIns="0" tIns="0">
            <a:spAutoFit/>
          </a:bodyPr>
          <a:lstStyle/>
          <a:p>
            <a:pPr>
              <a:spcAft>
                <a:spcPts val="300"/>
              </a:spcAft>
              <a:defRPr sz="2600" b="1">
                <a:solidFill>
                  <a:srgbClr val="FF7A1A"/>
                </a:solidFill>
                <a:latin typeface="Cambria"/>
              </a:defRPr>
            </a:pPr>
            <a:r>
              <a:t>JERSAM LITHIN L</a:t>
            </a:r>
          </a:p>
          <a:p>
            <a:pPr>
              <a:spcAft>
                <a:spcPts val="300"/>
              </a:spcAft>
              <a:defRPr sz="1600" b="1">
                <a:solidFill>
                  <a:srgbClr val="FFFFFF"/>
                </a:solidFill>
                <a:latin typeface="Calibri"/>
              </a:defRPr>
            </a:pPr>
            <a:r>
              <a:t>Register No: URK24AE1026</a:t>
            </a:r>
          </a:p>
          <a:p>
            <a:pPr>
              <a:spcAft>
                <a:spcPts val="200"/>
              </a:spcAft>
              <a:defRPr sz="1300">
                <a:solidFill>
                  <a:srgbClr val="EEF2F7"/>
                </a:solidFill>
                <a:latin typeface="Calibri"/>
              </a:defRPr>
            </a:pPr>
            <a:r>
              <a:t>3rd Year B.Tech, Aerospace Engineering  •  Department of Aerospace</a:t>
            </a:r>
          </a:p>
          <a:p>
            <a:pPr>
              <a:defRPr sz="1300">
                <a:solidFill>
                  <a:srgbClr val="FFC24B"/>
                </a:solidFill>
                <a:latin typeface="Calibri"/>
              </a:defRPr>
            </a:pPr>
            <a:r>
              <a:t>Subject: Boundary Layer Theory  |  Course Project Presentation</a:t>
            </a:r>
          </a:p>
        </p:txBody>
      </p:sp>
      <p:pic>
        <p:nvPicPr>
          <p:cNvPr id="8" name="Picture 7" descr="four_case_temperature_zoom.png"/>
          <p:cNvPicPr>
            <a:picLocks noChangeAspect="1"/>
          </p:cNvPicPr>
          <p:nvPr/>
        </p:nvPicPr>
        <p:blipFill>
          <a:blip r:embed="rId2"/>
          <a:stretch>
            <a:fillRect/>
          </a:stretch>
        </p:blipFill>
        <p:spPr>
          <a:xfrm>
            <a:off x="7132320" y="1904640"/>
            <a:ext cx="4480560" cy="2591518"/>
          </a:xfrm>
          <a:prstGeom prst="rect">
            <a:avLst/>
          </a:prstGeom>
        </p:spPr>
      </p:pic>
      <p:sp>
        <p:nvSpPr>
          <p:cNvPr id="9" name="TextBox 8"/>
          <p:cNvSpPr txBox="1"/>
          <p:nvPr/>
        </p:nvSpPr>
        <p:spPr>
          <a:xfrm>
            <a:off x="7132320" y="4587599"/>
            <a:ext cx="4480560" cy="365760"/>
          </a:xfrm>
          <a:prstGeom prst="rect">
            <a:avLst/>
          </a:prstGeom>
          <a:noFill/>
        </p:spPr>
        <p:txBody>
          <a:bodyPr wrap="square" lIns="0" tIns="0">
            <a:spAutoFit/>
          </a:bodyPr>
          <a:lstStyle/>
          <a:p>
            <a:pPr>
              <a:defRPr sz="1200">
                <a:solidFill>
                  <a:srgbClr val="7C8DB5"/>
                </a:solidFill>
                <a:latin typeface="Calibri"/>
              </a:defRPr>
            </a:pPr>
            <a:r>
              <a:t>Fig. 1: Near-wall thermal boundary layer temperature fields across the 2 × 2 matrix.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The Trailing-Edge Problem: Convective Resistance Climbs Downstream</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2 / 14</a:t>
            </a:r>
          </a:p>
        </p:txBody>
      </p:sp>
      <p:sp>
        <p:nvSpPr>
          <p:cNvPr id="5" name="Rounded Rectangle 4"/>
          <p:cNvSpPr/>
          <p:nvPr/>
        </p:nvSpPr>
        <p:spPr>
          <a:xfrm>
            <a:off x="548640" y="1371600"/>
            <a:ext cx="658368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ll_temperature_all_cases.png"/>
          <p:cNvPicPr>
            <a:picLocks noChangeAspect="1"/>
          </p:cNvPicPr>
          <p:nvPr/>
        </p:nvPicPr>
        <p:blipFill>
          <a:blip r:embed="rId2"/>
          <a:stretch>
            <a:fillRect/>
          </a:stretch>
        </p:blipFill>
        <p:spPr>
          <a:xfrm>
            <a:off x="731520" y="1888964"/>
            <a:ext cx="6217920" cy="3400111"/>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200">
                <a:solidFill>
                  <a:srgbClr val="7C8DB5"/>
                </a:solidFill>
                <a:latin typeface="Calibri"/>
              </a:defRPr>
            </a:pPr>
            <a:r>
              <a:t>Fig. 2: Streamwise wall temperature distribution along heated flat plate.</a:t>
            </a:r>
          </a:p>
        </p:txBody>
      </p:sp>
      <p:sp>
        <p:nvSpPr>
          <p:cNvPr id="8" name="TextBox 7"/>
          <p:cNvSpPr txBox="1"/>
          <p:nvPr/>
        </p:nvSpPr>
        <p:spPr>
          <a:xfrm>
            <a:off x="7498079" y="1463040"/>
            <a:ext cx="4114800" cy="3108960"/>
          </a:xfrm>
          <a:prstGeom prst="rect">
            <a:avLst/>
          </a:prstGeom>
          <a:noFill/>
        </p:spPr>
        <p:txBody>
          <a:bodyPr wrap="square" lIns="0" tIns="0">
            <a:spAutoFit/>
          </a:bodyPr>
          <a:lstStyle/>
          <a:p>
            <a:pPr>
              <a:spcAft>
                <a:spcPts val="1600"/>
              </a:spcAft>
              <a:defRPr sz="2400" b="1">
                <a:solidFill>
                  <a:srgbClr val="0B1426"/>
                </a:solidFill>
                <a:latin typeface="Cambria"/>
              </a:defRPr>
            </a:pPr>
            <a:r>
              <a:t>Convective Cooling Decays Downstream</a:t>
            </a:r>
          </a:p>
          <a:p>
            <a:pPr>
              <a:spcAft>
                <a:spcPts val="1400"/>
              </a:spcAft>
              <a:defRPr sz="1600">
                <a:solidFill>
                  <a:srgbClr val="0B1426"/>
                </a:solidFill>
                <a:latin typeface="Calibri"/>
              </a:defRPr>
            </a:pPr>
            <a:r>
              <a:t>•  Plate wall temperature depends strictly on competing heat rejection pathways.</a:t>
            </a:r>
          </a:p>
          <a:p>
            <a:pPr>
              <a:spcAft>
                <a:spcPts val="1400"/>
              </a:spcAft>
              <a:defRPr sz="1600">
                <a:solidFill>
                  <a:srgbClr val="0B1426"/>
                </a:solidFill>
                <a:latin typeface="Calibri"/>
              </a:defRPr>
            </a:pPr>
            <a:r>
              <a:t>•  Convective cooling drops downstream as hydrodynamic boundary layers thicken.</a:t>
            </a:r>
          </a:p>
          <a:p>
            <a:pPr>
              <a:spcAft>
                <a:spcPts val="1400"/>
              </a:spcAft>
              <a:defRPr sz="1600">
                <a:solidFill>
                  <a:srgbClr val="0B1426"/>
                </a:solidFill>
                <a:latin typeface="Calibri"/>
              </a:defRPr>
            </a:pPr>
            <a:r>
              <a:t>•  Standard CFD workflows frequently omit radiation, overpredicting component peak temperatures.</a:t>
            </a:r>
          </a:p>
        </p:txBody>
      </p:sp>
      <p:sp>
        <p:nvSpPr>
          <p:cNvPr id="9" name="Rounded Rectangle 8"/>
          <p:cNvSpPr/>
          <p:nvPr/>
        </p:nvSpPr>
        <p:spPr>
          <a:xfrm>
            <a:off x="7498079" y="4754880"/>
            <a:ext cx="4114800" cy="10972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4846320"/>
            <a:ext cx="3749039" cy="914400"/>
          </a:xfrm>
          <a:prstGeom prst="rect">
            <a:avLst/>
          </a:prstGeom>
          <a:noFill/>
        </p:spPr>
        <p:txBody>
          <a:bodyPr wrap="square" lIns="0" tIns="0">
            <a:spAutoFit/>
          </a:bodyPr>
          <a:lstStyle/>
          <a:p>
            <a:pPr>
              <a:defRPr sz="1700" b="1">
                <a:solidFill>
                  <a:srgbClr val="FF7A1A"/>
                </a:solidFill>
                <a:latin typeface="Cambria"/>
              </a:defRPr>
            </a:pPr>
            <a:r>
              <a:t>Heater Heat Flux: q″ = 1000 W/m²</a:t>
            </a:r>
          </a:p>
          <a:p>
            <a:pPr>
              <a:defRPr sz="1200">
                <a:solidFill>
                  <a:srgbClr val="0B1426"/>
                </a:solidFill>
                <a:latin typeface="Calibri"/>
              </a:defRPr>
            </a:pPr>
            <a:r>
              <a:t>Uniform electric heating over 1.0 m plate with T_ambient = 300 K, U_inf = 2.0 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Aerospace Context: When Convection Chokes, Radiation Dissipates</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3 / 14</a:t>
            </a:r>
          </a:p>
        </p:txBody>
      </p:sp>
      <p:sp>
        <p:nvSpPr>
          <p:cNvPr id="5" name="Rounded Rectangle 4"/>
          <p:cNvSpPr/>
          <p:nvPr/>
        </p:nvSpPr>
        <p:spPr>
          <a:xfrm>
            <a:off x="548640" y="1371600"/>
            <a:ext cx="658368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search_paper_radiation_analogy.png"/>
          <p:cNvPicPr>
            <a:picLocks noChangeAspect="1"/>
          </p:cNvPicPr>
          <p:nvPr/>
        </p:nvPicPr>
        <p:blipFill>
          <a:blip r:embed="rId2"/>
          <a:stretch>
            <a:fillRect/>
          </a:stretch>
        </p:blipFill>
        <p:spPr>
          <a:xfrm>
            <a:off x="731520" y="2160397"/>
            <a:ext cx="6217920" cy="2857244"/>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200">
                <a:solidFill>
                  <a:srgbClr val="7C8DB5"/>
                </a:solidFill>
                <a:latin typeface="Calibri"/>
              </a:defRPr>
            </a:pPr>
            <a:r>
              <a:t>Fig. 3: Thermal resistance circuit showing convective and radiative pathways.</a:t>
            </a:r>
          </a:p>
        </p:txBody>
      </p:sp>
      <p:sp>
        <p:nvSpPr>
          <p:cNvPr id="8" name="TextBox 7"/>
          <p:cNvSpPr txBox="1"/>
          <p:nvPr/>
        </p:nvSpPr>
        <p:spPr>
          <a:xfrm>
            <a:off x="7498079" y="1463040"/>
            <a:ext cx="4114800" cy="3108960"/>
          </a:xfrm>
          <a:prstGeom prst="rect">
            <a:avLst/>
          </a:prstGeom>
          <a:noFill/>
        </p:spPr>
        <p:txBody>
          <a:bodyPr wrap="square" lIns="0" tIns="0">
            <a:spAutoFit/>
          </a:bodyPr>
          <a:lstStyle/>
          <a:p>
            <a:pPr>
              <a:spcAft>
                <a:spcPts val="1600"/>
              </a:spcAft>
              <a:defRPr sz="2400" b="1">
                <a:solidFill>
                  <a:srgbClr val="0B1426"/>
                </a:solidFill>
                <a:latin typeface="Cambria"/>
              </a:defRPr>
            </a:pPr>
            <a:r>
              <a:t>The Radiation Escape Hatch</a:t>
            </a:r>
          </a:p>
          <a:p>
            <a:pPr>
              <a:spcAft>
                <a:spcPts val="1400"/>
              </a:spcAft>
              <a:defRPr sz="1600">
                <a:solidFill>
                  <a:srgbClr val="0B1426"/>
                </a:solidFill>
                <a:latin typeface="Calibri"/>
              </a:defRPr>
            </a:pPr>
            <a:r>
              <a:t>•  Aerospace skin cooling balances aerodynamic heating against atmospheric radiation emission.</a:t>
            </a:r>
          </a:p>
          <a:p>
            <a:pPr>
              <a:spcAft>
                <a:spcPts val="1400"/>
              </a:spcAft>
              <a:defRPr sz="1600">
                <a:solidFill>
                  <a:srgbClr val="0B1426"/>
                </a:solidFill>
                <a:latin typeface="Calibri"/>
              </a:defRPr>
            </a:pPr>
            <a:r>
              <a:t>•  Avionics cold plates dissipate significant heat directly via grey surface radiation.</a:t>
            </a:r>
          </a:p>
          <a:p>
            <a:pPr>
              <a:spcAft>
                <a:spcPts val="1400"/>
              </a:spcAft>
              <a:defRPr sz="1600">
                <a:solidFill>
                  <a:srgbClr val="0B1426"/>
                </a:solidFill>
                <a:latin typeface="Calibri"/>
              </a:defRPr>
            </a:pPr>
            <a:r>
              <a:t>•  Coupled solver captures non-linear radiation without heavy Monte Carlo computational overhead.</a:t>
            </a:r>
          </a:p>
        </p:txBody>
      </p:sp>
      <p:sp>
        <p:nvSpPr>
          <p:cNvPr id="9" name="Rounded Rectangle 8"/>
          <p:cNvSpPr/>
          <p:nvPr/>
        </p:nvSpPr>
        <p:spPr>
          <a:xfrm>
            <a:off x="7498079" y="4754880"/>
            <a:ext cx="4114800" cy="10972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4846320"/>
            <a:ext cx="3749039" cy="914400"/>
          </a:xfrm>
          <a:prstGeom prst="rect">
            <a:avLst/>
          </a:prstGeom>
          <a:noFill/>
        </p:spPr>
        <p:txBody>
          <a:bodyPr wrap="square" lIns="0" tIns="0">
            <a:spAutoFit/>
          </a:bodyPr>
          <a:lstStyle/>
          <a:p>
            <a:pPr>
              <a:defRPr sz="1700" b="1">
                <a:solidFill>
                  <a:srgbClr val="23B5D3"/>
                </a:solidFill>
                <a:latin typeface="Cambria"/>
              </a:defRPr>
            </a:pPr>
            <a:r>
              <a:t>Stefan-Boltzmann Quartic Law</a:t>
            </a:r>
          </a:p>
          <a:p>
            <a:pPr>
              <a:defRPr sz="1200">
                <a:solidFill>
                  <a:srgbClr val="0B1426"/>
                </a:solidFill>
                <a:latin typeface="Calibri"/>
              </a:defRPr>
            </a:pPr>
            <a:r>
              <a:t>Radiation emission scales with (T_w⁴ − T_sur⁴), providing escalating relief as surface heats.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Coupled Boundary Layer Formulation &amp; First-Law Closure</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4 / 14</a:t>
            </a:r>
          </a:p>
        </p:txBody>
      </p:sp>
      <p:sp>
        <p:nvSpPr>
          <p:cNvPr id="5" name="Rounded Rectangle 4"/>
          <p:cNvSpPr/>
          <p:nvPr/>
        </p:nvSpPr>
        <p:spPr>
          <a:xfrm>
            <a:off x="548640" y="1371600"/>
            <a:ext cx="621792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600200"/>
            <a:ext cx="5669280" cy="4297680"/>
          </a:xfrm>
          <a:prstGeom prst="rect">
            <a:avLst/>
          </a:prstGeom>
          <a:noFill/>
        </p:spPr>
        <p:txBody>
          <a:bodyPr wrap="square" lIns="0" tIns="0">
            <a:spAutoFit/>
          </a:bodyPr>
          <a:lstStyle/>
          <a:p>
            <a:pPr>
              <a:spcAft>
                <a:spcPts val="1200"/>
              </a:spcAft>
              <a:defRPr sz="2200" b="1">
                <a:solidFill>
                  <a:srgbClr val="0B1426"/>
                </a:solidFill>
                <a:latin typeface="Cambria"/>
              </a:defRPr>
            </a:pPr>
            <a:r>
              <a:t>Governing Equations at Fluid-Solid Boundary</a:t>
            </a:r>
          </a:p>
          <a:p>
            <a:pPr>
              <a:defRPr sz="1400" b="1">
                <a:solidFill>
                  <a:srgbClr val="0B1426"/>
                </a:solidFill>
                <a:latin typeface="Calibri"/>
              </a:defRPr>
            </a:pPr>
            <a:r>
              <a:t>1. Navier-Stokes Momentum &amp; Energy Equations:</a:t>
            </a:r>
          </a:p>
          <a:p>
            <a:pPr>
              <a:spcAft>
                <a:spcPts val="1000"/>
              </a:spcAft>
              <a:defRPr sz="1500" b="1">
                <a:solidFill>
                  <a:srgbClr val="23B5D3"/>
                </a:solidFill>
                <a:latin typeface="Cambria"/>
              </a:defRPr>
            </a:pPr>
            <a:r>
              <a:t>u ∂u/∂x + v ∂u/∂y = ν ∂²u/∂y²,   u ∂T/∂x + v ∂T/∂y = α ∂²T/∂y²</a:t>
            </a:r>
          </a:p>
          <a:p>
            <a:pPr>
              <a:defRPr sz="1400" b="1">
                <a:solidFill>
                  <a:srgbClr val="0B1426"/>
                </a:solidFill>
                <a:latin typeface="Calibri"/>
              </a:defRPr>
            </a:pPr>
            <a:r>
              <a:t>2. Conjugate Surface Energy Balance (Wall Boundary):</a:t>
            </a:r>
          </a:p>
          <a:p>
            <a:pPr>
              <a:defRPr sz="1600" b="1">
                <a:solidFill>
                  <a:srgbClr val="FF7A1A"/>
                </a:solidFill>
                <a:latin typeface="Cambria"/>
              </a:defRPr>
            </a:pPr>
            <a:r>
              <a:t>q″_heater = −k (∂T/∂y)_wall + ε σ (T_w⁴ − T_sur⁴) = 1000 W/m²</a:t>
            </a:r>
          </a:p>
          <a:p>
            <a:pPr>
              <a:defRPr sz="1200">
                <a:solidFill>
                  <a:srgbClr val="7C8DB5"/>
                </a:solidFill>
                <a:latin typeface="Calibri"/>
              </a:defRPr>
            </a:pPr>
            <a:r>
              <a:t>where ε = 0.80,  σ = 5.670 × 10⁻⁸ W/(m²·K⁴),  T_sur = 300 K</a:t>
            </a:r>
          </a:p>
        </p:txBody>
      </p:sp>
      <p:sp>
        <p:nvSpPr>
          <p:cNvPr id="7" name="TextBox 6"/>
          <p:cNvSpPr txBox="1"/>
          <p:nvPr/>
        </p:nvSpPr>
        <p:spPr>
          <a:xfrm>
            <a:off x="7132320" y="1371600"/>
            <a:ext cx="4480560" cy="365760"/>
          </a:xfrm>
          <a:prstGeom prst="rect">
            <a:avLst/>
          </a:prstGeom>
          <a:noFill/>
        </p:spPr>
        <p:txBody>
          <a:bodyPr wrap="none" lIns="0" tIns="0">
            <a:spAutoFit/>
          </a:bodyPr>
          <a:lstStyle/>
          <a:p>
            <a:pPr>
              <a:defRPr sz="2400" b="1">
                <a:solidFill>
                  <a:srgbClr val="0B1426"/>
                </a:solidFill>
                <a:latin typeface="Cambria"/>
              </a:defRPr>
            </a:pPr>
            <a:r>
              <a:t>Conservation by Construction</a:t>
            </a:r>
          </a:p>
        </p:txBody>
      </p:sp>
      <p:sp>
        <p:nvSpPr>
          <p:cNvPr id="8" name="TextBox 7"/>
          <p:cNvSpPr txBox="1"/>
          <p:nvPr/>
        </p:nvSpPr>
        <p:spPr>
          <a:xfrm>
            <a:off x="7132320" y="1920240"/>
            <a:ext cx="4480560" cy="2926080"/>
          </a:xfrm>
          <a:prstGeom prst="rect">
            <a:avLst/>
          </a:prstGeom>
          <a:noFill/>
        </p:spPr>
        <p:txBody>
          <a:bodyPr wrap="square" lIns="0" tIns="0">
            <a:spAutoFit/>
          </a:bodyPr>
          <a:lstStyle/>
          <a:p>
            <a:pPr>
              <a:spcAft>
                <a:spcPts val="1400"/>
              </a:spcAft>
              <a:defRPr sz="1600">
                <a:solidFill>
                  <a:srgbClr val="0B1426"/>
                </a:solidFill>
                <a:latin typeface="Calibri"/>
              </a:defRPr>
            </a:pPr>
            <a:r>
              <a:t>•  Laminar Navier-Stokes fluid flow solved simultaneously with thermal energy transport.</a:t>
            </a:r>
          </a:p>
          <a:p>
            <a:pPr>
              <a:spcAft>
                <a:spcPts val="1400"/>
              </a:spcAft>
              <a:defRPr sz="1600">
                <a:solidFill>
                  <a:srgbClr val="0B1426"/>
                </a:solidFill>
                <a:latin typeface="Calibri"/>
              </a:defRPr>
            </a:pPr>
            <a:r>
              <a:t>•  Surface radiation enters as a boundary heat flux balance at the wall.</a:t>
            </a:r>
          </a:p>
          <a:p>
            <a:pPr>
              <a:spcAft>
                <a:spcPts val="1400"/>
              </a:spcAft>
              <a:defRPr sz="1600">
                <a:solidFill>
                  <a:srgbClr val="0B1426"/>
                </a:solidFill>
                <a:latin typeface="Calibri"/>
              </a:defRPr>
            </a:pPr>
            <a:r>
              <a:t>•  First-Law energy balance holds exactly at every finite volume cell face.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Numerical Implementation: In-Situ Newton-Raphson Wall Solver</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5 / 14</a:t>
            </a:r>
          </a:p>
        </p:txBody>
      </p:sp>
      <p:sp>
        <p:nvSpPr>
          <p:cNvPr id="5" name="Rounded Rectangle 4"/>
          <p:cNvSpPr/>
          <p:nvPr/>
        </p:nvSpPr>
        <p:spPr>
          <a:xfrm>
            <a:off x="548640" y="1371600"/>
            <a:ext cx="621792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600200"/>
            <a:ext cx="5669280" cy="4297680"/>
          </a:xfrm>
          <a:prstGeom prst="rect">
            <a:avLst/>
          </a:prstGeom>
          <a:noFill/>
        </p:spPr>
        <p:txBody>
          <a:bodyPr wrap="square" lIns="0" tIns="0">
            <a:spAutoFit/>
          </a:bodyPr>
          <a:lstStyle/>
          <a:p>
            <a:pPr>
              <a:spcAft>
                <a:spcPts val="1200"/>
              </a:spcAft>
              <a:defRPr sz="2200" b="1">
                <a:solidFill>
                  <a:srgbClr val="0B1426"/>
                </a:solidFill>
                <a:latin typeface="Cambria"/>
              </a:defRPr>
            </a:pPr>
            <a:r>
              <a:t>In-Situ Non-Linear Root Finding</a:t>
            </a:r>
          </a:p>
          <a:p>
            <a:pPr>
              <a:defRPr sz="1400" b="1">
                <a:solidFill>
                  <a:srgbClr val="0B1426"/>
                </a:solidFill>
                <a:latin typeface="Calibri"/>
              </a:defRPr>
            </a:pPr>
            <a:r>
              <a:t>1. Non-Linear Face Objective Function f(Tw) = 0:</a:t>
            </a:r>
          </a:p>
          <a:p>
            <a:pPr>
              <a:spcAft>
                <a:spcPts val="1000"/>
              </a:spcAft>
              <a:defRPr sz="1400" b="1">
                <a:solidFill>
                  <a:srgbClr val="0B1426"/>
                </a:solidFill>
                <a:latin typeface="Cambria"/>
              </a:defRPr>
            </a:pPr>
            <a:r>
              <a:t>f(T_w) = −k (∂T/∂y)_w + ε σ (T_w⁴ − T_sur⁴) − q″_heater = 0</a:t>
            </a:r>
          </a:p>
          <a:p>
            <a:pPr>
              <a:defRPr sz="1400" b="1">
                <a:solidFill>
                  <a:srgbClr val="0B1426"/>
                </a:solidFill>
                <a:latin typeface="Calibri"/>
              </a:defRPr>
            </a:pPr>
            <a:r>
              <a:t>2. Analytical Derivative f′(Tw) &gt; 0 (Monotonic):</a:t>
            </a:r>
          </a:p>
          <a:p>
            <a:pPr>
              <a:spcAft>
                <a:spcPts val="1000"/>
              </a:spcAft>
              <a:defRPr sz="1600" b="1">
                <a:solidFill>
                  <a:srgbClr val="23B5D3"/>
                </a:solidFill>
                <a:latin typeface="Cambria"/>
              </a:defRPr>
            </a:pPr>
            <a:r>
              <a:t>f′(T_w) = k / Δy₁ + 4 ε σ T_w³ &gt; 0</a:t>
            </a:r>
          </a:p>
          <a:p>
            <a:pPr>
              <a:defRPr sz="1400" b="1">
                <a:solidFill>
                  <a:srgbClr val="0B1426"/>
                </a:solidFill>
                <a:latin typeface="Calibri"/>
              </a:defRPr>
            </a:pPr>
            <a:r>
              <a:t>3. Newton-Raphson Update Step:</a:t>
            </a:r>
          </a:p>
          <a:p>
            <a:pPr>
              <a:defRPr sz="1600" b="1">
                <a:solidFill>
                  <a:srgbClr val="FF7A1A"/>
                </a:solidFill>
                <a:latin typeface="Cambria"/>
              </a:defRPr>
            </a:pPr>
            <a:r>
              <a:t>T_w,new = T_w,old − f(T_w) / f′(T_w)</a:t>
            </a:r>
          </a:p>
        </p:txBody>
      </p:sp>
      <p:sp>
        <p:nvSpPr>
          <p:cNvPr id="7" name="TextBox 6"/>
          <p:cNvSpPr txBox="1"/>
          <p:nvPr/>
        </p:nvSpPr>
        <p:spPr>
          <a:xfrm>
            <a:off x="7132320" y="1371600"/>
            <a:ext cx="4480560" cy="365760"/>
          </a:xfrm>
          <a:prstGeom prst="rect">
            <a:avLst/>
          </a:prstGeom>
          <a:noFill/>
        </p:spPr>
        <p:txBody>
          <a:bodyPr wrap="none" lIns="0" tIns="0">
            <a:spAutoFit/>
          </a:bodyPr>
          <a:lstStyle/>
          <a:p>
            <a:pPr>
              <a:defRPr sz="2400" b="1">
                <a:solidFill>
                  <a:srgbClr val="0B1426"/>
                </a:solidFill>
                <a:latin typeface="Cambria"/>
              </a:defRPr>
            </a:pPr>
            <a:r>
              <a:t>Boundary Condition Mechanics</a:t>
            </a:r>
          </a:p>
        </p:txBody>
      </p:sp>
      <p:sp>
        <p:nvSpPr>
          <p:cNvPr id="8" name="TextBox 7"/>
          <p:cNvSpPr txBox="1"/>
          <p:nvPr/>
        </p:nvSpPr>
        <p:spPr>
          <a:xfrm>
            <a:off x="7132320" y="1874519"/>
            <a:ext cx="4480560" cy="2011680"/>
          </a:xfrm>
          <a:prstGeom prst="rect">
            <a:avLst/>
          </a:prstGeom>
          <a:noFill/>
        </p:spPr>
        <p:txBody>
          <a:bodyPr wrap="square" lIns="0" tIns="0">
            <a:spAutoFit/>
          </a:bodyPr>
          <a:lstStyle/>
          <a:p>
            <a:pPr>
              <a:spcAft>
                <a:spcPts val="1400"/>
              </a:spcAft>
              <a:defRPr sz="1500">
                <a:solidFill>
                  <a:srgbClr val="0B1426"/>
                </a:solidFill>
                <a:latin typeface="Calibri"/>
              </a:defRPr>
            </a:pPr>
            <a:r>
              <a:t>•  Solves non-linear quartic radiative flux at every boundary face.</a:t>
            </a:r>
          </a:p>
          <a:p>
            <a:pPr>
              <a:spcAft>
                <a:spcPts val="1400"/>
              </a:spcAft>
              <a:defRPr sz="1500">
                <a:solidFill>
                  <a:srgbClr val="0B1426"/>
                </a:solidFill>
                <a:latin typeface="Calibri"/>
              </a:defRPr>
            </a:pPr>
            <a:r>
              <a:t>•  Enforces local face heat balance by construction during each PIMPLE step.</a:t>
            </a:r>
          </a:p>
          <a:p>
            <a:pPr>
              <a:spcAft>
                <a:spcPts val="1400"/>
              </a:spcAft>
              <a:defRPr sz="1500">
                <a:solidFill>
                  <a:srgbClr val="0B1426"/>
                </a:solidFill>
                <a:latin typeface="Calibri"/>
              </a:defRPr>
            </a:pPr>
            <a:r>
              <a:t>•  Newton-Raphson scheme converges to double precision within four iterations.</a:t>
            </a:r>
          </a:p>
        </p:txBody>
      </p:sp>
      <p:sp>
        <p:nvSpPr>
          <p:cNvPr id="9" name="Rounded Rectangle 8"/>
          <p:cNvSpPr/>
          <p:nvPr/>
        </p:nvSpPr>
        <p:spPr>
          <a:xfrm>
            <a:off x="7132320" y="4389120"/>
            <a:ext cx="2148840" cy="17373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69480" y="4526280"/>
            <a:ext cx="1874519" cy="1463040"/>
          </a:xfrm>
          <a:prstGeom prst="rect">
            <a:avLst/>
          </a:prstGeom>
          <a:noFill/>
        </p:spPr>
        <p:txBody>
          <a:bodyPr wrap="none" lIns="0" tIns="0">
            <a:spAutoFit/>
          </a:bodyPr>
          <a:lstStyle/>
          <a:p>
            <a:pPr>
              <a:defRPr sz="3000" b="1">
                <a:solidFill>
                  <a:srgbClr val="FF7A1A"/>
                </a:solidFill>
                <a:latin typeface="Cambria"/>
              </a:defRPr>
            </a:pPr>
            <a:r>
              <a:t>ε = 0.80</a:t>
            </a:r>
          </a:p>
          <a:p>
            <a:pPr>
              <a:defRPr sz="1200">
                <a:solidFill>
                  <a:srgbClr val="0B1426"/>
                </a:solidFill>
                <a:latin typeface="Calibri"/>
              </a:defRPr>
            </a:pPr>
            <a:r>
              <a:t>Grey-diffuse emissivity to 300 K external enclosure</a:t>
            </a:r>
          </a:p>
        </p:txBody>
      </p:sp>
      <p:sp>
        <p:nvSpPr>
          <p:cNvPr id="11" name="Rounded Rectangle 10"/>
          <p:cNvSpPr/>
          <p:nvPr/>
        </p:nvSpPr>
        <p:spPr>
          <a:xfrm>
            <a:off x="9464040" y="4389120"/>
            <a:ext cx="2148840" cy="17373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0" y="4526280"/>
            <a:ext cx="1874519" cy="1463040"/>
          </a:xfrm>
          <a:prstGeom prst="rect">
            <a:avLst/>
          </a:prstGeom>
          <a:noFill/>
        </p:spPr>
        <p:txBody>
          <a:bodyPr wrap="none" lIns="0" tIns="0">
            <a:spAutoFit/>
          </a:bodyPr>
          <a:lstStyle/>
          <a:p>
            <a:pPr>
              <a:defRPr sz="3000" b="1">
                <a:solidFill>
                  <a:srgbClr val="23B5D3"/>
                </a:solidFill>
                <a:latin typeface="Cambria"/>
              </a:defRPr>
            </a:pPr>
            <a:r>
              <a:t>&lt; 4 Iter</a:t>
            </a:r>
          </a:p>
          <a:p>
            <a:pPr>
              <a:defRPr sz="1200">
                <a:solidFill>
                  <a:srgbClr val="0B1426"/>
                </a:solidFill>
                <a:latin typeface="Calibri"/>
              </a:defRPr>
            </a:pPr>
            <a:r>
              <a:t>Fast quadratic convergence per boundary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Domain Architecture &amp; 80:1 Wall-Normal Inflation Mesh</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6 / 14</a:t>
            </a:r>
          </a:p>
        </p:txBody>
      </p:sp>
      <p:sp>
        <p:nvSpPr>
          <p:cNvPr id="5" name="Rounded Rectangle 4"/>
          <p:cNvSpPr/>
          <p:nvPr/>
        </p:nvSpPr>
        <p:spPr>
          <a:xfrm>
            <a:off x="548640" y="1371600"/>
            <a:ext cx="658368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sh_inflation_detail.png"/>
          <p:cNvPicPr>
            <a:picLocks noChangeAspect="1"/>
          </p:cNvPicPr>
          <p:nvPr/>
        </p:nvPicPr>
        <p:blipFill>
          <a:blip r:embed="rId2"/>
          <a:stretch>
            <a:fillRect/>
          </a:stretch>
        </p:blipFill>
        <p:spPr>
          <a:xfrm>
            <a:off x="731520" y="2267850"/>
            <a:ext cx="6217920" cy="2642339"/>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200">
                <a:solidFill>
                  <a:srgbClr val="7C8DB5"/>
                </a:solidFill>
                <a:latin typeface="Calibri"/>
              </a:defRPr>
            </a:pPr>
            <a:r>
              <a:t>Fig. 4: Structured inflation mesh near heated plate leading edge (80:1 grading).</a:t>
            </a:r>
          </a:p>
        </p:txBody>
      </p:sp>
      <p:sp>
        <p:nvSpPr>
          <p:cNvPr id="8" name="TextBox 7"/>
          <p:cNvSpPr txBox="1"/>
          <p:nvPr/>
        </p:nvSpPr>
        <p:spPr>
          <a:xfrm>
            <a:off x="7498079" y="1463040"/>
            <a:ext cx="4114800" cy="3108960"/>
          </a:xfrm>
          <a:prstGeom prst="rect">
            <a:avLst/>
          </a:prstGeom>
          <a:noFill/>
        </p:spPr>
        <p:txBody>
          <a:bodyPr wrap="square" lIns="0" tIns="0">
            <a:spAutoFit/>
          </a:bodyPr>
          <a:lstStyle/>
          <a:p>
            <a:pPr>
              <a:spcAft>
                <a:spcPts val="1600"/>
              </a:spcAft>
              <a:defRPr sz="2400" b="1">
                <a:solidFill>
                  <a:srgbClr val="0B1426"/>
                </a:solidFill>
                <a:latin typeface="Cambria"/>
              </a:defRPr>
            </a:pPr>
            <a:r>
              <a:t>Resolving the Thermal Sublayer</a:t>
            </a:r>
          </a:p>
          <a:p>
            <a:pPr>
              <a:spcAft>
                <a:spcPts val="1400"/>
              </a:spcAft>
              <a:defRPr sz="1600">
                <a:solidFill>
                  <a:srgbClr val="0B1426"/>
                </a:solidFill>
                <a:latin typeface="Calibri"/>
              </a:defRPr>
            </a:pPr>
            <a:r>
              <a:t>•  Domain includes 1.0 m unheated inflow section to develop boundary layer.</a:t>
            </a:r>
          </a:p>
          <a:p>
            <a:pPr>
              <a:spcAft>
                <a:spcPts val="1400"/>
              </a:spcAft>
              <a:defRPr sz="1600">
                <a:solidFill>
                  <a:srgbClr val="0B1426"/>
                </a:solidFill>
                <a:latin typeface="Calibri"/>
              </a:defRPr>
            </a:pPr>
            <a:r>
              <a:t>•  Geometric wall-normal grading of 80:1 concentrates 41 cells in 5 mm.</a:t>
            </a:r>
          </a:p>
          <a:p>
            <a:pPr>
              <a:spcAft>
                <a:spcPts val="1400"/>
              </a:spcAft>
              <a:defRPr sz="1600">
                <a:solidFill>
                  <a:srgbClr val="0B1426"/>
                </a:solidFill>
                <a:latin typeface="Calibri"/>
              </a:defRPr>
            </a:pPr>
            <a:r>
              <a:t>•  Fine 64,000-cell mesh maintains zero non-orthogonality and skewness.</a:t>
            </a:r>
          </a:p>
        </p:txBody>
      </p:sp>
      <p:sp>
        <p:nvSpPr>
          <p:cNvPr id="9" name="Rounded Rectangle 8"/>
          <p:cNvSpPr/>
          <p:nvPr/>
        </p:nvSpPr>
        <p:spPr>
          <a:xfrm>
            <a:off x="7498079" y="4754880"/>
            <a:ext cx="4114800" cy="10972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4846320"/>
            <a:ext cx="3749039" cy="914400"/>
          </a:xfrm>
          <a:prstGeom prst="rect">
            <a:avLst/>
          </a:prstGeom>
          <a:noFill/>
        </p:spPr>
        <p:txBody>
          <a:bodyPr wrap="square" lIns="0" tIns="0">
            <a:spAutoFit/>
          </a:bodyPr>
          <a:lstStyle/>
          <a:p>
            <a:pPr>
              <a:defRPr sz="1700" b="1">
                <a:solidFill>
                  <a:srgbClr val="FF7A1A"/>
                </a:solidFill>
                <a:latin typeface="Cambria"/>
              </a:defRPr>
            </a:pPr>
            <a:r>
              <a:t>First Cell Height: y₁ = 70.3 μm</a:t>
            </a:r>
          </a:p>
          <a:p>
            <a:pPr>
              <a:defRPr sz="1200">
                <a:solidFill>
                  <a:srgbClr val="0B1426"/>
                </a:solidFill>
                <a:latin typeface="Calibri"/>
              </a:defRPr>
            </a:pPr>
            <a:r>
              <a:t>Places 41 structured cells inside the critical 5 mm thermal boundary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Systematic 2 × 2 Factorial Matrix: Isolating Physics from Discretization</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7 / 14</a:t>
            </a:r>
          </a:p>
        </p:txBody>
      </p:sp>
      <p:graphicFrame>
        <p:nvGraphicFramePr>
          <p:cNvPr id="5" name="Table 4"/>
          <p:cNvGraphicFramePr>
            <a:graphicFrameLocks noGrp="1"/>
          </p:cNvGraphicFramePr>
          <p:nvPr/>
        </p:nvGraphicFramePr>
        <p:xfrm>
          <a:off x="548640" y="1463040"/>
          <a:ext cx="11064240" cy="2194560"/>
        </p:xfrm>
        <a:graphic>
          <a:graphicData uri="http://schemas.openxmlformats.org/drawingml/2006/table">
            <a:tbl>
              <a:tblPr firstRow="1" bandRow="1">
                <a:tableStyleId>{5C22544A-7EE6-4342-B048-85BDC9FD1C3A}</a:tableStyleId>
              </a:tblPr>
              <a:tblGrid>
                <a:gridCol w="3017520"/>
                <a:gridCol w="1828800"/>
                <a:gridCol w="1828800"/>
                <a:gridCol w="2194560"/>
                <a:gridCol w="2194560"/>
              </a:tblGrid>
              <a:tr h="438912">
                <a:tc>
                  <a:txBody>
                    <a:bodyPr/>
                    <a:lstStyle/>
                    <a:p>
                      <a:pPr algn="ctr">
                        <a:defRPr sz="1300" b="1">
                          <a:solidFill>
                            <a:srgbClr val="FFFFFF"/>
                          </a:solidFill>
                          <a:latin typeface="Calibri"/>
                        </a:defRPr>
                      </a:pPr>
                      <a:r>
                        <a:t>Case Identifier</a:t>
                      </a:r>
                    </a:p>
                  </a:txBody>
                  <a:tcPr>
                    <a:solidFill>
                      <a:srgbClr val="0B1426"/>
                    </a:solidFill>
                  </a:tcPr>
                </a:tc>
                <a:tc>
                  <a:txBody>
                    <a:bodyPr/>
                    <a:lstStyle/>
                    <a:p>
                      <a:pPr algn="ctr">
                        <a:defRPr sz="1300" b="1">
                          <a:solidFill>
                            <a:srgbClr val="FFFFFF"/>
                          </a:solidFill>
                          <a:latin typeface="Calibri"/>
                        </a:defRPr>
                      </a:pPr>
                      <a:r>
                        <a:t>Grid (nx×ny)</a:t>
                      </a:r>
                    </a:p>
                  </a:txBody>
                  <a:tcPr>
                    <a:solidFill>
                      <a:srgbClr val="0B1426"/>
                    </a:solidFill>
                  </a:tcPr>
                </a:tc>
                <a:tc>
                  <a:txBody>
                    <a:bodyPr/>
                    <a:lstStyle/>
                    <a:p>
                      <a:pPr algn="ctr">
                        <a:defRPr sz="1300" b="1">
                          <a:solidFill>
                            <a:srgbClr val="FFFFFF"/>
                          </a:solidFill>
                          <a:latin typeface="Calibri"/>
                        </a:defRPr>
                      </a:pPr>
                      <a:r>
                        <a:t>Total Cells</a:t>
                      </a:r>
                    </a:p>
                  </a:txBody>
                  <a:tcPr>
                    <a:solidFill>
                      <a:srgbClr val="0B1426"/>
                    </a:solidFill>
                  </a:tcPr>
                </a:tc>
                <a:tc>
                  <a:txBody>
                    <a:bodyPr/>
                    <a:lstStyle/>
                    <a:p>
                      <a:pPr algn="ctr">
                        <a:defRPr sz="1300" b="1">
                          <a:solidFill>
                            <a:srgbClr val="FFFFFF"/>
                          </a:solidFill>
                          <a:latin typeface="Calibri"/>
                        </a:defRPr>
                      </a:pPr>
                      <a:r>
                        <a:t>Emissivity ε</a:t>
                      </a:r>
                    </a:p>
                  </a:txBody>
                  <a:tcPr>
                    <a:solidFill>
                      <a:srgbClr val="0B1426"/>
                    </a:solidFill>
                  </a:tcPr>
                </a:tc>
                <a:tc>
                  <a:txBody>
                    <a:bodyPr/>
                    <a:lstStyle/>
                    <a:p>
                      <a:pPr algn="ctr">
                        <a:defRPr sz="1300" b="1">
                          <a:solidFill>
                            <a:srgbClr val="FFFFFF"/>
                          </a:solidFill>
                          <a:latin typeface="Calibri"/>
                        </a:defRPr>
                      </a:pPr>
                      <a:r>
                        <a:t>Trailing Tw (K)</a:t>
                      </a:r>
                    </a:p>
                  </a:txBody>
                  <a:tcPr>
                    <a:solidFill>
                      <a:srgbClr val="0B1426"/>
                    </a:solidFill>
                  </a:tcPr>
                </a:tc>
              </a:tr>
              <a:tr h="438912">
                <a:tc>
                  <a:txBody>
                    <a:bodyPr/>
                    <a:lstStyle/>
                    <a:p>
                      <a:pPr algn="l">
                        <a:defRPr sz="1300">
                          <a:solidFill>
                            <a:srgbClr val="0B1426"/>
                          </a:solidFill>
                          <a:latin typeface="Calibri"/>
                        </a:defRPr>
                      </a:pPr>
                      <a:r>
                        <a:t>noRadiation_coarse</a:t>
                      </a:r>
                    </a:p>
                  </a:txBody>
                  <a:tcPr>
                    <a:solidFill>
                      <a:srgbClr val="FFFFFF"/>
                    </a:solidFill>
                  </a:tcPr>
                </a:tc>
                <a:tc>
                  <a:txBody>
                    <a:bodyPr/>
                    <a:lstStyle/>
                    <a:p>
                      <a:pPr algn="ctr">
                        <a:defRPr sz="1300">
                          <a:solidFill>
                            <a:srgbClr val="0B1426"/>
                          </a:solidFill>
                          <a:latin typeface="Calibri"/>
                        </a:defRPr>
                      </a:pPr>
                      <a:r>
                        <a:t>200 × 80</a:t>
                      </a:r>
                    </a:p>
                  </a:txBody>
                  <a:tcPr>
                    <a:solidFill>
                      <a:srgbClr val="FFFFFF"/>
                    </a:solidFill>
                  </a:tcPr>
                </a:tc>
                <a:tc>
                  <a:txBody>
                    <a:bodyPr/>
                    <a:lstStyle/>
                    <a:p>
                      <a:pPr algn="ctr">
                        <a:defRPr sz="1300">
                          <a:solidFill>
                            <a:srgbClr val="0B1426"/>
                          </a:solidFill>
                          <a:latin typeface="Calibri"/>
                        </a:defRPr>
                      </a:pPr>
                      <a:r>
                        <a:t>16,000</a:t>
                      </a:r>
                    </a:p>
                  </a:txBody>
                  <a:tcPr>
                    <a:solidFill>
                      <a:srgbClr val="FFFFFF"/>
                    </a:solidFill>
                  </a:tcPr>
                </a:tc>
                <a:tc>
                  <a:txBody>
                    <a:bodyPr/>
                    <a:lstStyle/>
                    <a:p>
                      <a:pPr algn="ctr">
                        <a:defRPr sz="1300">
                          <a:solidFill>
                            <a:srgbClr val="0B1426"/>
                          </a:solidFill>
                          <a:latin typeface="Calibri"/>
                        </a:defRPr>
                      </a:pPr>
                      <a:r>
                        <a:t>0.0 (Pure)</a:t>
                      </a:r>
                    </a:p>
                  </a:txBody>
                  <a:tcPr>
                    <a:solidFill>
                      <a:srgbClr val="FFFFFF"/>
                    </a:solidFill>
                  </a:tcPr>
                </a:tc>
                <a:tc>
                  <a:txBody>
                    <a:bodyPr/>
                    <a:lstStyle/>
                    <a:p>
                      <a:pPr algn="ctr">
                        <a:defRPr sz="1300">
                          <a:solidFill>
                            <a:srgbClr val="0B1426"/>
                          </a:solidFill>
                          <a:latin typeface="Calibri"/>
                        </a:defRPr>
                      </a:pPr>
                      <a:r>
                        <a:t>394.90 K (+51.2 K spike)</a:t>
                      </a:r>
                    </a:p>
                  </a:txBody>
                  <a:tcPr>
                    <a:solidFill>
                      <a:srgbClr val="FFFFFF"/>
                    </a:solidFill>
                  </a:tcPr>
                </a:tc>
              </a:tr>
              <a:tr h="438912">
                <a:tc>
                  <a:txBody>
                    <a:bodyPr/>
                    <a:lstStyle/>
                    <a:p>
                      <a:pPr algn="l">
                        <a:defRPr sz="1300">
                          <a:solidFill>
                            <a:srgbClr val="0B1426"/>
                          </a:solidFill>
                          <a:latin typeface="Calibri"/>
                        </a:defRPr>
                      </a:pPr>
                      <a:r>
                        <a:t>noRadiation_fine</a:t>
                      </a:r>
                    </a:p>
                  </a:txBody>
                  <a:tcPr>
                    <a:solidFill>
                      <a:srgbClr val="DEE5F0"/>
                    </a:solidFill>
                  </a:tcPr>
                </a:tc>
                <a:tc>
                  <a:txBody>
                    <a:bodyPr/>
                    <a:lstStyle/>
                    <a:p>
                      <a:pPr algn="ctr">
                        <a:defRPr sz="1300">
                          <a:solidFill>
                            <a:srgbClr val="0B1426"/>
                          </a:solidFill>
                          <a:latin typeface="Calibri"/>
                        </a:defRPr>
                      </a:pPr>
                      <a:r>
                        <a:t>400 × 160</a:t>
                      </a:r>
                    </a:p>
                  </a:txBody>
                  <a:tcPr>
                    <a:solidFill>
                      <a:srgbClr val="DEE5F0"/>
                    </a:solidFill>
                  </a:tcPr>
                </a:tc>
                <a:tc>
                  <a:txBody>
                    <a:bodyPr/>
                    <a:lstStyle/>
                    <a:p>
                      <a:pPr algn="ctr">
                        <a:defRPr sz="1300">
                          <a:solidFill>
                            <a:srgbClr val="0B1426"/>
                          </a:solidFill>
                          <a:latin typeface="Calibri"/>
                        </a:defRPr>
                      </a:pPr>
                      <a:r>
                        <a:t>64,000</a:t>
                      </a:r>
                    </a:p>
                  </a:txBody>
                  <a:tcPr>
                    <a:solidFill>
                      <a:srgbClr val="DEE5F0"/>
                    </a:solidFill>
                  </a:tcPr>
                </a:tc>
                <a:tc>
                  <a:txBody>
                    <a:bodyPr/>
                    <a:lstStyle/>
                    <a:p>
                      <a:pPr algn="ctr">
                        <a:defRPr sz="1300">
                          <a:solidFill>
                            <a:srgbClr val="0B1426"/>
                          </a:solidFill>
                          <a:latin typeface="Calibri"/>
                        </a:defRPr>
                      </a:pPr>
                      <a:r>
                        <a:t>0.0 (Pure)</a:t>
                      </a:r>
                    </a:p>
                  </a:txBody>
                  <a:tcPr>
                    <a:solidFill>
                      <a:srgbClr val="DEE5F0"/>
                    </a:solidFill>
                  </a:tcPr>
                </a:tc>
                <a:tc>
                  <a:txBody>
                    <a:bodyPr/>
                    <a:lstStyle/>
                    <a:p>
                      <a:pPr algn="ctr">
                        <a:defRPr sz="1300">
                          <a:solidFill>
                            <a:srgbClr val="0B1426"/>
                          </a:solidFill>
                          <a:latin typeface="Calibri"/>
                        </a:defRPr>
                      </a:pPr>
                      <a:r>
                        <a:t>343.68 K (Resolved)</a:t>
                      </a:r>
                    </a:p>
                  </a:txBody>
                  <a:tcPr>
                    <a:solidFill>
                      <a:srgbClr val="DEE5F0"/>
                    </a:solidFill>
                  </a:tcPr>
                </a:tc>
              </a:tr>
              <a:tr h="438912">
                <a:tc>
                  <a:txBody>
                    <a:bodyPr/>
                    <a:lstStyle/>
                    <a:p>
                      <a:pPr algn="l">
                        <a:defRPr sz="1300">
                          <a:solidFill>
                            <a:srgbClr val="0B1426"/>
                          </a:solidFill>
                          <a:latin typeface="Calibri"/>
                        </a:defRPr>
                      </a:pPr>
                      <a:r>
                        <a:t>surfaceRadiation_coarse</a:t>
                      </a:r>
                    </a:p>
                  </a:txBody>
                  <a:tcPr>
                    <a:solidFill>
                      <a:srgbClr val="FFFFFF"/>
                    </a:solidFill>
                  </a:tcPr>
                </a:tc>
                <a:tc>
                  <a:txBody>
                    <a:bodyPr/>
                    <a:lstStyle/>
                    <a:p>
                      <a:pPr algn="ctr">
                        <a:defRPr sz="1300">
                          <a:solidFill>
                            <a:srgbClr val="0B1426"/>
                          </a:solidFill>
                          <a:latin typeface="Calibri"/>
                        </a:defRPr>
                      </a:pPr>
                      <a:r>
                        <a:t>200 × 80</a:t>
                      </a:r>
                    </a:p>
                  </a:txBody>
                  <a:tcPr>
                    <a:solidFill>
                      <a:srgbClr val="FFFFFF"/>
                    </a:solidFill>
                  </a:tcPr>
                </a:tc>
                <a:tc>
                  <a:txBody>
                    <a:bodyPr/>
                    <a:lstStyle/>
                    <a:p>
                      <a:pPr algn="ctr">
                        <a:defRPr sz="1300">
                          <a:solidFill>
                            <a:srgbClr val="0B1426"/>
                          </a:solidFill>
                          <a:latin typeface="Calibri"/>
                        </a:defRPr>
                      </a:pPr>
                      <a:r>
                        <a:t>16,000</a:t>
                      </a:r>
                    </a:p>
                  </a:txBody>
                  <a:tcPr>
                    <a:solidFill>
                      <a:srgbClr val="FFFFFF"/>
                    </a:solidFill>
                  </a:tcPr>
                </a:tc>
                <a:tc>
                  <a:txBody>
                    <a:bodyPr/>
                    <a:lstStyle/>
                    <a:p>
                      <a:pPr algn="ctr">
                        <a:defRPr sz="1300">
                          <a:solidFill>
                            <a:srgbClr val="0B1426"/>
                          </a:solidFill>
                          <a:latin typeface="Calibri"/>
                        </a:defRPr>
                      </a:pPr>
                      <a:r>
                        <a:t>0.8 (Coupled)</a:t>
                      </a:r>
                    </a:p>
                  </a:txBody>
                  <a:tcPr>
                    <a:solidFill>
                      <a:srgbClr val="FFFFFF"/>
                    </a:solidFill>
                  </a:tcPr>
                </a:tc>
                <a:tc>
                  <a:txBody>
                    <a:bodyPr/>
                    <a:lstStyle/>
                    <a:p>
                      <a:pPr algn="ctr">
                        <a:defRPr sz="1300">
                          <a:solidFill>
                            <a:srgbClr val="0B1426"/>
                          </a:solidFill>
                          <a:latin typeface="Calibri"/>
                        </a:defRPr>
                      </a:pPr>
                      <a:r>
                        <a:t>380.00 K (36% rad)</a:t>
                      </a:r>
                    </a:p>
                  </a:txBody>
                  <a:tcPr>
                    <a:solidFill>
                      <a:srgbClr val="FFFFFF"/>
                    </a:solidFill>
                  </a:tcPr>
                </a:tc>
              </a:tr>
              <a:tr h="438912">
                <a:tc>
                  <a:txBody>
                    <a:bodyPr/>
                    <a:lstStyle/>
                    <a:p>
                      <a:pPr algn="l">
                        <a:defRPr sz="1300">
                          <a:solidFill>
                            <a:srgbClr val="0B1426"/>
                          </a:solidFill>
                          <a:latin typeface="Calibri"/>
                        </a:defRPr>
                      </a:pPr>
                      <a:r>
                        <a:t>surfaceRadiation_fine</a:t>
                      </a:r>
                    </a:p>
                  </a:txBody>
                  <a:tcPr>
                    <a:solidFill>
                      <a:srgbClr val="DEE5F0"/>
                    </a:solidFill>
                  </a:tcPr>
                </a:tc>
                <a:tc>
                  <a:txBody>
                    <a:bodyPr/>
                    <a:lstStyle/>
                    <a:p>
                      <a:pPr algn="ctr">
                        <a:defRPr sz="1300">
                          <a:solidFill>
                            <a:srgbClr val="0B1426"/>
                          </a:solidFill>
                          <a:latin typeface="Calibri"/>
                        </a:defRPr>
                      </a:pPr>
                      <a:r>
                        <a:t>400 × 160</a:t>
                      </a:r>
                    </a:p>
                  </a:txBody>
                  <a:tcPr>
                    <a:solidFill>
                      <a:srgbClr val="DEE5F0"/>
                    </a:solidFill>
                  </a:tcPr>
                </a:tc>
                <a:tc>
                  <a:txBody>
                    <a:bodyPr/>
                    <a:lstStyle/>
                    <a:p>
                      <a:pPr algn="ctr">
                        <a:defRPr sz="1300">
                          <a:solidFill>
                            <a:srgbClr val="0B1426"/>
                          </a:solidFill>
                          <a:latin typeface="Calibri"/>
                        </a:defRPr>
                      </a:pPr>
                      <a:r>
                        <a:t>64,000</a:t>
                      </a:r>
                    </a:p>
                  </a:txBody>
                  <a:tcPr>
                    <a:solidFill>
                      <a:srgbClr val="DEE5F0"/>
                    </a:solidFill>
                  </a:tcPr>
                </a:tc>
                <a:tc>
                  <a:txBody>
                    <a:bodyPr/>
                    <a:lstStyle/>
                    <a:p>
                      <a:pPr algn="ctr">
                        <a:defRPr sz="1300">
                          <a:solidFill>
                            <a:srgbClr val="0B1426"/>
                          </a:solidFill>
                          <a:latin typeface="Calibri"/>
                        </a:defRPr>
                      </a:pPr>
                      <a:r>
                        <a:t>0.8 (Coupled)</a:t>
                      </a:r>
                    </a:p>
                  </a:txBody>
                  <a:tcPr>
                    <a:solidFill>
                      <a:srgbClr val="DEE5F0"/>
                    </a:solidFill>
                  </a:tcPr>
                </a:tc>
                <a:tc>
                  <a:txBody>
                    <a:bodyPr/>
                    <a:lstStyle/>
                    <a:p>
                      <a:pPr algn="ctr">
                        <a:defRPr sz="1300">
                          <a:solidFill>
                            <a:srgbClr val="0B1426"/>
                          </a:solidFill>
                          <a:latin typeface="Calibri"/>
                        </a:defRPr>
                      </a:pPr>
                      <a:r>
                        <a:t>336.70 K (-6.98 K drop)</a:t>
                      </a:r>
                    </a:p>
                  </a:txBody>
                  <a:tcPr>
                    <a:solidFill>
                      <a:srgbClr val="DEE5F0"/>
                    </a:solidFill>
                  </a:tcPr>
                </a:tc>
              </a:tr>
            </a:tbl>
          </a:graphicData>
        </a:graphic>
      </p:graphicFrame>
      <p:sp>
        <p:nvSpPr>
          <p:cNvPr id="6" name="TextBox 5"/>
          <p:cNvSpPr txBox="1"/>
          <p:nvPr/>
        </p:nvSpPr>
        <p:spPr>
          <a:xfrm>
            <a:off x="548640" y="3931920"/>
            <a:ext cx="11094415" cy="2011680"/>
          </a:xfrm>
          <a:prstGeom prst="rect">
            <a:avLst/>
          </a:prstGeom>
          <a:noFill/>
        </p:spPr>
        <p:txBody>
          <a:bodyPr wrap="square" lIns="0" tIns="0">
            <a:spAutoFit/>
          </a:bodyPr>
          <a:lstStyle/>
          <a:p>
            <a:pPr>
              <a:spcAft>
                <a:spcPts val="1400"/>
              </a:spcAft>
              <a:defRPr sz="1600">
                <a:solidFill>
                  <a:srgbClr val="0B1426"/>
                </a:solidFill>
                <a:latin typeface="Calibri"/>
              </a:defRPr>
            </a:pPr>
            <a:r>
              <a:t>•  Coarse grid without radiation spikes to 394.90 K from under-resolved thermal gradients.</a:t>
            </a:r>
          </a:p>
          <a:p>
            <a:pPr>
              <a:spcAft>
                <a:spcPts val="1400"/>
              </a:spcAft>
              <a:defRPr sz="1600">
                <a:solidFill>
                  <a:srgbClr val="0B1426"/>
                </a:solidFill>
                <a:latin typeface="Calibri"/>
              </a:defRPr>
            </a:pPr>
            <a:r>
              <a:t>•  Fine mesh captures steep wall conduction gradient, stabilizing at 343.68 K.</a:t>
            </a:r>
          </a:p>
          <a:p>
            <a:pPr>
              <a:spcAft>
                <a:spcPts val="1400"/>
              </a:spcAft>
              <a:defRPr sz="1600">
                <a:solidFill>
                  <a:srgbClr val="0B1426"/>
                </a:solidFill>
                <a:latin typeface="Calibri"/>
              </a:defRPr>
            </a:pPr>
            <a:r>
              <a:t>•  Coupled surface radiation provides additional cooling, dropping trailing temperature to 336.70 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FFFFFF"/>
                </a:solidFill>
                <a:latin typeface="Cambria"/>
              </a:defRPr>
            </a:pPr>
            <a:r>
              <a:t>Hydrodynamic Verification: Exact Collapse on Blasius Similarity</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8 / 14</a:t>
            </a:r>
          </a:p>
        </p:txBody>
      </p:sp>
      <p:sp>
        <p:nvSpPr>
          <p:cNvPr id="5" name="Rounded Rectangle 4"/>
          <p:cNvSpPr/>
          <p:nvPr/>
        </p:nvSpPr>
        <p:spPr>
          <a:xfrm>
            <a:off x="548640" y="1371600"/>
            <a:ext cx="6583680" cy="475488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lasius_velocity_validation.png"/>
          <p:cNvPicPr>
            <a:picLocks noChangeAspect="1"/>
          </p:cNvPicPr>
          <p:nvPr/>
        </p:nvPicPr>
        <p:blipFill>
          <a:blip r:embed="rId2"/>
          <a:stretch>
            <a:fillRect/>
          </a:stretch>
        </p:blipFill>
        <p:spPr>
          <a:xfrm>
            <a:off x="800373" y="1536192"/>
            <a:ext cx="6080213" cy="4105656"/>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200">
                <a:solidFill>
                  <a:srgbClr val="7C8DB5"/>
                </a:solidFill>
                <a:latin typeface="Calibri"/>
              </a:defRPr>
            </a:pPr>
            <a:r>
              <a:t>Fig. 5: Non-dimensional streamwise velocity collapse vs exact Blasius curve.</a:t>
            </a:r>
          </a:p>
        </p:txBody>
      </p:sp>
      <p:sp>
        <p:nvSpPr>
          <p:cNvPr id="8" name="Rounded Rectangle 7"/>
          <p:cNvSpPr/>
          <p:nvPr/>
        </p:nvSpPr>
        <p:spPr>
          <a:xfrm>
            <a:off x="7498079" y="13716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536192"/>
            <a:ext cx="3566160" cy="1097280"/>
          </a:xfrm>
          <a:prstGeom prst="rect">
            <a:avLst/>
          </a:prstGeom>
          <a:noFill/>
        </p:spPr>
        <p:txBody>
          <a:bodyPr wrap="square" lIns="0" tIns="0">
            <a:spAutoFit/>
          </a:bodyPr>
          <a:lstStyle/>
          <a:p>
            <a:pPr>
              <a:defRPr sz="3600" b="1">
                <a:solidFill>
                  <a:srgbClr val="FF7A1A"/>
                </a:solidFill>
                <a:latin typeface="Cambria"/>
              </a:defRPr>
            </a:pPr>
            <a:r>
              <a:t>0.11%</a:t>
            </a:r>
          </a:p>
          <a:p>
            <a:pPr>
              <a:defRPr sz="1300">
                <a:solidFill>
                  <a:srgbClr val="EEF2F7"/>
                </a:solidFill>
                <a:latin typeface="Calibri"/>
              </a:defRPr>
            </a:pPr>
            <a:r>
              <a:t>Skin-friction relative error vs Blasius (Cf = 1.874e-3 vs 1.872e-3)</a:t>
            </a:r>
          </a:p>
        </p:txBody>
      </p:sp>
      <p:sp>
        <p:nvSpPr>
          <p:cNvPr id="10" name="Rounded Rectangle 9"/>
          <p:cNvSpPr/>
          <p:nvPr/>
        </p:nvSpPr>
        <p:spPr>
          <a:xfrm>
            <a:off x="7498079" y="29718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0" y="3136392"/>
            <a:ext cx="3566160" cy="1097280"/>
          </a:xfrm>
          <a:prstGeom prst="rect">
            <a:avLst/>
          </a:prstGeom>
          <a:noFill/>
        </p:spPr>
        <p:txBody>
          <a:bodyPr wrap="square" lIns="0" tIns="0">
            <a:spAutoFit/>
          </a:bodyPr>
          <a:lstStyle/>
          <a:p>
            <a:pPr>
              <a:defRPr sz="3600" b="1">
                <a:solidFill>
                  <a:srgbClr val="23B5D3"/>
                </a:solidFill>
                <a:latin typeface="Cambria"/>
              </a:defRPr>
            </a:pPr>
            <a:r>
              <a:t>1.26 × 10⁵</a:t>
            </a:r>
          </a:p>
          <a:p>
            <a:pPr>
              <a:defRPr sz="1300">
                <a:solidFill>
                  <a:srgbClr val="EEF2F7"/>
                </a:solidFill>
                <a:latin typeface="Calibri"/>
              </a:defRPr>
            </a:pPr>
            <a:r>
              <a:t>Plate Reynolds number (Re_L = U_inf L / ν) confirms laminar flow</a:t>
            </a:r>
          </a:p>
        </p:txBody>
      </p:sp>
      <p:sp>
        <p:nvSpPr>
          <p:cNvPr id="12" name="Rounded Rectangle 11"/>
          <p:cNvSpPr/>
          <p:nvPr/>
        </p:nvSpPr>
        <p:spPr>
          <a:xfrm>
            <a:off x="7498079" y="45720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4736592"/>
            <a:ext cx="3566160" cy="1097280"/>
          </a:xfrm>
          <a:prstGeom prst="rect">
            <a:avLst/>
          </a:prstGeom>
          <a:noFill/>
        </p:spPr>
        <p:txBody>
          <a:bodyPr wrap="square" lIns="0" tIns="0">
            <a:spAutoFit/>
          </a:bodyPr>
          <a:lstStyle/>
          <a:p>
            <a:pPr>
              <a:defRPr sz="3600" b="1">
                <a:solidFill>
                  <a:srgbClr val="FFC24B"/>
                </a:solidFill>
                <a:latin typeface="Cambria"/>
              </a:defRPr>
            </a:pPr>
            <a:r>
              <a:t>8.17 mm</a:t>
            </a:r>
          </a:p>
          <a:p>
            <a:pPr>
              <a:defRPr sz="1300">
                <a:solidFill>
                  <a:srgbClr val="EEF2F7"/>
                </a:solidFill>
                <a:latin typeface="Calibri"/>
              </a:defRPr>
            </a:pPr>
            <a:r>
              <a:t>Boundary layer thickness matches analytical Blasius law δ = 5.0 x / √Re_x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FFFFFF"/>
                </a:solidFill>
                <a:latin typeface="Cambria"/>
              </a:defRPr>
            </a:pPr>
            <a:r>
              <a:t>Momentum Decoupling: Velocity Invariant Under Radiation</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9 / 14</a:t>
            </a:r>
          </a:p>
        </p:txBody>
      </p:sp>
      <p:sp>
        <p:nvSpPr>
          <p:cNvPr id="5" name="Rounded Rectangle 4"/>
          <p:cNvSpPr/>
          <p:nvPr/>
        </p:nvSpPr>
        <p:spPr>
          <a:xfrm>
            <a:off x="548640" y="1371600"/>
            <a:ext cx="6583680" cy="475488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ur_case_velocity_zoom.png"/>
          <p:cNvPicPr>
            <a:picLocks noChangeAspect="1"/>
          </p:cNvPicPr>
          <p:nvPr/>
        </p:nvPicPr>
        <p:blipFill>
          <a:blip r:embed="rId2"/>
          <a:stretch>
            <a:fillRect/>
          </a:stretch>
        </p:blipFill>
        <p:spPr>
          <a:xfrm>
            <a:off x="731520" y="1764891"/>
            <a:ext cx="6217920" cy="3648256"/>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200">
                <a:solidFill>
                  <a:srgbClr val="7C8DB5"/>
                </a:solidFill>
                <a:latin typeface="Calibri"/>
              </a:defRPr>
            </a:pPr>
            <a:r>
              <a:t>Fig. 6: Streamwise velocity boundary layer zoom across all four cases.</a:t>
            </a:r>
          </a:p>
        </p:txBody>
      </p:sp>
      <p:sp>
        <p:nvSpPr>
          <p:cNvPr id="8" name="Rounded Rectangle 7"/>
          <p:cNvSpPr/>
          <p:nvPr/>
        </p:nvSpPr>
        <p:spPr>
          <a:xfrm>
            <a:off x="7498079" y="13716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536192"/>
            <a:ext cx="3566160" cy="1097280"/>
          </a:xfrm>
          <a:prstGeom prst="rect">
            <a:avLst/>
          </a:prstGeom>
          <a:noFill/>
        </p:spPr>
        <p:txBody>
          <a:bodyPr wrap="square" lIns="0" tIns="0">
            <a:spAutoFit/>
          </a:bodyPr>
          <a:lstStyle/>
          <a:p>
            <a:pPr>
              <a:defRPr sz="3600" b="1">
                <a:solidFill>
                  <a:srgbClr val="23B5D3"/>
                </a:solidFill>
                <a:latin typeface="Cambria"/>
              </a:defRPr>
            </a:pPr>
            <a:r>
              <a:t>Identical</a:t>
            </a:r>
          </a:p>
          <a:p>
            <a:pPr>
              <a:defRPr sz="1300">
                <a:solidFill>
                  <a:srgbClr val="EEF2F7"/>
                </a:solidFill>
                <a:latin typeface="Calibri"/>
              </a:defRPr>
            </a:pPr>
            <a:r>
              <a:t>Velocity field u(x,y) unchanged between ε = 0 and ε = 0.8</a:t>
            </a:r>
          </a:p>
        </p:txBody>
      </p:sp>
      <p:sp>
        <p:nvSpPr>
          <p:cNvPr id="10" name="Rounded Rectangle 9"/>
          <p:cNvSpPr/>
          <p:nvPr/>
        </p:nvSpPr>
        <p:spPr>
          <a:xfrm>
            <a:off x="7498079" y="29718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0" y="3136392"/>
            <a:ext cx="3566160" cy="1097280"/>
          </a:xfrm>
          <a:prstGeom prst="rect">
            <a:avLst/>
          </a:prstGeom>
          <a:noFill/>
        </p:spPr>
        <p:txBody>
          <a:bodyPr wrap="square" lIns="0" tIns="0">
            <a:spAutoFit/>
          </a:bodyPr>
          <a:lstStyle/>
          <a:p>
            <a:pPr>
              <a:defRPr sz="3600" b="1">
                <a:solidFill>
                  <a:srgbClr val="FF7A1A"/>
                </a:solidFill>
                <a:latin typeface="Cambria"/>
              </a:defRPr>
            </a:pPr>
            <a:r>
              <a:t>&lt; 0.08 Pa</a:t>
            </a:r>
          </a:p>
          <a:p>
            <a:pPr>
              <a:defRPr sz="1300">
                <a:solidFill>
                  <a:srgbClr val="EEF2F7"/>
                </a:solidFill>
                <a:latin typeface="Calibri"/>
              </a:defRPr>
            </a:pPr>
            <a:r>
              <a:t>Streamwise pressure deviation remains negligible across domain</a:t>
            </a:r>
          </a:p>
        </p:txBody>
      </p:sp>
      <p:sp>
        <p:nvSpPr>
          <p:cNvPr id="12" name="Rounded Rectangle 11"/>
          <p:cNvSpPr/>
          <p:nvPr/>
        </p:nvSpPr>
        <p:spPr>
          <a:xfrm>
            <a:off x="7498079" y="45720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4736592"/>
            <a:ext cx="3566160" cy="1097280"/>
          </a:xfrm>
          <a:prstGeom prst="rect">
            <a:avLst/>
          </a:prstGeom>
          <a:noFill/>
        </p:spPr>
        <p:txBody>
          <a:bodyPr wrap="square" lIns="0" tIns="0">
            <a:spAutoFit/>
          </a:bodyPr>
          <a:lstStyle/>
          <a:p>
            <a:pPr>
              <a:defRPr sz="3600" b="1">
                <a:solidFill>
                  <a:srgbClr val="FFC24B"/>
                </a:solidFill>
                <a:latin typeface="Cambria"/>
              </a:defRPr>
            </a:pPr>
            <a:r>
              <a:t>Decoupled</a:t>
            </a:r>
          </a:p>
          <a:p>
            <a:pPr>
              <a:defRPr sz="1300">
                <a:solidFill>
                  <a:srgbClr val="EEF2F7"/>
                </a:solidFill>
                <a:latin typeface="Calibri"/>
              </a:defRPr>
            </a:pPr>
            <a:r>
              <a:t>Constant air properties cleanly isolate thermal radiation physics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Thermal Boundary Layer Response: Direct Isotherm Suppression</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10 / 14</a:t>
            </a:r>
          </a:p>
        </p:txBody>
      </p:sp>
      <p:sp>
        <p:nvSpPr>
          <p:cNvPr id="5" name="Rounded Rectangle 4"/>
          <p:cNvSpPr/>
          <p:nvPr/>
        </p:nvSpPr>
        <p:spPr>
          <a:xfrm>
            <a:off x="548640" y="1371600"/>
            <a:ext cx="658368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ur_case_temperature_zoom.png"/>
          <p:cNvPicPr>
            <a:picLocks noChangeAspect="1"/>
          </p:cNvPicPr>
          <p:nvPr/>
        </p:nvPicPr>
        <p:blipFill>
          <a:blip r:embed="rId2"/>
          <a:stretch>
            <a:fillRect/>
          </a:stretch>
        </p:blipFill>
        <p:spPr>
          <a:xfrm>
            <a:off x="731520" y="1790823"/>
            <a:ext cx="6217920" cy="3596392"/>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200">
                <a:solidFill>
                  <a:srgbClr val="7C8DB5"/>
                </a:solidFill>
                <a:latin typeface="Calibri"/>
              </a:defRPr>
            </a:pPr>
            <a:r>
              <a:t>Fig. 7: Near-wall thermal boundary layer zoom across the four cases.</a:t>
            </a:r>
          </a:p>
        </p:txBody>
      </p:sp>
      <p:sp>
        <p:nvSpPr>
          <p:cNvPr id="8" name="TextBox 7"/>
          <p:cNvSpPr txBox="1"/>
          <p:nvPr/>
        </p:nvSpPr>
        <p:spPr>
          <a:xfrm>
            <a:off x="7498079" y="1463040"/>
            <a:ext cx="4114800" cy="3108960"/>
          </a:xfrm>
          <a:prstGeom prst="rect">
            <a:avLst/>
          </a:prstGeom>
          <a:noFill/>
        </p:spPr>
        <p:txBody>
          <a:bodyPr wrap="square" lIns="0" tIns="0">
            <a:spAutoFit/>
          </a:bodyPr>
          <a:lstStyle/>
          <a:p>
            <a:pPr>
              <a:spcAft>
                <a:spcPts val="1600"/>
              </a:spcAft>
              <a:defRPr sz="2400" b="1">
                <a:solidFill>
                  <a:srgbClr val="0B1426"/>
                </a:solidFill>
                <a:latin typeface="Cambria"/>
              </a:defRPr>
            </a:pPr>
            <a:r>
              <a:t>Direct Isotherm Suppression</a:t>
            </a:r>
          </a:p>
          <a:p>
            <a:pPr>
              <a:spcAft>
                <a:spcPts val="1400"/>
              </a:spcAft>
              <a:defRPr sz="1600">
                <a:solidFill>
                  <a:srgbClr val="0B1426"/>
                </a:solidFill>
                <a:latin typeface="Calibri"/>
              </a:defRPr>
            </a:pPr>
            <a:r>
              <a:t>•  Radiation suppresses near-wall temperature contours across the entire heated length.</a:t>
            </a:r>
          </a:p>
          <a:p>
            <a:pPr>
              <a:spcAft>
                <a:spcPts val="1400"/>
              </a:spcAft>
              <a:defRPr sz="1600">
                <a:solidFill>
                  <a:srgbClr val="0B1426"/>
                </a:solidFill>
                <a:latin typeface="Calibri"/>
              </a:defRPr>
            </a:pPr>
            <a:r>
              <a:t>•  Thermal boundary layer thickness remains virtually invariant (5.07 mm vs 5.18 mm).</a:t>
            </a:r>
          </a:p>
          <a:p>
            <a:pPr>
              <a:spcAft>
                <a:spcPts val="1400"/>
              </a:spcAft>
              <a:defRPr sz="1600">
                <a:solidFill>
                  <a:srgbClr val="0B1426"/>
                </a:solidFill>
                <a:latin typeface="Calibri"/>
              </a:defRPr>
            </a:pPr>
            <a:r>
              <a:t>•  Demonstrates radiation acts as an in-situ heat shunt without disturbing boundary structure.</a:t>
            </a:r>
          </a:p>
        </p:txBody>
      </p:sp>
      <p:sp>
        <p:nvSpPr>
          <p:cNvPr id="9" name="Rounded Rectangle 8"/>
          <p:cNvSpPr/>
          <p:nvPr/>
        </p:nvSpPr>
        <p:spPr>
          <a:xfrm>
            <a:off x="7498079" y="4754880"/>
            <a:ext cx="4114800" cy="10972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4846320"/>
            <a:ext cx="3749039" cy="914400"/>
          </a:xfrm>
          <a:prstGeom prst="rect">
            <a:avLst/>
          </a:prstGeom>
          <a:noFill/>
        </p:spPr>
        <p:txBody>
          <a:bodyPr wrap="square" lIns="0" tIns="0">
            <a:spAutoFit/>
          </a:bodyPr>
          <a:lstStyle/>
          <a:p>
            <a:pPr>
              <a:defRPr sz="1700" b="1">
                <a:solidFill>
                  <a:srgbClr val="FF7A1A"/>
                </a:solidFill>
                <a:latin typeface="Cambria"/>
              </a:defRPr>
            </a:pPr>
            <a:r>
              <a:t>Near-Wall Sublayer Relief</a:t>
            </a:r>
          </a:p>
          <a:p>
            <a:pPr>
              <a:defRPr sz="1200">
                <a:solidFill>
                  <a:srgbClr val="0B1426"/>
                </a:solidFill>
                <a:latin typeface="Calibri"/>
              </a:defRPr>
            </a:pPr>
            <a:r>
              <a:t>Near-wall conductive gradient is relieved as 21.6% of heat radiates to surroundings.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Surface Temperature Depression: Peak 6.98 K Cooling at Trailing Edge</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11 / 14</a:t>
            </a:r>
          </a:p>
        </p:txBody>
      </p:sp>
      <p:sp>
        <p:nvSpPr>
          <p:cNvPr id="5" name="Rounded Rectangle 4"/>
          <p:cNvSpPr/>
          <p:nvPr/>
        </p:nvSpPr>
        <p:spPr>
          <a:xfrm>
            <a:off x="548640" y="1371600"/>
            <a:ext cx="658368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emperature_difference_zoom.png"/>
          <p:cNvPicPr>
            <a:picLocks noChangeAspect="1"/>
          </p:cNvPicPr>
          <p:nvPr/>
        </p:nvPicPr>
        <p:blipFill>
          <a:blip r:embed="rId2"/>
          <a:stretch>
            <a:fillRect/>
          </a:stretch>
        </p:blipFill>
        <p:spPr>
          <a:xfrm>
            <a:off x="731520" y="2235259"/>
            <a:ext cx="6217920" cy="2707520"/>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200">
                <a:solidFill>
                  <a:srgbClr val="7C8DB5"/>
                </a:solidFill>
                <a:latin typeface="Calibri"/>
              </a:defRPr>
            </a:pPr>
            <a:r>
              <a:t>Fig. 8: Boundary layer temperature difference field (T_radiation - T_baseline).</a:t>
            </a:r>
          </a:p>
        </p:txBody>
      </p:sp>
      <p:sp>
        <p:nvSpPr>
          <p:cNvPr id="8" name="Rounded Rectangle 7"/>
          <p:cNvSpPr/>
          <p:nvPr/>
        </p:nvSpPr>
        <p:spPr>
          <a:xfrm>
            <a:off x="7498079" y="1371600"/>
            <a:ext cx="4114800" cy="137160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463040"/>
            <a:ext cx="3749039" cy="1188720"/>
          </a:xfrm>
          <a:prstGeom prst="rect">
            <a:avLst/>
          </a:prstGeom>
          <a:noFill/>
        </p:spPr>
        <p:txBody>
          <a:bodyPr wrap="square" lIns="0" tIns="0">
            <a:spAutoFit/>
          </a:bodyPr>
          <a:lstStyle/>
          <a:p>
            <a:pPr>
              <a:defRPr sz="3800" b="1">
                <a:solidFill>
                  <a:srgbClr val="23B5D3"/>
                </a:solidFill>
                <a:latin typeface="Cambria"/>
              </a:defRPr>
            </a:pPr>
            <a:r>
              <a:t>6.98 K Drop</a:t>
            </a:r>
          </a:p>
          <a:p>
            <a:pPr>
              <a:defRPr sz="1400" b="1">
                <a:solidFill>
                  <a:srgbClr val="0B1426"/>
                </a:solidFill>
                <a:latin typeface="Calibri"/>
              </a:defRPr>
            </a:pPr>
            <a:r>
              <a:t>Peak Wall Temperature Reduction (Fine Grid)</a:t>
            </a:r>
          </a:p>
        </p:txBody>
      </p:sp>
      <p:sp>
        <p:nvSpPr>
          <p:cNvPr id="10" name="TextBox 9"/>
          <p:cNvSpPr txBox="1"/>
          <p:nvPr/>
        </p:nvSpPr>
        <p:spPr>
          <a:xfrm>
            <a:off x="7498079" y="3017520"/>
            <a:ext cx="4114800" cy="2377440"/>
          </a:xfrm>
          <a:prstGeom prst="rect">
            <a:avLst/>
          </a:prstGeom>
          <a:noFill/>
        </p:spPr>
        <p:txBody>
          <a:bodyPr wrap="square" lIns="0" tIns="0">
            <a:spAutoFit/>
          </a:bodyPr>
          <a:lstStyle/>
          <a:p>
            <a:pPr>
              <a:spcAft>
                <a:spcPts val="1400"/>
              </a:spcAft>
              <a:defRPr sz="1500">
                <a:solidFill>
                  <a:srgbClr val="0B1426"/>
                </a:solidFill>
                <a:latin typeface="Calibri"/>
              </a:defRPr>
            </a:pPr>
            <a:r>
              <a:t>•  Radiation lowers plate wall temperature along the entire heated length.</a:t>
            </a:r>
          </a:p>
          <a:p>
            <a:pPr>
              <a:spcAft>
                <a:spcPts val="1400"/>
              </a:spcAft>
              <a:defRPr sz="1500">
                <a:solidFill>
                  <a:srgbClr val="0B1426"/>
                </a:solidFill>
                <a:latin typeface="Calibri"/>
              </a:defRPr>
            </a:pPr>
            <a:r>
              <a:t>•  Cooling effect intensifies downstream, reaching maximum depression of 6.98 K.</a:t>
            </a:r>
          </a:p>
          <a:p>
            <a:pPr>
              <a:spcAft>
                <a:spcPts val="1400"/>
              </a:spcAft>
              <a:defRPr sz="1500">
                <a:solidFill>
                  <a:srgbClr val="0B1426"/>
                </a:solidFill>
                <a:latin typeface="Calibri"/>
              </a:defRPr>
            </a:pPr>
            <a:r>
              <a:t>•  Thermal boundary layer thickness remains virtually unchanged across radiation cases.</a:t>
            </a:r>
          </a:p>
          <a:p>
            <a:pPr>
              <a:spcBef>
                <a:spcPts val="800"/>
              </a:spcBef>
              <a:defRPr sz="1200">
                <a:solidFill>
                  <a:srgbClr val="7C8DB5"/>
                </a:solidFill>
                <a:latin typeface="Calibri"/>
              </a:defRPr>
            </a:pPr>
            <a:r>
              <a:t>Fine grid trailing edge: 336.70 K vs 343.68 K pure convection.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Streamwise Heat Flux Partitioning: Radiation Carries 21.6% of Load</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12 / 14</a:t>
            </a:r>
          </a:p>
        </p:txBody>
      </p:sp>
      <p:sp>
        <p:nvSpPr>
          <p:cNvPr id="5" name="Rounded Rectangle 4"/>
          <p:cNvSpPr/>
          <p:nvPr/>
        </p:nvSpPr>
        <p:spPr>
          <a:xfrm>
            <a:off x="548640" y="1371600"/>
            <a:ext cx="658368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ll_heat_balance_and_nusselt.png"/>
          <p:cNvPicPr>
            <a:picLocks noChangeAspect="1"/>
          </p:cNvPicPr>
          <p:nvPr/>
        </p:nvPicPr>
        <p:blipFill>
          <a:blip r:embed="rId2"/>
          <a:stretch>
            <a:fillRect/>
          </a:stretch>
        </p:blipFill>
        <p:spPr>
          <a:xfrm>
            <a:off x="731520" y="2464626"/>
            <a:ext cx="6217920" cy="2248787"/>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200">
                <a:solidFill>
                  <a:srgbClr val="7C8DB5"/>
                </a:solidFill>
                <a:latin typeface="Calibri"/>
              </a:defRPr>
            </a:pPr>
            <a:r>
              <a:t>Fig. 9: Streamwise convective vs radiative heat-flux split and Nusselt number.</a:t>
            </a:r>
          </a:p>
        </p:txBody>
      </p:sp>
      <p:sp>
        <p:nvSpPr>
          <p:cNvPr id="8" name="Rounded Rectangle 7"/>
          <p:cNvSpPr/>
          <p:nvPr/>
        </p:nvSpPr>
        <p:spPr>
          <a:xfrm>
            <a:off x="7498079" y="1371600"/>
            <a:ext cx="4114800" cy="12801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463040"/>
            <a:ext cx="3749039" cy="1097280"/>
          </a:xfrm>
          <a:prstGeom prst="rect">
            <a:avLst/>
          </a:prstGeom>
          <a:noFill/>
        </p:spPr>
        <p:txBody>
          <a:bodyPr wrap="none" lIns="0" tIns="0">
            <a:spAutoFit/>
          </a:bodyPr>
          <a:lstStyle/>
          <a:p>
            <a:pPr>
              <a:defRPr sz="3600" b="1">
                <a:solidFill>
                  <a:srgbClr val="FF7A1A"/>
                </a:solidFill>
                <a:latin typeface="Cambria"/>
              </a:defRPr>
            </a:pPr>
            <a:r>
              <a:t>21.3%</a:t>
            </a:r>
          </a:p>
          <a:p>
            <a:pPr>
              <a:defRPr sz="1300" b="1">
                <a:solidFill>
                  <a:srgbClr val="0B1426"/>
                </a:solidFill>
                <a:latin typeface="Calibri"/>
              </a:defRPr>
            </a:pPr>
            <a:r>
              <a:t>Plate-Averaged Radiative Load</a:t>
            </a:r>
          </a:p>
        </p:txBody>
      </p:sp>
      <p:sp>
        <p:nvSpPr>
          <p:cNvPr id="10" name="Rounded Rectangle 9"/>
          <p:cNvSpPr/>
          <p:nvPr/>
        </p:nvSpPr>
        <p:spPr>
          <a:xfrm>
            <a:off x="7498079" y="2788920"/>
            <a:ext cx="4114800" cy="12801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0" y="2880360"/>
            <a:ext cx="3749039" cy="1097280"/>
          </a:xfrm>
          <a:prstGeom prst="rect">
            <a:avLst/>
          </a:prstGeom>
          <a:noFill/>
        </p:spPr>
        <p:txBody>
          <a:bodyPr wrap="none" lIns="0" tIns="0">
            <a:spAutoFit/>
          </a:bodyPr>
          <a:lstStyle/>
          <a:p>
            <a:pPr>
              <a:defRPr sz="3600" b="1">
                <a:solidFill>
                  <a:srgbClr val="23B5D3"/>
                </a:solidFill>
                <a:latin typeface="Cambria"/>
              </a:defRPr>
            </a:pPr>
            <a:r>
              <a:t>21.6%</a:t>
            </a:r>
          </a:p>
          <a:p>
            <a:pPr>
              <a:defRPr sz="1300" b="1">
                <a:solidFill>
                  <a:srgbClr val="0B1426"/>
                </a:solidFill>
                <a:latin typeface="Calibri"/>
              </a:defRPr>
            </a:pPr>
            <a:r>
              <a:t>Trailing-Edge Radiative Load</a:t>
            </a:r>
          </a:p>
        </p:txBody>
      </p:sp>
      <p:sp>
        <p:nvSpPr>
          <p:cNvPr id="12" name="TextBox 11"/>
          <p:cNvSpPr txBox="1"/>
          <p:nvPr/>
        </p:nvSpPr>
        <p:spPr>
          <a:xfrm>
            <a:off x="7498079" y="4251960"/>
            <a:ext cx="4114800" cy="1828800"/>
          </a:xfrm>
          <a:prstGeom prst="rect">
            <a:avLst/>
          </a:prstGeom>
          <a:noFill/>
        </p:spPr>
        <p:txBody>
          <a:bodyPr wrap="square" lIns="0" tIns="0">
            <a:spAutoFit/>
          </a:bodyPr>
          <a:lstStyle/>
          <a:p>
            <a:pPr>
              <a:spcAft>
                <a:spcPts val="1400"/>
              </a:spcAft>
              <a:defRPr sz="1400">
                <a:solidFill>
                  <a:srgbClr val="0B1426"/>
                </a:solidFill>
                <a:latin typeface="Calibri"/>
              </a:defRPr>
            </a:pPr>
            <a:r>
              <a:t>•  Surface radiation relieves over one-fifth of the total heat dissipation load.</a:t>
            </a:r>
          </a:p>
          <a:p>
            <a:pPr>
              <a:spcAft>
                <a:spcPts val="1400"/>
              </a:spcAft>
              <a:defRPr sz="1400">
                <a:solidFill>
                  <a:srgbClr val="0B1426"/>
                </a:solidFill>
                <a:latin typeface="Calibri"/>
              </a:defRPr>
            </a:pPr>
            <a:r>
              <a:t>•  Radiative heat flux remains nearly uniform along the entire plate surface.</a:t>
            </a:r>
          </a:p>
          <a:p>
            <a:pPr>
              <a:spcAft>
                <a:spcPts val="1400"/>
              </a:spcAft>
              <a:defRPr sz="1400">
                <a:solidFill>
                  <a:srgbClr val="0B1426"/>
                </a:solidFill>
                <a:latin typeface="Calibri"/>
              </a:defRPr>
            </a:pPr>
            <a:r>
              <a:t>•  Convective flux drops downstream as thermal boundary layer growth increases resistance.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FFFFFF"/>
                </a:solidFill>
                <a:latin typeface="Cambria"/>
              </a:defRPr>
            </a:pPr>
            <a:r>
              <a:t>Numerical Rigor: Grid Convergence and Solver Stability</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13 / 14</a:t>
            </a:r>
          </a:p>
        </p:txBody>
      </p:sp>
      <p:sp>
        <p:nvSpPr>
          <p:cNvPr id="5" name="Rounded Rectangle 4"/>
          <p:cNvSpPr/>
          <p:nvPr/>
        </p:nvSpPr>
        <p:spPr>
          <a:xfrm>
            <a:off x="548640" y="1371600"/>
            <a:ext cx="6583680" cy="475488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vergence_histories_all4.png"/>
          <p:cNvPicPr>
            <a:picLocks noChangeAspect="1"/>
          </p:cNvPicPr>
          <p:nvPr/>
        </p:nvPicPr>
        <p:blipFill>
          <a:blip r:embed="rId2"/>
          <a:stretch>
            <a:fillRect/>
          </a:stretch>
        </p:blipFill>
        <p:spPr>
          <a:xfrm>
            <a:off x="780316" y="1536192"/>
            <a:ext cx="6120327" cy="4105656"/>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200">
                <a:solidFill>
                  <a:srgbClr val="7C8DB5"/>
                </a:solidFill>
                <a:latin typeface="Calibri"/>
              </a:defRPr>
            </a:pPr>
            <a:r>
              <a:t>Fig. 10: Solver residual histories for p, U, and T across all four cases.</a:t>
            </a:r>
          </a:p>
        </p:txBody>
      </p:sp>
      <p:sp>
        <p:nvSpPr>
          <p:cNvPr id="8" name="Rounded Rectangle 7"/>
          <p:cNvSpPr/>
          <p:nvPr/>
        </p:nvSpPr>
        <p:spPr>
          <a:xfrm>
            <a:off x="7498079" y="13716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536192"/>
            <a:ext cx="3566160" cy="1097280"/>
          </a:xfrm>
          <a:prstGeom prst="rect">
            <a:avLst/>
          </a:prstGeom>
          <a:noFill/>
        </p:spPr>
        <p:txBody>
          <a:bodyPr wrap="square" lIns="0" tIns="0">
            <a:spAutoFit/>
          </a:bodyPr>
          <a:lstStyle/>
          <a:p>
            <a:pPr>
              <a:defRPr sz="3400" b="1">
                <a:solidFill>
                  <a:srgbClr val="23B5D3"/>
                </a:solidFill>
                <a:latin typeface="Cambria"/>
              </a:defRPr>
            </a:pPr>
            <a:r>
              <a:t>1.30 × 10⁻⁸</a:t>
            </a:r>
          </a:p>
          <a:p>
            <a:pPr>
              <a:defRPr sz="1300">
                <a:solidFill>
                  <a:srgbClr val="EEF2F7"/>
                </a:solidFill>
                <a:latin typeface="Calibri"/>
              </a:defRPr>
            </a:pPr>
            <a:r>
              <a:t>Continuity residual confirms deep monotonic convergence</a:t>
            </a:r>
          </a:p>
        </p:txBody>
      </p:sp>
      <p:sp>
        <p:nvSpPr>
          <p:cNvPr id="10" name="Rounded Rectangle 9"/>
          <p:cNvSpPr/>
          <p:nvPr/>
        </p:nvSpPr>
        <p:spPr>
          <a:xfrm>
            <a:off x="7498079" y="29718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0" y="3136392"/>
            <a:ext cx="3566160" cy="1097280"/>
          </a:xfrm>
          <a:prstGeom prst="rect">
            <a:avLst/>
          </a:prstGeom>
          <a:noFill/>
        </p:spPr>
        <p:txBody>
          <a:bodyPr wrap="square" lIns="0" tIns="0">
            <a:spAutoFit/>
          </a:bodyPr>
          <a:lstStyle/>
          <a:p>
            <a:pPr>
              <a:defRPr sz="3400" b="1">
                <a:solidFill>
                  <a:srgbClr val="FF7A1A"/>
                </a:solidFill>
                <a:latin typeface="Cambria"/>
              </a:defRPr>
            </a:pPr>
            <a:r>
              <a:t>1500 Iter</a:t>
            </a:r>
          </a:p>
          <a:p>
            <a:pPr>
              <a:defRPr sz="1300">
                <a:solidFill>
                  <a:srgbClr val="EEF2F7"/>
                </a:solidFill>
                <a:latin typeface="Calibri"/>
              </a:defRPr>
            </a:pPr>
            <a:r>
              <a:t>PIMPLE outer iterations achieve complete steady-state stability</a:t>
            </a:r>
          </a:p>
        </p:txBody>
      </p:sp>
      <p:sp>
        <p:nvSpPr>
          <p:cNvPr id="12" name="Rounded Rectangle 11"/>
          <p:cNvSpPr/>
          <p:nvPr/>
        </p:nvSpPr>
        <p:spPr>
          <a:xfrm>
            <a:off x="7498079" y="45720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4736592"/>
            <a:ext cx="3566160" cy="1097280"/>
          </a:xfrm>
          <a:prstGeom prst="rect">
            <a:avLst/>
          </a:prstGeom>
          <a:noFill/>
        </p:spPr>
        <p:txBody>
          <a:bodyPr wrap="square" lIns="0" tIns="0">
            <a:spAutoFit/>
          </a:bodyPr>
          <a:lstStyle/>
          <a:p>
            <a:pPr>
              <a:defRPr sz="3400" b="1">
                <a:solidFill>
                  <a:srgbClr val="FFC24B"/>
                </a:solidFill>
                <a:latin typeface="Cambria"/>
              </a:defRPr>
            </a:pPr>
            <a:r>
              <a:t>41 Cells</a:t>
            </a:r>
          </a:p>
          <a:p>
            <a:pPr>
              <a:defRPr sz="1300">
                <a:solidFill>
                  <a:srgbClr val="EEF2F7"/>
                </a:solidFill>
                <a:latin typeface="Calibri"/>
              </a:defRPr>
            </a:pPr>
            <a:r>
              <a:t>Structured cells inside 5 mm sublayer accurately resolve wall flux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 Placeholder 2"/>
          <p:cNvSpPr>
            <a:spLocks noGrp="1"/>
          </p:cNvSpPr>
          <p:nvPr>
            <p:ph type="body" idx="101"/>
          </p:nvPr>
        </p:nvSpPr>
        <p:spPr/>
        <p:txBody>
          <a:bodyPr/>
          <a:lstStyle/>
          <a:p/>
        </p:txBody>
      </p:sp>
      <p:sp>
        <p:nvSpPr>
          <p:cNvPr id="4" name="TextBox 3"/>
          <p:cNvSpPr txBox="1"/>
          <p:nvPr/>
        </p:nvSpPr>
        <p:spPr>
          <a:xfrm>
            <a:off x="731520" y="365760"/>
            <a:ext cx="10698480" cy="365760"/>
          </a:xfrm>
          <a:prstGeom prst="rect">
            <a:avLst/>
          </a:prstGeom>
          <a:noFill/>
        </p:spPr>
        <p:txBody>
          <a:bodyPr wrap="none" lIns="0" tIns="0">
            <a:spAutoFit/>
          </a:bodyPr>
          <a:lstStyle/>
          <a:p>
            <a:pPr>
              <a:defRPr sz="1300" b="1">
                <a:solidFill>
                  <a:srgbClr val="23B5D3"/>
                </a:solidFill>
                <a:latin typeface="Calibri"/>
              </a:defRPr>
            </a:pPr>
            <a:r>
              <a:t>PROJECT CONCLUSION &amp; ACADEMIC DOSSIER  •  BOUNDARY LAYER THEORY</a:t>
            </a:r>
          </a:p>
        </p:txBody>
      </p:sp>
      <p:sp>
        <p:nvSpPr>
          <p:cNvPr id="5" name="TextBox 4"/>
          <p:cNvSpPr txBox="1"/>
          <p:nvPr/>
        </p:nvSpPr>
        <p:spPr>
          <a:xfrm>
            <a:off x="731520" y="731520"/>
            <a:ext cx="10698480" cy="914400"/>
          </a:xfrm>
          <a:prstGeom prst="rect">
            <a:avLst/>
          </a:prstGeom>
          <a:noFill/>
        </p:spPr>
        <p:txBody>
          <a:bodyPr wrap="square" lIns="0" tIns="0">
            <a:spAutoFit/>
          </a:bodyPr>
          <a:lstStyle/>
          <a:p>
            <a:pPr>
              <a:defRPr sz="3200" b="1">
                <a:solidFill>
                  <a:srgbClr val="FFFFFF"/>
                </a:solidFill>
                <a:latin typeface="Cambria"/>
              </a:defRPr>
            </a:pPr>
            <a:r>
              <a:t>Coupled Surface Radiation Is Critical for Accurate Boundary Layer CFD</a:t>
            </a:r>
          </a:p>
        </p:txBody>
      </p:sp>
      <p:sp>
        <p:nvSpPr>
          <p:cNvPr id="6" name="TextBox 5"/>
          <p:cNvSpPr txBox="1"/>
          <p:nvPr/>
        </p:nvSpPr>
        <p:spPr>
          <a:xfrm>
            <a:off x="731520" y="1645920"/>
            <a:ext cx="10698480" cy="502920"/>
          </a:xfrm>
          <a:prstGeom prst="rect">
            <a:avLst/>
          </a:prstGeom>
          <a:noFill/>
        </p:spPr>
        <p:txBody>
          <a:bodyPr wrap="square" lIns="0" tIns="0">
            <a:spAutoFit/>
          </a:bodyPr>
          <a:lstStyle/>
          <a:p>
            <a:pPr>
              <a:defRPr sz="1600">
                <a:solidFill>
                  <a:srgbClr val="EEF2F7"/>
                </a:solidFill>
                <a:latin typeface="Calibri"/>
              </a:defRPr>
            </a:pPr>
            <a:r>
              <a:t>Objective Achieved: Successfully incorporated surface radiation and quantified its thermal boundary layer impact.</a:t>
            </a:r>
          </a:p>
        </p:txBody>
      </p:sp>
      <p:sp>
        <p:nvSpPr>
          <p:cNvPr id="7" name="Rounded Rectangle 6"/>
          <p:cNvSpPr/>
          <p:nvPr/>
        </p:nvSpPr>
        <p:spPr>
          <a:xfrm>
            <a:off x="731520" y="2331720"/>
            <a:ext cx="5120640" cy="365760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514600"/>
            <a:ext cx="4572000" cy="3291840"/>
          </a:xfrm>
          <a:prstGeom prst="rect">
            <a:avLst/>
          </a:prstGeom>
          <a:noFill/>
        </p:spPr>
        <p:txBody>
          <a:bodyPr wrap="square" lIns="0" tIns="0">
            <a:spAutoFit/>
          </a:bodyPr>
          <a:lstStyle/>
          <a:p>
            <a:pPr>
              <a:spcAft>
                <a:spcPts val="800"/>
              </a:spcAft>
              <a:defRPr sz="1800" b="1">
                <a:solidFill>
                  <a:srgbClr val="FF7A1A"/>
                </a:solidFill>
                <a:latin typeface="Cambria"/>
              </a:defRPr>
            </a:pPr>
            <a:r>
              <a:t>Key Findings &amp; Numerical Insights</a:t>
            </a:r>
          </a:p>
          <a:p>
            <a:pPr>
              <a:defRPr sz="1400" b="1">
                <a:solidFill>
                  <a:srgbClr val="FFFFFF"/>
                </a:solidFill>
                <a:latin typeface="Calibri"/>
              </a:defRPr>
            </a:pPr>
            <a:r>
              <a:t>1. Surface Radiation Impact:</a:t>
            </a:r>
          </a:p>
          <a:p>
            <a:pPr>
              <a:spcAft>
                <a:spcPts val="600"/>
              </a:spcAft>
              <a:defRPr sz="1200">
                <a:solidFill>
                  <a:srgbClr val="EEF2F7"/>
                </a:solidFill>
                <a:latin typeface="Calibri"/>
              </a:defRPr>
            </a:pPr>
            <a:r>
              <a:t>Relieves 21.56% of total heat flux and cools peak wall by 6.98 K (336.70 K vs 343.68 K).</a:t>
            </a:r>
          </a:p>
          <a:p>
            <a:pPr>
              <a:defRPr sz="1400" b="1">
                <a:solidFill>
                  <a:srgbClr val="23B5D3"/>
                </a:solidFill>
                <a:latin typeface="Calibri"/>
              </a:defRPr>
            </a:pPr>
            <a:r>
              <a:t>2. Grid Sensitivity Disclosed:</a:t>
            </a:r>
          </a:p>
          <a:p>
            <a:pPr>
              <a:spcAft>
                <a:spcPts val="600"/>
              </a:spcAft>
              <a:defRPr sz="1200">
                <a:solidFill>
                  <a:srgbClr val="EEF2F7"/>
                </a:solidFill>
                <a:latin typeface="Calibri"/>
              </a:defRPr>
            </a:pPr>
            <a:r>
              <a:t>Coarse (16k) overpredicts wall rise (394.9 K); fine grid (64k) resolves sublayer gradient.</a:t>
            </a:r>
          </a:p>
          <a:p>
            <a:pPr>
              <a:defRPr sz="1400" b="1">
                <a:solidFill>
                  <a:srgbClr val="FFC24B"/>
                </a:solidFill>
                <a:latin typeface="Calibri"/>
              </a:defRPr>
            </a:pPr>
            <a:r>
              <a:t>3. Future Scope &amp; Refinement:</a:t>
            </a:r>
          </a:p>
          <a:p>
            <a:pPr>
              <a:defRPr sz="1200">
                <a:solidFill>
                  <a:srgbClr val="EEF2F7"/>
                </a:solidFill>
                <a:latin typeface="Calibri"/>
              </a:defRPr>
            </a:pPr>
            <a:r>
              <a:t>Execute 3rd Richardson mesh for ASME GCI and incorporate variable air properties.</a:t>
            </a:r>
          </a:p>
        </p:txBody>
      </p:sp>
      <p:sp>
        <p:nvSpPr>
          <p:cNvPr id="9" name="Rounded Rectangle 8"/>
          <p:cNvSpPr/>
          <p:nvPr/>
        </p:nvSpPr>
        <p:spPr>
          <a:xfrm>
            <a:off x="6126480" y="2331720"/>
            <a:ext cx="5303520" cy="365760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2514600"/>
            <a:ext cx="4937760" cy="3291840"/>
          </a:xfrm>
          <a:prstGeom prst="rect">
            <a:avLst/>
          </a:prstGeom>
          <a:noFill/>
        </p:spPr>
        <p:txBody>
          <a:bodyPr wrap="square" lIns="0" tIns="0">
            <a:spAutoFit/>
          </a:bodyPr>
          <a:lstStyle/>
          <a:p>
            <a:pPr>
              <a:spcAft>
                <a:spcPts val="800"/>
              </a:spcAft>
              <a:defRPr sz="1800" b="1">
                <a:solidFill>
                  <a:srgbClr val="FFC24B"/>
                </a:solidFill>
                <a:latin typeface="Cambria"/>
              </a:defRPr>
            </a:pPr>
            <a:r>
              <a:t>Student Credentials &amp; References</a:t>
            </a:r>
          </a:p>
          <a:p>
            <a:pPr>
              <a:defRPr sz="2400" b="1">
                <a:solidFill>
                  <a:srgbClr val="FFFFFF"/>
                </a:solidFill>
                <a:latin typeface="Cambria"/>
              </a:defRPr>
            </a:pPr>
            <a:r>
              <a:t>JERSAM LITHIN L</a:t>
            </a:r>
          </a:p>
          <a:p>
            <a:pPr>
              <a:defRPr sz="1500" b="1">
                <a:solidFill>
                  <a:srgbClr val="23B5D3"/>
                </a:solidFill>
                <a:latin typeface="Calibri"/>
              </a:defRPr>
            </a:pPr>
            <a:r>
              <a:t>Register No: URK24AE1026</a:t>
            </a:r>
          </a:p>
          <a:p>
            <a:pPr>
              <a:defRPr sz="1300">
                <a:solidFill>
                  <a:srgbClr val="EEF2F7"/>
                </a:solidFill>
                <a:latin typeface="Calibri"/>
              </a:defRPr>
            </a:pPr>
            <a:r>
              <a:t>3rd Year B.Tech, Aerospace Engineering  •  Karunya Institute of Tech</a:t>
            </a:r>
          </a:p>
          <a:p>
            <a:pPr>
              <a:spcAft>
                <a:spcPts val="1000"/>
              </a:spcAft>
              <a:defRPr sz="1300">
                <a:solidFill>
                  <a:srgbClr val="FFC24B"/>
                </a:solidFill>
                <a:latin typeface="Calibri"/>
              </a:defRPr>
            </a:pPr>
            <a:r>
              <a:t>Subject: Boundary Layer Theory  |  Course Project Presentation</a:t>
            </a:r>
          </a:p>
          <a:p>
            <a:pPr>
              <a:defRPr sz="1200">
                <a:solidFill>
                  <a:srgbClr val="7C8DB5"/>
                </a:solidFill>
                <a:latin typeface="Calibri"/>
              </a:defRPr>
            </a:pPr>
            <a:r>
              <a:t>Full OpenFOAM 13 cases, mesh scripts, and 61 figures preserved at:</a:t>
            </a:r>
          </a:p>
          <a:p>
            <a:pPr>
              <a:defRPr sz="1300" b="1">
                <a:solidFill>
                  <a:srgbClr val="FFFFFF"/>
                </a:solidFill>
                <a:latin typeface="Calibri"/>
              </a:defRPr>
            </a:pPr>
            <a:r>
              <a:t>github.com/Jersam-l/flat-plate-with-radiation-cfd</a:t>
            </a:r>
          </a:p>
        </p:txBody>
      </p:sp>
    </p:spTree>
  </p:cSld>
  <p:clrMapOvr>
    <a:masterClrMapping/>
  </p:clrMapOvr>
</p:sld>
</file>

<file path=ppt/theme/theme1.xml><?xml version="1.0" encoding="utf-8"?>
<a:theme xmlns:a="http://schemas.openxmlformats.org/drawingml/2006/main" name="Thermal Navy">
  <a:themeElements>
    <a:clrScheme name="Thermal Navy">
      <a:dk1>
        <a:srgbClr val="0B1426"/>
      </a:dk1>
      <a:lt1>
        <a:srgbClr val="FFFFFF"/>
      </a:lt1>
      <a:dk2>
        <a:srgbClr val="16264A"/>
      </a:dk2>
      <a:lt2>
        <a:srgbClr val="EEF2F7"/>
      </a:lt2>
      <a:accent1>
        <a:srgbClr val="FF7A1A"/>
      </a:accent1>
      <a:accent2>
        <a:srgbClr val="23B5D3"/>
      </a:accent2>
      <a:accent3>
        <a:srgbClr val="FFC24B"/>
      </a:accent3>
      <a:accent4>
        <a:srgbClr val="7C8DB5"/>
      </a:accent4>
      <a:accent5>
        <a:srgbClr val="E5484D"/>
      </a:accent5>
      <a:accent6>
        <a:srgbClr val="3DD598"/>
      </a:accent6>
      <a:hlink>
        <a:srgbClr val="23B5D3"/>
      </a:hlink>
      <a:folHlink>
        <a:srgbClr val="7C8DB5"/>
      </a:folHlink>
    </a:clrScheme>
    <a:fontScheme name="Thermal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Flat-Plate CFD with Surface Radiation - Pitch Template</dc:title>
  <dc:subject>PptxGenJS Presentation</dc:subject>
  <dc:creator>[Presenter name]</dc:creator>
  <cp:lastModifiedBy>[Presenter name]</cp:lastModifiedBy>
  <cp:revision>1</cp:revision>
  <dcterms:created xsi:type="dcterms:W3CDTF">2026-10-24T04:42:54Z</dcterms:created>
  <dcterms:modified xsi:type="dcterms:W3CDTF">2026-10-24T04:42:54Z</dcterms:modified>
</cp:coreProperties>
</file>